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94" r:id="rId3"/>
    <p:sldId id="296" r:id="rId4"/>
    <p:sldId id="297" r:id="rId5"/>
    <p:sldId id="299" r:id="rId6"/>
    <p:sldId id="300" r:id="rId7"/>
    <p:sldId id="302" r:id="rId8"/>
    <p:sldId id="275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D56C8-0E66-42DC-A7B3-F0C0BE43BDF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592AA-AFD5-412E-99BD-7FA5E8E2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1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01972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825550"/>
            <a:ext cx="9144000" cy="14322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D93B-348B-42B3-9C0A-2849E853E44F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1530220" y="3556618"/>
            <a:ext cx="9137780" cy="12897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1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錄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17241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513184"/>
            <a:ext cx="10515600" cy="9144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A59AA9-82D2-4A1C-A4B4-A8B9F52B2F07}" type="datetime1">
              <a:rPr lang="en-US" smtClean="0"/>
              <a:t>1/23/2026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838200" y="1520890"/>
            <a:ext cx="10515600" cy="472129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30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6456782"/>
            <a:ext cx="12192000" cy="4012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62488"/>
            <a:ext cx="10515600" cy="70789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063690"/>
            <a:ext cx="10515600" cy="5203295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505486"/>
            <a:ext cx="4114800" cy="3079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55558" y="6522301"/>
            <a:ext cx="1536441" cy="2740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70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065D-DB30-4B32-B1C4-C14FE9DF3DCA}" type="datetime1">
              <a:rPr lang="en-US" smtClean="0"/>
              <a:t>1/23/2026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5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0" y="6566905"/>
            <a:ext cx="1063690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23CD4-A8E2-41BA-90D2-F0A644681501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550090"/>
            <a:ext cx="4114800" cy="307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655558" y="6566905"/>
            <a:ext cx="1536441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DFBE-C84F-9013-4C67-43621F510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Weekly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B2B0A-516F-90F5-26AD-A02DF3303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GE1.02 Shang-Wei Chang</a:t>
            </a:r>
          </a:p>
          <a:p>
            <a:r>
              <a:rPr lang="en-US" dirty="0"/>
              <a:t>2025/1/23</a:t>
            </a:r>
          </a:p>
        </p:txBody>
      </p:sp>
      <p:pic>
        <p:nvPicPr>
          <p:cNvPr id="4" name="圖片 4">
            <a:extLst>
              <a:ext uri="{FF2B5EF4-FFF2-40B4-BE49-F238E27FC236}">
                <a16:creationId xmlns:a16="http://schemas.microsoft.com/office/drawing/2014/main" id="{F3C40BCD-872F-E33F-EE63-FDED9ADBF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081" y="5661591"/>
            <a:ext cx="1092138" cy="1092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3FDB9-582A-34B3-A266-05C07237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1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7C05-AA99-FBAF-098D-CB73A329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DC8E0-6D90-7FD6-0CDA-FC339F8E4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Features &amp; Integration</a:t>
            </a:r>
          </a:p>
          <a:p>
            <a:r>
              <a:rPr lang="en-US" dirty="0"/>
              <a:t>Performance &amp; Robustness</a:t>
            </a:r>
          </a:p>
          <a:p>
            <a:r>
              <a:rPr lang="en-US" dirty="0"/>
              <a:t>Image Processing &amp; AI</a:t>
            </a:r>
          </a:p>
          <a:p>
            <a:r>
              <a:rPr lang="en-US" dirty="0"/>
              <a:t>Debugging &amp; Visualization (Developer Tools)</a:t>
            </a:r>
          </a:p>
          <a:p>
            <a:r>
              <a:rPr lang="en-US" dirty="0"/>
              <a:t>Successfully Setup New Camera Hardware(still need integration)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1BC86-001D-B6B8-5816-83A643A4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6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6743F-3B60-DBF7-A3EF-69153FA5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6EA9-091C-1301-A4F6-23AAA2E2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Features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975B-6E83-B78A-32D4-956F0343E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20" y="1222589"/>
            <a:ext cx="11452980" cy="5203295"/>
          </a:xfrm>
        </p:spPr>
        <p:txBody>
          <a:bodyPr>
            <a:normAutofit/>
          </a:bodyPr>
          <a:lstStyle/>
          <a:p>
            <a:r>
              <a:rPr lang="en-US" dirty="0"/>
              <a:t>Full Model Integration: Successfully integrated the 1D-CNN Heart Rate (HR) model, the PERCLOS drowsiness model, and the Eye CNN classifier into the main real-time system (`main.py`).</a:t>
            </a:r>
          </a:p>
          <a:p>
            <a:r>
              <a:rPr lang="en-US" dirty="0"/>
              <a:t>Hybrid Eye State Logic: Implemented a robust dual-check system combining geometric EAR (Eye Aspect Ratio) and appearance-based CNN inference. Added temporal smoothing (Exponential Moving Average) to eliminate "flickering" between open/closed states.</a:t>
            </a:r>
          </a:p>
          <a:p>
            <a:r>
              <a:rPr lang="en-US" dirty="0"/>
              <a:t>Heart Rate Stabilization: Developed a multi-stage HR filter including:</a:t>
            </a:r>
          </a:p>
          <a:p>
            <a:pPr lvl="1"/>
            <a:r>
              <a:rPr lang="en-US" dirty="0"/>
              <a:t>Valid Range Filter: Restricts readings to 45-160 BPM.</a:t>
            </a:r>
          </a:p>
          <a:p>
            <a:pPr lvl="1"/>
            <a:r>
              <a:rPr lang="en-US" dirty="0"/>
              <a:t>Jump Rejection: Automatically ignores sudden spikes (&gt;12 BPM) caused by motion or lighting changes.</a:t>
            </a:r>
          </a:p>
          <a:p>
            <a:pPr lvl="1"/>
            <a:r>
              <a:rPr lang="en-US" dirty="0"/>
              <a:t>Smoothing: Uses a moving average to provide a steady, readable pulse value.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4D01D-877A-68F5-43D9-710C0FF5F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41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0EE40-4DC5-0A8A-C4D9-B904BE3C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0A3E-4BAF-7829-A323-266C352A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&amp; Robustness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E0A5F-4AFE-1688-F2A6-9DB449647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20" y="1222589"/>
            <a:ext cx="11376780" cy="5203295"/>
          </a:xfrm>
        </p:spPr>
        <p:txBody>
          <a:bodyPr/>
          <a:lstStyle/>
          <a:p>
            <a:r>
              <a:rPr lang="en-US" dirty="0"/>
              <a:t>PS Synchronization: Enforced a 30Hz sampling rate for physiological signals (</a:t>
            </a:r>
            <a:r>
              <a:rPr lang="en-US" dirty="0" err="1"/>
              <a:t>rPPG</a:t>
            </a:r>
            <a:r>
              <a:rPr lang="en-US" dirty="0"/>
              <a:t>/EAR) to match training conditions, even when the camera runs at 60 FPS.</a:t>
            </a:r>
          </a:p>
          <a:p>
            <a:r>
              <a:rPr lang="en-US" dirty="0"/>
              <a:t>Loop Optimization: Implemented frame-skipping for heavy AI models (Eye CNN runs every 5 frames, HR/PERCLOS every 30 frames) to maintain a smooth 60 FPS UI experience.</a:t>
            </a:r>
          </a:p>
          <a:p>
            <a:r>
              <a:rPr lang="en-US" dirty="0"/>
              <a:t>Dynamic ROIs: Updated forehead and cheek regions to scale dynamically based on face size and orientation.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565A0-8CDD-2B1F-9614-2D0E7D77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91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A020-64B9-EC42-EFFB-BC14156E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Processing &amp;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704AB-A409-AF86-F99E-78D2AB943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91"/>
            <a:ext cx="10515600" cy="25329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Contrast Enhancement: Integrated Histogram Equalization for eye crops to improve detection accuracy in low-light or high-shadow conditions.</a:t>
            </a:r>
          </a:p>
          <a:p>
            <a:r>
              <a:rPr lang="en-US" dirty="0"/>
              <a:t>Synthetic PERCLOS Training: Generated a synthetic time-series dataset to train the PERCLOS 1D-CNN model in the absence of a localized DMD video dataset.</a:t>
            </a:r>
          </a:p>
          <a:p>
            <a:r>
              <a:rPr lang="en-US" dirty="0"/>
              <a:t>Input Validation: Fixed several "AttributeErrors" and "Reshape Errors" by enforcing strict NumPy array casting across the pipeline.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18DDA-08DA-82A7-45E3-79806133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C123C9-179B-6425-63B7-33D18568DA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2" b="39489"/>
          <a:stretch>
            <a:fillRect/>
          </a:stretch>
        </p:blipFill>
        <p:spPr>
          <a:xfrm>
            <a:off x="0" y="3406122"/>
            <a:ext cx="6625390" cy="36814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544015-3B77-FEA8-80F9-439B176C2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43" y="3371607"/>
            <a:ext cx="5772956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84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0DCB-F5FC-1B00-F2A6-1E1E7FCDA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488"/>
            <a:ext cx="10515600" cy="707895"/>
          </a:xfrm>
        </p:spPr>
        <p:txBody>
          <a:bodyPr anchor="ctr">
            <a:normAutofit/>
          </a:bodyPr>
          <a:lstStyle/>
          <a:p>
            <a:r>
              <a:rPr lang="en-US" dirty="0"/>
              <a:t>Debugging &amp; Visualization (Developer Tools)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72963-E35D-62A3-BE61-AB75ED55E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90"/>
            <a:ext cx="7227570" cy="5203295"/>
          </a:xfrm>
        </p:spPr>
        <p:txBody>
          <a:bodyPr>
            <a:normAutofit/>
          </a:bodyPr>
          <a:lstStyle/>
          <a:p>
            <a:r>
              <a:rPr lang="en-US" dirty="0"/>
              <a:t>Live Debug Overlays: Added real-time visualization of the 468-point face mesh, forehead/cheek ROI boxes, and an FPS counter.</a:t>
            </a:r>
          </a:p>
          <a:p>
            <a:r>
              <a:rPr lang="en-US" dirty="0"/>
              <a:t>Eye-In-The-Box: Added persistent display of the actual eye crops being fed to the CNN for live alignment verification.</a:t>
            </a:r>
          </a:p>
          <a:p>
            <a:r>
              <a:rPr lang="en-US" dirty="0"/>
              <a:t>Raw Metric Stream: Displayed raw P (Probability) and EAR (Geometry) values on the HUD for fine-tuning.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78BEB-C27B-C408-F6F4-1B64D589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558" y="6522301"/>
            <a:ext cx="1536441" cy="27402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D60999D-FFC4-4AAB-A2D6-5B37802B0FA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0B4750-EFC0-D423-8197-0D906FB5D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38" r="7741" b="2"/>
          <a:stretch>
            <a:fillRect/>
          </a:stretch>
        </p:blipFill>
        <p:spPr>
          <a:xfrm>
            <a:off x="8256270" y="1063690"/>
            <a:ext cx="3097529" cy="52032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8911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6827-5F78-A2C2-9611-A1E7E8D9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355795"/>
            <a:ext cx="10515600" cy="707895"/>
          </a:xfrm>
        </p:spPr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7BB2C-9E6B-56E2-4D26-A6EE6F216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Integrating camera from REC. tech.</a:t>
            </a:r>
          </a:p>
          <a:p>
            <a:r>
              <a:rPr lang="en-US" dirty="0"/>
              <a:t>Start training the model on </a:t>
            </a:r>
            <a:r>
              <a:rPr lang="en-US" dirty="0" err="1"/>
              <a:t>Vicomtech</a:t>
            </a:r>
            <a:r>
              <a:rPr lang="en-US" dirty="0"/>
              <a:t> Driver Monitoring Dataset(DMD).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5AEBD-1439-3F02-90D5-4D9E643E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72948-FA23-FEE9-2679-C7B3A84B2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565" y="2455912"/>
            <a:ext cx="8923600" cy="434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69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8367-2884-7506-FC95-733A44CFE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7135"/>
            <a:ext cx="10515600" cy="914400"/>
          </a:xfrm>
        </p:spPr>
        <p:txBody>
          <a:bodyPr/>
          <a:lstStyle/>
          <a:p>
            <a:r>
              <a:rPr lang="en-US" altLang="zh-TW" dirty="0"/>
              <a:t>Thank you for listening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0AC2F-CE74-0AD6-A63A-A7F1023D9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3" y="3881535"/>
            <a:ext cx="10515600" cy="4721290"/>
          </a:xfrm>
        </p:spPr>
        <p:txBody>
          <a:bodyPr/>
          <a:lstStyle/>
          <a:p>
            <a:r>
              <a:rPr lang="en-US" dirty="0"/>
              <a:t>Q&amp;A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0FD39-E4F0-A167-4DAC-5E9F41DF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0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latform01">
      <a:majorFont>
        <a:latin typeface="Calibri"/>
        <a:ea typeface="微軟正黑體"/>
        <a:cs typeface=""/>
      </a:majorFont>
      <a:minorFont>
        <a:latin typeface="Calibri Light"/>
        <a:ea typeface="微軟正黑體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6C851D8A-270E-4458-8AD1-0D5EFBF9E033}" vid="{D66DE684-DBE0-4D66-880A-E2BE76FE98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PhD_20171020_Seminar</Template>
  <TotalTime>1355</TotalTime>
  <Words>436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Office 佈景主題</vt:lpstr>
      <vt:lpstr>Weekly Progress</vt:lpstr>
      <vt:lpstr>Content</vt:lpstr>
      <vt:lpstr>Core Features &amp; Integration</vt:lpstr>
      <vt:lpstr>Performance &amp; Robustness</vt:lpstr>
      <vt:lpstr>Image Processing &amp; AI</vt:lpstr>
      <vt:lpstr>Debugging &amp; Visualization (Developer Tools)</vt:lpstr>
      <vt:lpstr>Next Week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張善為</dc:creator>
  <cp:lastModifiedBy>張善為</cp:lastModifiedBy>
  <cp:revision>10</cp:revision>
  <dcterms:created xsi:type="dcterms:W3CDTF">2025-11-03T09:53:55Z</dcterms:created>
  <dcterms:modified xsi:type="dcterms:W3CDTF">2026-01-23T03:40:25Z</dcterms:modified>
</cp:coreProperties>
</file>