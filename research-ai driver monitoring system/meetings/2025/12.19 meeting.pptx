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87" r:id="rId3"/>
    <p:sldId id="293" r:id="rId4"/>
    <p:sldId id="294" r:id="rId5"/>
    <p:sldId id="295" r:id="rId6"/>
    <p:sldId id="296" r:id="rId7"/>
    <p:sldId id="297" r:id="rId8"/>
    <p:sldId id="299" r:id="rId9"/>
    <p:sldId id="300" r:id="rId10"/>
    <p:sldId id="301" r:id="rId11"/>
    <p:sldId id="302" r:id="rId12"/>
    <p:sldId id="27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2025/12/19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72CC-F018-624B-5D10-CBF1978A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896A1BB-4DEB-5613-24E3-DCCFA9605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84" y="149900"/>
            <a:ext cx="3639618" cy="310041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54B0D-0211-B4AF-54F0-7940003E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008" y="61678"/>
            <a:ext cx="3471194" cy="6205308"/>
          </a:xfrm>
        </p:spPr>
        <p:txBody>
          <a:bodyPr/>
          <a:lstStyle/>
          <a:p>
            <a:r>
              <a:rPr lang="en-US" dirty="0"/>
              <a:t>Last week, my progress is on train_eye_model.py</a:t>
            </a:r>
          </a:p>
          <a:p>
            <a:r>
              <a:rPr lang="en-US" dirty="0"/>
              <a:t>But I also encounter some issues with the </a:t>
            </a:r>
            <a:r>
              <a:rPr lang="en-US" dirty="0" err="1"/>
              <a:t>hr_model</a:t>
            </a:r>
            <a:r>
              <a:rPr lang="en-US" dirty="0"/>
              <a:t> for the data alignment.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C40E80-3A1E-439F-3C8B-558561A5D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927" y="149900"/>
            <a:ext cx="3471194" cy="590103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1B9F9AF-2BD6-3C75-097C-2C5C5C38E6AF}"/>
              </a:ext>
            </a:extLst>
          </p:cNvPr>
          <p:cNvSpPr/>
          <p:nvPr/>
        </p:nvSpPr>
        <p:spPr>
          <a:xfrm>
            <a:off x="4365377" y="2410049"/>
            <a:ext cx="2243824" cy="2085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315780-CBCB-8929-D1D7-CA3829A54460}"/>
              </a:ext>
            </a:extLst>
          </p:cNvPr>
          <p:cNvSpPr/>
          <p:nvPr/>
        </p:nvSpPr>
        <p:spPr>
          <a:xfrm>
            <a:off x="4395244" y="5229726"/>
            <a:ext cx="2243824" cy="2085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2B478238-815E-FBFC-D13B-7EAE2ED7E7C6}"/>
              </a:ext>
            </a:extLst>
          </p:cNvPr>
          <p:cNvSpPr/>
          <p:nvPr/>
        </p:nvSpPr>
        <p:spPr>
          <a:xfrm rot="16200000">
            <a:off x="1947646" y="2422758"/>
            <a:ext cx="1176528" cy="294894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851B5A-0753-6CA6-4ACC-08FF54D5CC15}"/>
              </a:ext>
            </a:extLst>
          </p:cNvPr>
          <p:cNvSpPr/>
          <p:nvPr/>
        </p:nvSpPr>
        <p:spPr>
          <a:xfrm>
            <a:off x="664464" y="2950464"/>
            <a:ext cx="2639568" cy="2998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8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F9539-B4C9-5DC0-6704-BDFA59B9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2801A-F212-A6C9-B839-E1050DB0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5F97C7F-592B-89C5-50F8-1D3B0C096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1" y="149900"/>
            <a:ext cx="3639618" cy="310041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FE2B19-DF35-DA7D-924C-EABB8B21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008" y="61678"/>
            <a:ext cx="3471194" cy="6205308"/>
          </a:xfrm>
        </p:spPr>
        <p:txBody>
          <a:bodyPr/>
          <a:lstStyle/>
          <a:p>
            <a:r>
              <a:rPr lang="en-US" dirty="0"/>
              <a:t>This week I create train_hr_robust.py for the heart rate training.</a:t>
            </a:r>
          </a:p>
          <a:p>
            <a:r>
              <a:rPr lang="en-US" dirty="0"/>
              <a:t>Using UBFC-</a:t>
            </a:r>
            <a:r>
              <a:rPr lang="en-US" dirty="0" err="1"/>
              <a:t>rPPG</a:t>
            </a:r>
            <a:r>
              <a:rPr lang="en-US" dirty="0"/>
              <a:t> dataset, specifically DATA_1.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8859D1-55D0-F650-FA7A-35382F2FC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817" y="149900"/>
            <a:ext cx="3471194" cy="590103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C9FF763-BD77-C817-9ACE-3D45EE521A02}"/>
              </a:ext>
            </a:extLst>
          </p:cNvPr>
          <p:cNvSpPr/>
          <p:nvPr/>
        </p:nvSpPr>
        <p:spPr>
          <a:xfrm>
            <a:off x="4365377" y="3100416"/>
            <a:ext cx="2243824" cy="2085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741603-EE75-3B8B-3BDE-06086C10E99A}"/>
              </a:ext>
            </a:extLst>
          </p:cNvPr>
          <p:cNvSpPr/>
          <p:nvPr/>
        </p:nvSpPr>
        <p:spPr>
          <a:xfrm>
            <a:off x="4365377" y="5598695"/>
            <a:ext cx="2243824" cy="2085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9A8A101A-A469-0555-AFF5-0B846A964589}"/>
              </a:ext>
            </a:extLst>
          </p:cNvPr>
          <p:cNvSpPr/>
          <p:nvPr/>
        </p:nvSpPr>
        <p:spPr>
          <a:xfrm rot="16200000">
            <a:off x="1947646" y="2422758"/>
            <a:ext cx="1176528" cy="294894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76D437-DA47-A695-DCDC-AEC1877E79FF}"/>
              </a:ext>
            </a:extLst>
          </p:cNvPr>
          <p:cNvSpPr/>
          <p:nvPr/>
        </p:nvSpPr>
        <p:spPr>
          <a:xfrm>
            <a:off x="664464" y="2950464"/>
            <a:ext cx="2639568" cy="2998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9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7C05-AA99-FBAF-098D-CB73A329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C8E0-6D90-7FD6-0CDA-FC339F8E4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Ground Truth Utilization</a:t>
            </a:r>
          </a:p>
          <a:p>
            <a:r>
              <a:rPr lang="en-US" dirty="0"/>
              <a:t>Robust Data Handling &amp; Memory Efficiency</a:t>
            </a:r>
          </a:p>
          <a:p>
            <a:r>
              <a:rPr lang="en-US" dirty="0"/>
              <a:t>Signal Preprocessing (Bandpass Filtering)</a:t>
            </a:r>
          </a:p>
          <a:p>
            <a:r>
              <a:rPr lang="en-US" dirty="0"/>
              <a:t>Enhanced Data Augmentation</a:t>
            </a:r>
          </a:p>
          <a:p>
            <a:r>
              <a:rPr lang="en-US" dirty="0"/>
              <a:t>Optimized Training Convergence</a:t>
            </a:r>
          </a:p>
          <a:p>
            <a:r>
              <a:rPr lang="en-US" dirty="0"/>
              <a:t>Key Improvements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BC86-001D-B6B8-5816-83A643A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D3A7-D641-A3F9-5296-B9E88D58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Ground Truth Utilization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C791-7C9B-530F-1C76-4E37C3414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4282440" cy="5203295"/>
          </a:xfrm>
        </p:spPr>
        <p:txBody>
          <a:bodyPr/>
          <a:lstStyle/>
          <a:p>
            <a:r>
              <a:rPr lang="en-US" dirty="0"/>
              <a:t>Instead of attempting to derive HR from PPG signal peaks (which was inaccurate, especially for short windows), the script now directly extracts the provided Heart Rate values from the </a:t>
            </a:r>
            <a:r>
              <a:rPr lang="en-US" dirty="0" err="1"/>
              <a:t>gtdump.xmp</a:t>
            </a:r>
            <a:r>
              <a:rPr lang="en-US" dirty="0"/>
              <a:t> files, leading to more accurate labels for training.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C7C87-D1C4-AA59-822F-ABD6AD37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8A32DDF-00BE-C804-3F03-DE459C73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20" y="5385505"/>
            <a:ext cx="6941940" cy="148212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6D0CD4-08A2-540E-1F0E-630E7C9CF0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639"/>
          <a:stretch>
            <a:fillRect/>
          </a:stretch>
        </p:blipFill>
        <p:spPr>
          <a:xfrm>
            <a:off x="4536265" y="1211281"/>
            <a:ext cx="2856466" cy="3922018"/>
          </a:xfrm>
          <a:prstGeom prst="rect">
            <a:avLst/>
          </a:prstGeom>
        </p:spPr>
      </p:pic>
      <p:pic>
        <p:nvPicPr>
          <p:cNvPr id="6" name="Picture 5" descr="A person taking a selfie&#10;&#10;AI-generated content may be incorrect.">
            <a:extLst>
              <a:ext uri="{FF2B5EF4-FFF2-40B4-BE49-F238E27FC236}">
                <a16:creationId xmlns:a16="http://schemas.microsoft.com/office/drawing/2014/main" id="{49F9E6AF-4171-6E1F-090A-182DE0A42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005" y="1472830"/>
            <a:ext cx="5227575" cy="280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2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743F-3B60-DBF7-A3EF-69153FA5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6EA9-091C-1301-A4F6-23AAA2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Robust Data Handling &amp; Memory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975B-6E83-B78A-32D4-956F0343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452980" cy="5203295"/>
          </a:xfrm>
        </p:spPr>
        <p:txBody>
          <a:bodyPr/>
          <a:lstStyle/>
          <a:p>
            <a:r>
              <a:rPr lang="en-US" dirty="0"/>
              <a:t>The training script processes video data one subject at a time, extracting features and then immediately releasing video frames from memory using </a:t>
            </a:r>
            <a:r>
              <a:rPr lang="en-US" dirty="0" err="1"/>
              <a:t>gc.collect</a:t>
            </a:r>
            <a:r>
              <a:rPr lang="en-US" dirty="0"/>
              <a:t>(). This prevents Out-Of-Memory (OOM) errors that were likely occurring during earlier full-dataset loading attempts.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D01D-877A-68F5-43D9-710C0FF5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EE40-4DC5-0A8A-C4D9-B904BE3C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0A3E-4BAF-7829-A323-266C352A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Preprocessing (Bandpass Filtering)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0A5F-4AFE-1688-F2A6-9DB449647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376780" cy="5203295"/>
          </a:xfrm>
        </p:spPr>
        <p:txBody>
          <a:bodyPr/>
          <a:lstStyle/>
          <a:p>
            <a:r>
              <a:rPr lang="en-US" dirty="0"/>
              <a:t>The extracted raw </a:t>
            </a:r>
            <a:r>
              <a:rPr lang="en-US" dirty="0" err="1"/>
              <a:t>rPPG</a:t>
            </a:r>
            <a:r>
              <a:rPr lang="en-US" dirty="0"/>
              <a:t> signal now undergoes a bandpass filter (0.7Hz to 4.0 Hz) using </a:t>
            </a:r>
            <a:r>
              <a:rPr lang="en-US" dirty="0" err="1"/>
              <a:t>scipy.signal</a:t>
            </a:r>
            <a:r>
              <a:rPr lang="en-US" dirty="0"/>
              <a:t>. This is crucial for </a:t>
            </a:r>
            <a:r>
              <a:rPr lang="en-US" dirty="0" err="1"/>
              <a:t>rPPG</a:t>
            </a:r>
            <a:r>
              <a:rPr lang="en-US" dirty="0"/>
              <a:t> as it removes low-frequency baseline drift (e.g., from breathing, head movement) and high-frequency noise, isolating the physiologically relevant heart rate components.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565A0-8CDD-2B1F-9614-2D0E7D77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A020-64B9-EC42-EFFB-BC14156E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04AB-A409-AF86-F99E-78D2AB943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91"/>
            <a:ext cx="10515600" cy="2532950"/>
          </a:xfrm>
        </p:spPr>
        <p:txBody>
          <a:bodyPr/>
          <a:lstStyle/>
          <a:p>
            <a:r>
              <a:rPr lang="en-US" dirty="0"/>
              <a:t> To compensate for the small dataset (only 8 videos), the script now generates a significantly larger number of training samples by employing 90% overlap when creating sliding windows from the </a:t>
            </a:r>
            <a:r>
              <a:rPr lang="en-US" dirty="0" err="1"/>
              <a:t>rPPG</a:t>
            </a:r>
            <a:r>
              <a:rPr lang="en-US" dirty="0"/>
              <a:t> signals. This increased the effective dataset size from ~100 samples to ~664 samples, giving the model more data to learn from.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8DDA-08DA-82A7-45E3-79806133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8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0DCB-F5FC-1B00-F2A6-1E1E7FCD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Training 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72963-E35D-62A3-BE61-AB75ED55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Rate Scheduler (`</a:t>
            </a:r>
            <a:r>
              <a:rPr lang="en-US" dirty="0" err="1"/>
              <a:t>ReduceLROnPlateau</a:t>
            </a:r>
            <a:r>
              <a:rPr lang="en-US" dirty="0"/>
              <a:t>`)</a:t>
            </a:r>
          </a:p>
          <a:p>
            <a:pPr lvl="1"/>
            <a:r>
              <a:rPr lang="en-US" dirty="0"/>
              <a:t>dynamically reduces the learning rate during training if the validation loss stops improving</a:t>
            </a:r>
          </a:p>
          <a:p>
            <a:r>
              <a:rPr lang="en-US" dirty="0"/>
              <a:t>Early Stopping (`</a:t>
            </a:r>
            <a:r>
              <a:rPr lang="en-US" dirty="0" err="1"/>
              <a:t>EarlyStopping</a:t>
            </a:r>
            <a:r>
              <a:rPr lang="en-US" dirty="0"/>
              <a:t>`)</a:t>
            </a:r>
          </a:p>
          <a:p>
            <a:pPr lvl="1"/>
            <a:r>
              <a:rPr lang="en-US" dirty="0"/>
              <a:t>monitors the validation loss and stops training early if no improvement is observed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8BEB-C27B-C408-F6F4-1B64D589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1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7AB0-CA5C-74B4-4DCC-710FA3A4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5AA01-3AEB-C021-418C-99B0FB01B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MAE (Mean Absolute Error): </a:t>
            </a:r>
          </a:p>
          <a:p>
            <a:pPr lvl="1"/>
            <a:r>
              <a:rPr lang="en-US" dirty="0"/>
              <a:t>Drastically improved from an implied high value (likely &gt; 20-30 BPM before improvements) to approximately 7.66 BPM.</a:t>
            </a:r>
          </a:p>
          <a:p>
            <a:pPr lvl="1"/>
            <a:r>
              <a:rPr lang="en-US" dirty="0"/>
              <a:t>This means, on average, the model’s prediction error for heart rate is now within </a:t>
            </a:r>
            <a:r>
              <a:rPr lang="en-US" dirty="0">
                <a:solidFill>
                  <a:srgbClr val="FF0000"/>
                </a:solidFill>
              </a:rPr>
              <a:t>~7-8 beats per minute of the actual value.</a:t>
            </a:r>
          </a:p>
          <a:p>
            <a:r>
              <a:rPr lang="en-US" dirty="0"/>
              <a:t>   * Validation MSE (Mean Squared Error):</a:t>
            </a:r>
          </a:p>
          <a:p>
            <a:pPr lvl="1"/>
            <a:r>
              <a:rPr lang="en-US" dirty="0"/>
              <a:t> Reduced significantly from potentially thousands to ~104.3.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A4A1C-81F0-D8A4-E38B-E5740869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5E815-C1EC-437B-0DDD-D5E13F82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144110"/>
            <a:ext cx="11889277" cy="13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1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6827-5F78-A2C2-9611-A1E7E8D9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355795"/>
            <a:ext cx="10515600" cy="707895"/>
          </a:xfrm>
        </p:spPr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BB2C-9E6B-56E2-4D26-A6EE6F21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Finalize enhancement network, making sure the eye model and </a:t>
            </a:r>
            <a:r>
              <a:rPr lang="en-US" dirty="0" err="1"/>
              <a:t>hr</a:t>
            </a:r>
            <a:r>
              <a:rPr lang="en-US" dirty="0"/>
              <a:t> model is combined correctly</a:t>
            </a:r>
          </a:p>
          <a:p>
            <a:r>
              <a:rPr lang="en-US" dirty="0"/>
              <a:t>Start training the model on </a:t>
            </a:r>
            <a:r>
              <a:rPr lang="en-US" dirty="0" err="1"/>
              <a:t>Vicomtech</a:t>
            </a:r>
            <a:r>
              <a:rPr lang="en-US" dirty="0"/>
              <a:t> Driver Monitoring Dataset(DMD).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5AEBD-1439-3F02-90D5-4D9E643E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1328</TotalTime>
  <Words>476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佈景主題</vt:lpstr>
      <vt:lpstr>Weekly Progress</vt:lpstr>
      <vt:lpstr>PowerPoint Presentation</vt:lpstr>
      <vt:lpstr>PowerPoint Presentation</vt:lpstr>
      <vt:lpstr>Content</vt:lpstr>
      <vt:lpstr>Correct Ground Truth Utilization</vt:lpstr>
      <vt:lpstr> Robust Data Handling &amp; Memory Efficiency</vt:lpstr>
      <vt:lpstr>Signal Preprocessing (Bandpass Filtering)</vt:lpstr>
      <vt:lpstr>Enhanced Data Augmentation</vt:lpstr>
      <vt:lpstr>Optimized Training Convergence</vt:lpstr>
      <vt:lpstr>Key Improvements </vt:lpstr>
      <vt:lpstr>Next Week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9</cp:revision>
  <dcterms:created xsi:type="dcterms:W3CDTF">2025-11-03T09:53:55Z</dcterms:created>
  <dcterms:modified xsi:type="dcterms:W3CDTF">2025-12-19T05:58:45Z</dcterms:modified>
</cp:coreProperties>
</file>