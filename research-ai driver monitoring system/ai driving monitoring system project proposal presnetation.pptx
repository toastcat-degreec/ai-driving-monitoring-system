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305" r:id="rId4"/>
    <p:sldId id="277" r:id="rId5"/>
    <p:sldId id="291" r:id="rId6"/>
    <p:sldId id="306" r:id="rId7"/>
    <p:sldId id="293" r:id="rId8"/>
    <p:sldId id="300" r:id="rId9"/>
    <p:sldId id="307" r:id="rId10"/>
    <p:sldId id="292" r:id="rId11"/>
    <p:sldId id="301" r:id="rId12"/>
    <p:sldId id="302" r:id="rId13"/>
    <p:sldId id="313" r:id="rId14"/>
    <p:sldId id="317" r:id="rId15"/>
    <p:sldId id="303" r:id="rId16"/>
    <p:sldId id="304" r:id="rId17"/>
    <p:sldId id="316" r:id="rId18"/>
    <p:sldId id="320" r:id="rId19"/>
    <p:sldId id="321" r:id="rId20"/>
    <p:sldId id="318" r:id="rId21"/>
    <p:sldId id="319" r:id="rId22"/>
    <p:sldId id="312" r:id="rId23"/>
    <p:sldId id="315" r:id="rId24"/>
    <p:sldId id="294" r:id="rId25"/>
    <p:sldId id="309" r:id="rId26"/>
    <p:sldId id="310" r:id="rId27"/>
    <p:sldId id="263" r:id="rId28"/>
    <p:sldId id="296" r:id="rId29"/>
    <p:sldId id="297" r:id="rId30"/>
    <p:sldId id="299" r:id="rId31"/>
    <p:sldId id="308" r:id="rId32"/>
    <p:sldId id="25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69" autoAdjust="0"/>
    <p:restoredTop sz="94660"/>
  </p:normalViewPr>
  <p:slideViewPr>
    <p:cSldViewPr snapToGrid="0" showGuides="1">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121F1215-BE34-4E64-9ECB-ED19DDE312CD}" type="datetimeFigureOut">
              <a:rPr lang="zh-TW" altLang="en-US" smtClean="0"/>
              <a:t>2025/12/12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B912C7-0F9A-4341-9D1C-D9AD80228329}"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圖片 9">
            <a:extLst>
              <a:ext uri="{FF2B5EF4-FFF2-40B4-BE49-F238E27FC236}">
                <a16:creationId xmlns:a16="http://schemas.microsoft.com/office/drawing/2014/main" id="{08A77CDB-C283-49FB-92CC-D44B14BC10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767" y="0"/>
            <a:ext cx="2085975" cy="590550"/>
          </a:xfrm>
          <a:prstGeom prst="rect">
            <a:avLst/>
          </a:prstGeom>
        </p:spPr>
      </p:pic>
    </p:spTree>
    <p:extLst>
      <p:ext uri="{BB962C8B-B14F-4D97-AF65-F5344CB8AC3E}">
        <p14:creationId xmlns:p14="http://schemas.microsoft.com/office/powerpoint/2010/main" val="3288054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21F1215-BE34-4E64-9ECB-ED19DDE312CD}" type="datetimeFigureOut">
              <a:rPr lang="zh-TW" altLang="en-US" smtClean="0"/>
              <a:t>2025/12/12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B912C7-0F9A-4341-9D1C-D9AD80228329}" type="slidenum">
              <a:rPr lang="zh-TW" altLang="en-US" smtClean="0"/>
              <a:t>‹#›</a:t>
            </a:fld>
            <a:endParaRPr lang="zh-TW" altLang="en-US"/>
          </a:p>
        </p:txBody>
      </p:sp>
    </p:spTree>
    <p:extLst>
      <p:ext uri="{BB962C8B-B14F-4D97-AF65-F5344CB8AC3E}">
        <p14:creationId xmlns:p14="http://schemas.microsoft.com/office/powerpoint/2010/main" val="2068510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121F1215-BE34-4E64-9ECB-ED19DDE312CD}" type="datetimeFigureOut">
              <a:rPr lang="zh-TW" altLang="en-US" smtClean="0"/>
              <a:t>2025/12/12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B912C7-0F9A-4341-9D1C-D9AD80228329}"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圖片 9">
            <a:extLst>
              <a:ext uri="{FF2B5EF4-FFF2-40B4-BE49-F238E27FC236}">
                <a16:creationId xmlns:a16="http://schemas.microsoft.com/office/drawing/2014/main" id="{F5EF6545-BFA8-4693-96F7-6B6F01D20F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767" y="0"/>
            <a:ext cx="2085975" cy="590550"/>
          </a:xfrm>
          <a:prstGeom prst="rect">
            <a:avLst/>
          </a:prstGeom>
        </p:spPr>
      </p:pic>
    </p:spTree>
    <p:extLst>
      <p:ext uri="{BB962C8B-B14F-4D97-AF65-F5344CB8AC3E}">
        <p14:creationId xmlns:p14="http://schemas.microsoft.com/office/powerpoint/2010/main" val="1844178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121F1215-BE34-4E64-9ECB-ED19DDE312CD}" type="datetimeFigureOut">
              <a:rPr lang="zh-TW" altLang="en-US" smtClean="0"/>
              <a:t>2025/12/12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BB912C7-0F9A-4341-9D1C-D9AD80228329}" type="slidenum">
              <a:rPr lang="zh-TW" altLang="en-US" smtClean="0"/>
              <a:t>‹#›</a:t>
            </a:fld>
            <a:endParaRPr lang="zh-TW" altLang="en-US"/>
          </a:p>
        </p:txBody>
      </p:sp>
    </p:spTree>
    <p:extLst>
      <p:ext uri="{BB962C8B-B14F-4D97-AF65-F5344CB8AC3E}">
        <p14:creationId xmlns:p14="http://schemas.microsoft.com/office/powerpoint/2010/main" val="3322825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097280" y="2582334"/>
            <a:ext cx="4937760" cy="337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217920" y="2582334"/>
            <a:ext cx="4937760" cy="337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121F1215-BE34-4E64-9ECB-ED19DDE312CD}" type="datetimeFigureOut">
              <a:rPr lang="zh-TW" altLang="en-US" smtClean="0"/>
              <a:t>2025/12/12</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FBB912C7-0F9A-4341-9D1C-D9AD80228329}" type="slidenum">
              <a:rPr lang="zh-TW" altLang="en-US" smtClean="0"/>
              <a:t>‹#›</a:t>
            </a:fld>
            <a:endParaRPr lang="zh-TW" altLang="en-US"/>
          </a:p>
        </p:txBody>
      </p:sp>
    </p:spTree>
    <p:extLst>
      <p:ext uri="{BB962C8B-B14F-4D97-AF65-F5344CB8AC3E}">
        <p14:creationId xmlns:p14="http://schemas.microsoft.com/office/powerpoint/2010/main" val="1230222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121F1215-BE34-4E64-9ECB-ED19DDE312CD}" type="datetimeFigureOut">
              <a:rPr lang="zh-TW" altLang="en-US" smtClean="0"/>
              <a:t>2025/12/12</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FBB912C7-0F9A-4341-9D1C-D9AD80228329}" type="slidenum">
              <a:rPr lang="zh-TW" altLang="en-US" smtClean="0"/>
              <a:t>‹#›</a:t>
            </a:fld>
            <a:endParaRPr lang="zh-TW" altLang="en-US"/>
          </a:p>
        </p:txBody>
      </p:sp>
    </p:spTree>
    <p:extLst>
      <p:ext uri="{BB962C8B-B14F-4D97-AF65-F5344CB8AC3E}">
        <p14:creationId xmlns:p14="http://schemas.microsoft.com/office/powerpoint/2010/main" val="3297743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21F1215-BE34-4E64-9ECB-ED19DDE312CD}" type="datetimeFigureOut">
              <a:rPr lang="zh-TW" altLang="en-US" smtClean="0"/>
              <a:t>2025/12/12</a:t>
            </a:fld>
            <a:endParaRPr lang="zh-TW"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TW" altLang="en-US"/>
          </a:p>
        </p:txBody>
      </p:sp>
      <p:sp>
        <p:nvSpPr>
          <p:cNvPr id="9" name="Slide Number Placeholder 8"/>
          <p:cNvSpPr>
            <a:spLocks noGrp="1"/>
          </p:cNvSpPr>
          <p:nvPr>
            <p:ph type="sldNum" sz="quarter" idx="12"/>
          </p:nvPr>
        </p:nvSpPr>
        <p:spPr/>
        <p:txBody>
          <a:bodyPr/>
          <a:lstStyle/>
          <a:p>
            <a:fld id="{FBB912C7-0F9A-4341-9D1C-D9AD80228329}" type="slidenum">
              <a:rPr lang="zh-TW" altLang="en-US" smtClean="0"/>
              <a:t>‹#›</a:t>
            </a:fld>
            <a:endParaRPr lang="zh-TW" altLang="en-US"/>
          </a:p>
        </p:txBody>
      </p:sp>
      <p:pic>
        <p:nvPicPr>
          <p:cNvPr id="10" name="圖片 9">
            <a:extLst>
              <a:ext uri="{FF2B5EF4-FFF2-40B4-BE49-F238E27FC236}">
                <a16:creationId xmlns:a16="http://schemas.microsoft.com/office/drawing/2014/main" id="{6AE31B4D-A081-4CFF-A201-406212E91C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767" y="0"/>
            <a:ext cx="2085975" cy="590550"/>
          </a:xfrm>
          <a:prstGeom prst="rect">
            <a:avLst/>
          </a:prstGeom>
        </p:spPr>
      </p:pic>
    </p:spTree>
    <p:extLst>
      <p:ext uri="{BB962C8B-B14F-4D97-AF65-F5344CB8AC3E}">
        <p14:creationId xmlns:p14="http://schemas.microsoft.com/office/powerpoint/2010/main" val="724960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輔助字幕的內容">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21F1215-BE34-4E64-9ECB-ED19DDE312CD}" type="datetimeFigureOut">
              <a:rPr lang="zh-TW" altLang="en-US" smtClean="0"/>
              <a:t>2025/12/12</a:t>
            </a:fld>
            <a:endParaRPr lang="zh-TW"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TW"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BB912C7-0F9A-4341-9D1C-D9AD80228329}" type="slidenum">
              <a:rPr lang="zh-TW" altLang="en-US" smtClean="0"/>
              <a:t>‹#›</a:t>
            </a:fld>
            <a:endParaRPr lang="zh-TW" altLang="en-US"/>
          </a:p>
        </p:txBody>
      </p:sp>
      <p:pic>
        <p:nvPicPr>
          <p:cNvPr id="10" name="圖片 9">
            <a:extLst>
              <a:ext uri="{FF2B5EF4-FFF2-40B4-BE49-F238E27FC236}">
                <a16:creationId xmlns:a16="http://schemas.microsoft.com/office/drawing/2014/main" id="{5AE0A589-CBCE-4AD9-9E70-FB3E11798E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767" y="0"/>
            <a:ext cx="2085975" cy="590550"/>
          </a:xfrm>
          <a:prstGeom prst="rect">
            <a:avLst/>
          </a:prstGeom>
        </p:spPr>
      </p:pic>
    </p:spTree>
    <p:extLst>
      <p:ext uri="{BB962C8B-B14F-4D97-AF65-F5344CB8AC3E}">
        <p14:creationId xmlns:p14="http://schemas.microsoft.com/office/powerpoint/2010/main" val="781056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21F1215-BE34-4E64-9ECB-ED19DDE312CD}" type="datetimeFigureOut">
              <a:rPr lang="zh-TW" altLang="en-US" smtClean="0"/>
              <a:t>2025/12/12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BB912C7-0F9A-4341-9D1C-D9AD80228329}" type="slidenum">
              <a:rPr lang="zh-TW" altLang="en-US" smtClean="0"/>
              <a:t>‹#›</a:t>
            </a:fld>
            <a:endParaRPr lang="zh-TW" altLang="en-US"/>
          </a:p>
        </p:txBody>
      </p:sp>
    </p:spTree>
    <p:extLst>
      <p:ext uri="{BB962C8B-B14F-4D97-AF65-F5344CB8AC3E}">
        <p14:creationId xmlns:p14="http://schemas.microsoft.com/office/powerpoint/2010/main" val="3394196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21F1215-BE34-4E64-9ECB-ED19DDE312CD}" type="datetimeFigureOut">
              <a:rPr lang="zh-TW" altLang="en-US" smtClean="0"/>
              <a:t>2025/12/12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B912C7-0F9A-4341-9D1C-D9AD80228329}" type="slidenum">
              <a:rPr lang="zh-TW" altLang="en-US" smtClean="0"/>
              <a:t>‹#›</a:t>
            </a:fld>
            <a:endParaRPr lang="zh-TW" altLang="en-US"/>
          </a:p>
        </p:txBody>
      </p:sp>
    </p:spTree>
    <p:extLst>
      <p:ext uri="{BB962C8B-B14F-4D97-AF65-F5344CB8AC3E}">
        <p14:creationId xmlns:p14="http://schemas.microsoft.com/office/powerpoint/2010/main" val="2440221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21F1215-BE34-4E64-9ECB-ED19DDE312CD}" type="datetimeFigureOut">
              <a:rPr lang="zh-TW" altLang="en-US" smtClean="0"/>
              <a:t>2025/12/12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B912C7-0F9A-4341-9D1C-D9AD80228329}" type="slidenum">
              <a:rPr lang="zh-TW" altLang="en-US" smtClean="0"/>
              <a:t>‹#›</a:t>
            </a:fld>
            <a:endParaRPr lang="zh-TW" altLang="en-US"/>
          </a:p>
        </p:txBody>
      </p:sp>
      <p:pic>
        <p:nvPicPr>
          <p:cNvPr id="9" name="圖片 8">
            <a:extLst>
              <a:ext uri="{FF2B5EF4-FFF2-40B4-BE49-F238E27FC236}">
                <a16:creationId xmlns:a16="http://schemas.microsoft.com/office/drawing/2014/main" id="{07648DC4-3C4B-44D3-AA02-33A9E2E2E32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767" y="0"/>
            <a:ext cx="2085975" cy="590550"/>
          </a:xfrm>
          <a:prstGeom prst="rect">
            <a:avLst/>
          </a:prstGeom>
        </p:spPr>
      </p:pic>
    </p:spTree>
    <p:extLst>
      <p:ext uri="{BB962C8B-B14F-4D97-AF65-F5344CB8AC3E}">
        <p14:creationId xmlns:p14="http://schemas.microsoft.com/office/powerpoint/2010/main" val="3716975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21F1215-BE34-4E64-9ECB-ED19DDE312CD}" type="datetimeFigureOut">
              <a:rPr lang="zh-TW" altLang="en-US" smtClean="0"/>
              <a:t>2025/12/12</a:t>
            </a:fld>
            <a:endParaRPr lang="zh-TW"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TW"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BB912C7-0F9A-4341-9D1C-D9AD80228329}" type="slidenum">
              <a:rPr lang="zh-TW" altLang="en-US" smtClean="0"/>
              <a:t>‹#›</a:t>
            </a:fld>
            <a:endParaRPr lang="zh-TW" alt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圖片 10">
            <a:extLst>
              <a:ext uri="{FF2B5EF4-FFF2-40B4-BE49-F238E27FC236}">
                <a16:creationId xmlns:a16="http://schemas.microsoft.com/office/drawing/2014/main" id="{4C6AA632-FA7C-41C2-9149-4BCF070AE66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44767" y="0"/>
            <a:ext cx="2085975" cy="590550"/>
          </a:xfrm>
          <a:prstGeom prst="rect">
            <a:avLst/>
          </a:prstGeom>
        </p:spPr>
      </p:pic>
    </p:spTree>
    <p:extLst>
      <p:ext uri="{BB962C8B-B14F-4D97-AF65-F5344CB8AC3E}">
        <p14:creationId xmlns:p14="http://schemas.microsoft.com/office/powerpoint/2010/main" val="42650081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etail.1688.com/offer/950975823252.html?spm=a261b.2187593.0.0.779a5c6fa5kVII"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hyperlink" Target="https://www.mdpi.com/1424-8220/24/2/455"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shop.playrobot.com/products/mco0233-1-csk0085-csk0086-csk0087?srsltid=AfmBOorlmnXO_RcwvJHuVL7b9ok5M6t32GLJ67g6UtoUJTqeRexwMnSD" TargetMode="External"/><Relationship Id="rId2" Type="http://schemas.openxmlformats.org/officeDocument/2006/relationships/hyperlink" Target="https://shop.playrobot.com/categories/raspberry-pi-5-kits?srsltid=AfmBOorXNQu4sFq9u74Hra2gp7Lbxv7KGyx1a2WcnSWdKA_8-rYVcONI"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twcn.rs-online.com/web/p/development-tool-accessories/2017821?cm_mmc=TW-PLA-DS3A-_-google-_-PLA_TW_CN_PMAX_Catch+All_20250218-_--_-&amp;matchtype=&amp;&amp;campaignid=22251159093&amp;gclsrc=aw.ds&amp;gad_source=1&amp;gad_campaignid=22261589254&amp;gbraid=0AAAAADkeWNOXcHJt1DDzprIhgtJ9u2VcD&amp;gclid=Cj0KCQjwl5jHBhDHARIsAB0Yqjy6wF022fiAlZyAnuaKNihL3eMMgCsG634SQO7i-siYLo0xVv-X-_MaAlq_EALw_wcB"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AE6C737-FF55-4064-94B7-0B21D2EB6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0A1CC0F8-42C2-4B6C-968F-DDC5EFA48CDE}"/>
              </a:ext>
            </a:extLst>
          </p:cNvPr>
          <p:cNvSpPr>
            <a:spLocks noGrp="1"/>
          </p:cNvSpPr>
          <p:nvPr>
            <p:ph type="ctrTitle"/>
          </p:nvPr>
        </p:nvSpPr>
        <p:spPr>
          <a:xfrm>
            <a:off x="6730000" y="639097"/>
            <a:ext cx="4813072" cy="3686015"/>
          </a:xfrm>
        </p:spPr>
        <p:txBody>
          <a:bodyPr>
            <a:normAutofit/>
          </a:bodyPr>
          <a:lstStyle/>
          <a:p>
            <a:r>
              <a:rPr lang="en-US" altLang="zh-TW" sz="6200"/>
              <a:t>AI Driving Monitoring System</a:t>
            </a:r>
            <a:endParaRPr lang="zh-TW" altLang="en-US" sz="6200"/>
          </a:p>
        </p:txBody>
      </p:sp>
      <p:sp>
        <p:nvSpPr>
          <p:cNvPr id="3" name="副標題 2">
            <a:extLst>
              <a:ext uri="{FF2B5EF4-FFF2-40B4-BE49-F238E27FC236}">
                <a16:creationId xmlns:a16="http://schemas.microsoft.com/office/drawing/2014/main" id="{8E55BDD1-DA1F-435F-A16F-E21DD73F9749}"/>
              </a:ext>
            </a:extLst>
          </p:cNvPr>
          <p:cNvSpPr>
            <a:spLocks noGrp="1"/>
          </p:cNvSpPr>
          <p:nvPr>
            <p:ph type="subTitle" idx="1"/>
          </p:nvPr>
        </p:nvSpPr>
        <p:spPr>
          <a:xfrm>
            <a:off x="6729999" y="4455621"/>
            <a:ext cx="4829101" cy="1238616"/>
          </a:xfrm>
        </p:spPr>
        <p:txBody>
          <a:bodyPr>
            <a:normAutofit/>
          </a:bodyPr>
          <a:lstStyle/>
          <a:p>
            <a:r>
              <a:rPr lang="en-US" altLang="zh-TW" dirty="0">
                <a:solidFill>
                  <a:schemeClr val="tx1">
                    <a:lumMod val="85000"/>
                    <a:lumOff val="15000"/>
                  </a:schemeClr>
                </a:solidFill>
              </a:rPr>
              <a:t>Project Proposal</a:t>
            </a:r>
          </a:p>
          <a:p>
            <a:endParaRPr lang="en-US" altLang="zh-TW" sz="1600" dirty="0">
              <a:solidFill>
                <a:schemeClr val="tx1">
                  <a:lumMod val="85000"/>
                  <a:lumOff val="15000"/>
                </a:schemeClr>
              </a:solidFill>
            </a:endParaRPr>
          </a:p>
        </p:txBody>
      </p:sp>
      <p:pic>
        <p:nvPicPr>
          <p:cNvPr id="6" name="Picture 5">
            <a:extLst>
              <a:ext uri="{FF2B5EF4-FFF2-40B4-BE49-F238E27FC236}">
                <a16:creationId xmlns:a16="http://schemas.microsoft.com/office/drawing/2014/main" id="{7F1C2C0D-58A4-9124-AB86-75C0FC691278}"/>
              </a:ext>
            </a:extLst>
          </p:cNvPr>
          <p:cNvPicPr>
            <a:picLocks noChangeAspect="1"/>
          </p:cNvPicPr>
          <p:nvPr/>
        </p:nvPicPr>
        <p:blipFill>
          <a:blip r:embed="rId2"/>
          <a:stretch>
            <a:fillRect/>
          </a:stretch>
        </p:blipFill>
        <p:spPr>
          <a:xfrm>
            <a:off x="837921" y="640081"/>
            <a:ext cx="5054156" cy="5054156"/>
          </a:xfrm>
          <a:prstGeom prst="rect">
            <a:avLst/>
          </a:prstGeom>
        </p:spPr>
      </p:pic>
      <p:cxnSp>
        <p:nvCxnSpPr>
          <p:cNvPr id="23" name="Straight Connector 22">
            <a:extLst>
              <a:ext uri="{FF2B5EF4-FFF2-40B4-BE49-F238E27FC236}">
                <a16:creationId xmlns:a16="http://schemas.microsoft.com/office/drawing/2014/main" id="{6B5B1DD8-6224-4137-8621-32982B00F9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343400"/>
            <a:ext cx="43891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D8218D9F-38B6-4AE0-9051-5434D19A5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2D3DCA99-84AF-487A-BF72-91C5FA6B0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1375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8C59A1-16AD-46C0-A05C-FD5366FA272B}"/>
              </a:ext>
            </a:extLst>
          </p:cNvPr>
          <p:cNvSpPr>
            <a:spLocks noGrp="1"/>
          </p:cNvSpPr>
          <p:nvPr>
            <p:ph type="title"/>
          </p:nvPr>
        </p:nvSpPr>
        <p:spPr/>
        <p:txBody>
          <a:bodyPr/>
          <a:lstStyle/>
          <a:p>
            <a:r>
              <a:rPr lang="en-US" altLang="zh-TW" dirty="0"/>
              <a:t>Table of Contents</a:t>
            </a:r>
            <a:endParaRPr lang="zh-TW" altLang="en-US" dirty="0"/>
          </a:p>
        </p:txBody>
      </p:sp>
      <p:sp>
        <p:nvSpPr>
          <p:cNvPr id="3" name="內容版面配置區 2">
            <a:extLst>
              <a:ext uri="{FF2B5EF4-FFF2-40B4-BE49-F238E27FC236}">
                <a16:creationId xmlns:a16="http://schemas.microsoft.com/office/drawing/2014/main" id="{5D705397-6D42-486D-85A8-3E2DFE91402B}"/>
              </a:ext>
            </a:extLst>
          </p:cNvPr>
          <p:cNvSpPr>
            <a:spLocks noGrp="1"/>
          </p:cNvSpPr>
          <p:nvPr>
            <p:ph idx="1"/>
          </p:nvPr>
        </p:nvSpPr>
        <p:spPr/>
        <p:txBody>
          <a:bodyPr>
            <a:normAutofit/>
          </a:bodyPr>
          <a:lstStyle/>
          <a:p>
            <a:r>
              <a:rPr lang="en-US" altLang="zh-TW" dirty="0"/>
              <a:t>1.</a:t>
            </a:r>
            <a:r>
              <a:rPr lang="zh-TW" altLang="en-US" dirty="0"/>
              <a:t> </a:t>
            </a:r>
            <a:r>
              <a:rPr lang="en-US" altLang="zh-TW" dirty="0"/>
              <a:t>Introduction</a:t>
            </a:r>
          </a:p>
          <a:p>
            <a:r>
              <a:rPr lang="en-US" altLang="zh-TW" dirty="0"/>
              <a:t>2.</a:t>
            </a:r>
            <a:r>
              <a:rPr lang="zh-TW" altLang="en-US" dirty="0"/>
              <a:t> </a:t>
            </a:r>
            <a:r>
              <a:rPr lang="en-US" altLang="zh-TW" dirty="0"/>
              <a:t>Research Methodology</a:t>
            </a:r>
          </a:p>
          <a:p>
            <a:r>
              <a:rPr lang="en-US" altLang="zh-TW" dirty="0"/>
              <a:t>3.</a:t>
            </a:r>
            <a:r>
              <a:rPr lang="zh-TW" altLang="en-US" dirty="0"/>
              <a:t> </a:t>
            </a:r>
            <a:r>
              <a:rPr lang="en-US" altLang="zh-TW" dirty="0"/>
              <a:t>Project Resource</a:t>
            </a:r>
          </a:p>
          <a:p>
            <a:r>
              <a:rPr lang="en-US" altLang="zh-TW" dirty="0"/>
              <a:t>4.</a:t>
            </a:r>
            <a:r>
              <a:rPr lang="zh-TW" altLang="en-US" dirty="0"/>
              <a:t> </a:t>
            </a:r>
            <a:r>
              <a:rPr lang="en-US" altLang="zh-TW" dirty="0"/>
              <a:t>Project</a:t>
            </a:r>
            <a:r>
              <a:rPr lang="zh-TW" altLang="en-US" dirty="0"/>
              <a:t> </a:t>
            </a:r>
            <a:r>
              <a:rPr lang="en-US" altLang="zh-TW" dirty="0"/>
              <a:t>Timeline</a:t>
            </a:r>
            <a:endParaRPr lang="zh-TW" altLang="en-US" dirty="0"/>
          </a:p>
        </p:txBody>
      </p:sp>
    </p:spTree>
    <p:extLst>
      <p:ext uri="{BB962C8B-B14F-4D97-AF65-F5344CB8AC3E}">
        <p14:creationId xmlns:p14="http://schemas.microsoft.com/office/powerpoint/2010/main" val="1493973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E2D38-546C-F784-9CD4-EA10516223DD}"/>
            </a:ext>
          </a:extLst>
        </p:cNvPr>
        <p:cNvGrpSpPr/>
        <p:nvPr/>
      </p:nvGrpSpPr>
      <p:grpSpPr>
        <a:xfrm>
          <a:off x="0" y="0"/>
          <a:ext cx="0" cy="0"/>
          <a:chOff x="0" y="0"/>
          <a:chExt cx="0" cy="0"/>
        </a:xfrm>
      </p:grpSpPr>
      <p:sp>
        <p:nvSpPr>
          <p:cNvPr id="4" name="標題 3">
            <a:extLst>
              <a:ext uri="{FF2B5EF4-FFF2-40B4-BE49-F238E27FC236}">
                <a16:creationId xmlns:a16="http://schemas.microsoft.com/office/drawing/2014/main" id="{BF865EE4-ACDE-C8C8-1552-E197225C3C93}"/>
              </a:ext>
            </a:extLst>
          </p:cNvPr>
          <p:cNvSpPr>
            <a:spLocks noGrp="1"/>
          </p:cNvSpPr>
          <p:nvPr>
            <p:ph type="title"/>
          </p:nvPr>
        </p:nvSpPr>
        <p:spPr/>
        <p:txBody>
          <a:bodyPr/>
          <a:lstStyle/>
          <a:p>
            <a:r>
              <a:rPr lang="en-US" altLang="zh-TW" dirty="0"/>
              <a:t>Introduction</a:t>
            </a:r>
            <a:endParaRPr lang="zh-TW" altLang="en-US" dirty="0"/>
          </a:p>
        </p:txBody>
      </p:sp>
      <p:sp>
        <p:nvSpPr>
          <p:cNvPr id="5" name="文字版面配置區 4">
            <a:extLst>
              <a:ext uri="{FF2B5EF4-FFF2-40B4-BE49-F238E27FC236}">
                <a16:creationId xmlns:a16="http://schemas.microsoft.com/office/drawing/2014/main" id="{D1CB6658-B465-9115-0213-11CB30F6146E}"/>
              </a:ext>
            </a:extLst>
          </p:cNvPr>
          <p:cNvSpPr>
            <a:spLocks noGrp="1"/>
          </p:cNvSpPr>
          <p:nvPr>
            <p:ph type="body" idx="1"/>
          </p:nvPr>
        </p:nvSpPr>
        <p:spPr/>
        <p:txBody>
          <a:bodyPr>
            <a:normAutofit fontScale="47500" lnSpcReduction="20000"/>
          </a:bodyPr>
          <a:lstStyle/>
          <a:p>
            <a:r>
              <a:rPr lang="en-US" altLang="zh-TW" b="1" dirty="0">
                <a:solidFill>
                  <a:schemeClr val="tx1">
                    <a:lumMod val="75000"/>
                    <a:lumOff val="25000"/>
                  </a:schemeClr>
                </a:solidFill>
              </a:rPr>
              <a:t>1.</a:t>
            </a:r>
            <a:r>
              <a:rPr lang="zh-TW" altLang="en-US" b="1" dirty="0">
                <a:solidFill>
                  <a:schemeClr val="tx1">
                    <a:lumMod val="75000"/>
                    <a:lumOff val="25000"/>
                  </a:schemeClr>
                </a:solidFill>
              </a:rPr>
              <a:t> </a:t>
            </a:r>
            <a:r>
              <a:rPr lang="en-US" altLang="zh-TW" b="1" dirty="0">
                <a:solidFill>
                  <a:schemeClr val="tx1">
                    <a:lumMod val="75000"/>
                    <a:lumOff val="25000"/>
                  </a:schemeClr>
                </a:solidFill>
              </a:rPr>
              <a:t>Introduction</a:t>
            </a:r>
          </a:p>
          <a:p>
            <a:r>
              <a:rPr lang="en-US" altLang="zh-TW" dirty="0">
                <a:solidFill>
                  <a:schemeClr val="bg1">
                    <a:lumMod val="75000"/>
                  </a:schemeClr>
                </a:solidFill>
              </a:rPr>
              <a:t>2.</a:t>
            </a:r>
            <a:r>
              <a:rPr lang="zh-TW" altLang="en-US" dirty="0">
                <a:solidFill>
                  <a:schemeClr val="bg1">
                    <a:lumMod val="75000"/>
                  </a:schemeClr>
                </a:solidFill>
              </a:rPr>
              <a:t> </a:t>
            </a:r>
            <a:r>
              <a:rPr lang="en-US" altLang="zh-TW" dirty="0">
                <a:solidFill>
                  <a:schemeClr val="bg1">
                    <a:lumMod val="75000"/>
                  </a:schemeClr>
                </a:solidFill>
              </a:rPr>
              <a:t>Research Methodology</a:t>
            </a:r>
          </a:p>
          <a:p>
            <a:r>
              <a:rPr lang="en-US" altLang="zh-TW" sz="2300" dirty="0">
                <a:solidFill>
                  <a:schemeClr val="bg1">
                    <a:lumMod val="75000"/>
                  </a:schemeClr>
                </a:solidFill>
              </a:rPr>
              <a:t>3.</a:t>
            </a:r>
            <a:r>
              <a:rPr lang="zh-TW" altLang="en-US" sz="2300" dirty="0">
                <a:solidFill>
                  <a:schemeClr val="bg1">
                    <a:lumMod val="75000"/>
                  </a:schemeClr>
                </a:solidFill>
              </a:rPr>
              <a:t> </a:t>
            </a:r>
            <a:r>
              <a:rPr lang="en-US" altLang="zh-TW" sz="2300" dirty="0">
                <a:solidFill>
                  <a:schemeClr val="bg1">
                    <a:lumMod val="75000"/>
                  </a:schemeClr>
                </a:solidFill>
              </a:rPr>
              <a:t>Project resource</a:t>
            </a:r>
          </a:p>
          <a:p>
            <a:r>
              <a:rPr lang="en-US" altLang="zh-TW" sz="2300" dirty="0">
                <a:solidFill>
                  <a:schemeClr val="bg1">
                    <a:lumMod val="75000"/>
                  </a:schemeClr>
                </a:solidFill>
              </a:rPr>
              <a:t>4.</a:t>
            </a:r>
            <a:r>
              <a:rPr lang="zh-TW" altLang="en-US" sz="2300" dirty="0">
                <a:solidFill>
                  <a:schemeClr val="bg1">
                    <a:lumMod val="75000"/>
                  </a:schemeClr>
                </a:solidFill>
              </a:rPr>
              <a:t> </a:t>
            </a:r>
            <a:r>
              <a:rPr lang="en-US" altLang="zh-TW" sz="2000" dirty="0">
                <a:solidFill>
                  <a:schemeClr val="bg1">
                    <a:lumMod val="75000"/>
                  </a:schemeClr>
                </a:solidFill>
              </a:rPr>
              <a:t>Project</a:t>
            </a:r>
            <a:r>
              <a:rPr lang="zh-TW" altLang="en-US" sz="2000" dirty="0">
                <a:solidFill>
                  <a:schemeClr val="bg1">
                    <a:lumMod val="75000"/>
                  </a:schemeClr>
                </a:solidFill>
              </a:rPr>
              <a:t> </a:t>
            </a:r>
            <a:r>
              <a:rPr lang="en-US" altLang="zh-TW" sz="2000" dirty="0">
                <a:solidFill>
                  <a:schemeClr val="bg1">
                    <a:lumMod val="75000"/>
                  </a:schemeClr>
                </a:solidFill>
              </a:rPr>
              <a:t>Timeline</a:t>
            </a:r>
            <a:endParaRPr lang="zh-TW" altLang="en-US" sz="2000" dirty="0">
              <a:solidFill>
                <a:schemeClr val="bg1">
                  <a:lumMod val="75000"/>
                </a:schemeClr>
              </a:solidFill>
            </a:endParaRPr>
          </a:p>
          <a:p>
            <a:endParaRPr lang="zh-TW" altLang="en-US" sz="2300" dirty="0"/>
          </a:p>
          <a:p>
            <a:endParaRPr lang="zh-TW" altLang="en-US" dirty="0"/>
          </a:p>
        </p:txBody>
      </p:sp>
    </p:spTree>
    <p:extLst>
      <p:ext uri="{BB962C8B-B14F-4D97-AF65-F5344CB8AC3E}">
        <p14:creationId xmlns:p14="http://schemas.microsoft.com/office/powerpoint/2010/main" val="552916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A3F17825-3CA8-4CF0-9E7B-1F0357D27CC4}"/>
              </a:ext>
            </a:extLst>
          </p:cNvPr>
          <p:cNvSpPr>
            <a:spLocks noGrp="1"/>
          </p:cNvSpPr>
          <p:nvPr>
            <p:ph type="title"/>
          </p:nvPr>
        </p:nvSpPr>
        <p:spPr>
          <a:xfrm>
            <a:off x="1066800" y="650397"/>
            <a:ext cx="9404555" cy="1188236"/>
          </a:xfrm>
        </p:spPr>
        <p:txBody>
          <a:bodyPr>
            <a:normAutofit/>
          </a:bodyPr>
          <a:lstStyle/>
          <a:p>
            <a:r>
              <a:rPr lang="en-US" dirty="0"/>
              <a:t>Introduction</a:t>
            </a:r>
            <a:endParaRPr lang="en-US" b="1" dirty="0"/>
          </a:p>
        </p:txBody>
      </p:sp>
      <p:sp>
        <p:nvSpPr>
          <p:cNvPr id="7" name="內容版面配置區 6">
            <a:extLst>
              <a:ext uri="{FF2B5EF4-FFF2-40B4-BE49-F238E27FC236}">
                <a16:creationId xmlns:a16="http://schemas.microsoft.com/office/drawing/2014/main" id="{7716FABB-F25B-447D-A37F-0E1BC87DA4CD}"/>
              </a:ext>
            </a:extLst>
          </p:cNvPr>
          <p:cNvSpPr>
            <a:spLocks noGrp="1"/>
          </p:cNvSpPr>
          <p:nvPr>
            <p:ph idx="1"/>
          </p:nvPr>
        </p:nvSpPr>
        <p:spPr>
          <a:xfrm>
            <a:off x="1066800" y="1867864"/>
            <a:ext cx="10058400" cy="4023360"/>
          </a:xfrm>
        </p:spPr>
        <p:txBody>
          <a:bodyPr/>
          <a:lstStyle/>
          <a:p>
            <a:pPr marL="457200" indent="-457200">
              <a:buFont typeface="+mj-lt"/>
              <a:buAutoNum type="arabicPeriod"/>
            </a:pPr>
            <a:r>
              <a:rPr lang="en-US" dirty="0"/>
              <a:t>Road safety remains a global issue due to fatigue</a:t>
            </a:r>
            <a:r>
              <a:rPr lang="zh-TW" altLang="en-US" dirty="0"/>
              <a:t> </a:t>
            </a:r>
            <a:r>
              <a:rPr lang="en-US" altLang="zh-TW" dirty="0"/>
              <a:t>and</a:t>
            </a:r>
            <a:r>
              <a:rPr lang="en-US" dirty="0"/>
              <a:t> distraction.</a:t>
            </a:r>
          </a:p>
          <a:p>
            <a:pPr marL="457200" indent="-457200">
              <a:buFont typeface="+mj-lt"/>
              <a:buAutoNum type="arabicPeriod"/>
            </a:pPr>
            <a:r>
              <a:rPr lang="en-US" dirty="0"/>
              <a:t>Existing systems track are mostly wearable monitoring system or just eye-tracking system(lacking physiology).</a:t>
            </a:r>
          </a:p>
          <a:p>
            <a:pPr marL="457200" indent="-457200">
              <a:buFont typeface="+mj-lt"/>
              <a:buAutoNum type="arabicPeriod"/>
            </a:pPr>
            <a:r>
              <a:rPr lang="en-US" dirty="0" err="1"/>
              <a:t>rPPG</a:t>
            </a:r>
            <a:r>
              <a:rPr lang="en-US" dirty="0"/>
              <a:t> + AI enables real-time, non-invasive monitoring using IR (or hybrid) cameras.</a:t>
            </a:r>
          </a:p>
          <a:p>
            <a:pPr marL="457200" indent="-457200">
              <a:buFont typeface="+mj-lt"/>
              <a:buAutoNum type="arabicPeriod"/>
            </a:pPr>
            <a:r>
              <a:rPr lang="en-US" dirty="0"/>
              <a:t>Goal: Detect low oxygen and fatigue. Warns drivers in real-time.</a:t>
            </a:r>
          </a:p>
        </p:txBody>
      </p:sp>
    </p:spTree>
    <p:extLst>
      <p:ext uri="{BB962C8B-B14F-4D97-AF65-F5344CB8AC3E}">
        <p14:creationId xmlns:p14="http://schemas.microsoft.com/office/powerpoint/2010/main" val="2163513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F7E58-1360-771B-7EDE-A1D788CDB9A0}"/>
              </a:ext>
            </a:extLst>
          </p:cNvPr>
          <p:cNvSpPr>
            <a:spLocks noGrp="1"/>
          </p:cNvSpPr>
          <p:nvPr>
            <p:ph type="title"/>
          </p:nvPr>
        </p:nvSpPr>
        <p:spPr/>
        <p:txBody>
          <a:bodyPr/>
          <a:lstStyle/>
          <a:p>
            <a:r>
              <a:rPr lang="en-US" dirty="0"/>
              <a:t>Project Objectives</a:t>
            </a:r>
          </a:p>
        </p:txBody>
      </p:sp>
      <p:sp>
        <p:nvSpPr>
          <p:cNvPr id="3" name="Content Placeholder 2">
            <a:extLst>
              <a:ext uri="{FF2B5EF4-FFF2-40B4-BE49-F238E27FC236}">
                <a16:creationId xmlns:a16="http://schemas.microsoft.com/office/drawing/2014/main" id="{6C764554-F612-DE9E-0220-DAA42B1B6D38}"/>
              </a:ext>
            </a:extLst>
          </p:cNvPr>
          <p:cNvSpPr>
            <a:spLocks noGrp="1"/>
          </p:cNvSpPr>
          <p:nvPr>
            <p:ph idx="1"/>
          </p:nvPr>
        </p:nvSpPr>
        <p:spPr/>
        <p:txBody>
          <a:bodyPr/>
          <a:lstStyle/>
          <a:p>
            <a:pPr marL="457200" indent="-457200">
              <a:buFont typeface="+mj-lt"/>
              <a:buAutoNum type="arabicPeriod"/>
            </a:pPr>
            <a:r>
              <a:rPr lang="en-US" dirty="0"/>
              <a:t>Current systems seldom adapt to varying conditions (urban vs. rural, night vs. day, various weather conditions).</a:t>
            </a:r>
          </a:p>
          <a:p>
            <a:pPr marL="457200" indent="-457200">
              <a:buFont typeface="+mj-lt"/>
              <a:buAutoNum type="arabicPeriod"/>
            </a:pPr>
            <a:r>
              <a:rPr lang="en-US" dirty="0"/>
              <a:t>Limited integration of multi-signal monitoring (HR, SpO2, facial expressions).</a:t>
            </a:r>
          </a:p>
          <a:p>
            <a:pPr marL="457200" indent="-457200">
              <a:buFont typeface="+mj-lt"/>
              <a:buAutoNum type="arabicPeriod"/>
            </a:pPr>
            <a:r>
              <a:rPr lang="en-US" dirty="0"/>
              <a:t>Lack of longitudinal research on driver fatigue and distraction.</a:t>
            </a:r>
          </a:p>
          <a:p>
            <a:pPr marL="457200" indent="-457200">
              <a:buFont typeface="+mj-lt"/>
              <a:buAutoNum type="arabicPeriod"/>
            </a:pPr>
            <a:r>
              <a:rPr lang="en-US" dirty="0"/>
              <a:t>Concerns about user acceptance, privacy, and ethical implications.</a:t>
            </a:r>
          </a:p>
          <a:p>
            <a:endParaRPr lang="en-US" dirty="0"/>
          </a:p>
        </p:txBody>
      </p:sp>
    </p:spTree>
    <p:extLst>
      <p:ext uri="{BB962C8B-B14F-4D97-AF65-F5344CB8AC3E}">
        <p14:creationId xmlns:p14="http://schemas.microsoft.com/office/powerpoint/2010/main" val="3203718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1A2AD-8C5D-8186-F34E-1A248740B61A}"/>
            </a:ext>
          </a:extLst>
        </p:cNvPr>
        <p:cNvGrpSpPr/>
        <p:nvPr/>
      </p:nvGrpSpPr>
      <p:grpSpPr>
        <a:xfrm>
          <a:off x="0" y="0"/>
          <a:ext cx="0" cy="0"/>
          <a:chOff x="0" y="0"/>
          <a:chExt cx="0" cy="0"/>
        </a:xfrm>
      </p:grpSpPr>
      <p:sp>
        <p:nvSpPr>
          <p:cNvPr id="4" name="標題 3">
            <a:extLst>
              <a:ext uri="{FF2B5EF4-FFF2-40B4-BE49-F238E27FC236}">
                <a16:creationId xmlns:a16="http://schemas.microsoft.com/office/drawing/2014/main" id="{F1524D2B-455C-C45B-B161-77310398BA75}"/>
              </a:ext>
            </a:extLst>
          </p:cNvPr>
          <p:cNvSpPr>
            <a:spLocks noGrp="1"/>
          </p:cNvSpPr>
          <p:nvPr>
            <p:ph type="title"/>
          </p:nvPr>
        </p:nvSpPr>
        <p:spPr/>
        <p:txBody>
          <a:bodyPr/>
          <a:lstStyle/>
          <a:p>
            <a:r>
              <a:rPr lang="en-US" altLang="zh-TW" dirty="0"/>
              <a:t>Research Methodology</a:t>
            </a:r>
            <a:endParaRPr lang="zh-TW" altLang="en-US" dirty="0"/>
          </a:p>
        </p:txBody>
      </p:sp>
      <p:sp>
        <p:nvSpPr>
          <p:cNvPr id="5" name="文字版面配置區 4">
            <a:extLst>
              <a:ext uri="{FF2B5EF4-FFF2-40B4-BE49-F238E27FC236}">
                <a16:creationId xmlns:a16="http://schemas.microsoft.com/office/drawing/2014/main" id="{D4607173-4E80-D0E5-52B2-2125DCD2EF97}"/>
              </a:ext>
            </a:extLst>
          </p:cNvPr>
          <p:cNvSpPr>
            <a:spLocks noGrp="1"/>
          </p:cNvSpPr>
          <p:nvPr>
            <p:ph type="body" idx="1"/>
          </p:nvPr>
        </p:nvSpPr>
        <p:spPr/>
        <p:txBody>
          <a:bodyPr>
            <a:normAutofit fontScale="47500" lnSpcReduction="20000"/>
          </a:bodyPr>
          <a:lstStyle/>
          <a:p>
            <a:r>
              <a:rPr lang="en-US" altLang="zh-TW" dirty="0">
                <a:solidFill>
                  <a:schemeClr val="bg1">
                    <a:lumMod val="75000"/>
                  </a:schemeClr>
                </a:solidFill>
              </a:rPr>
              <a:t>1.</a:t>
            </a:r>
            <a:r>
              <a:rPr lang="zh-TW" altLang="en-US" dirty="0">
                <a:solidFill>
                  <a:schemeClr val="bg1">
                    <a:lumMod val="75000"/>
                  </a:schemeClr>
                </a:solidFill>
              </a:rPr>
              <a:t> </a:t>
            </a:r>
            <a:r>
              <a:rPr lang="en-US" altLang="zh-TW" dirty="0">
                <a:solidFill>
                  <a:schemeClr val="bg1">
                    <a:lumMod val="75000"/>
                  </a:schemeClr>
                </a:solidFill>
              </a:rPr>
              <a:t>Introduction</a:t>
            </a:r>
          </a:p>
          <a:p>
            <a:r>
              <a:rPr lang="en-US" altLang="zh-TW" dirty="0">
                <a:solidFill>
                  <a:schemeClr val="tx1">
                    <a:lumMod val="65000"/>
                    <a:lumOff val="35000"/>
                  </a:schemeClr>
                </a:solidFill>
              </a:rPr>
              <a:t>2.</a:t>
            </a:r>
            <a:r>
              <a:rPr lang="zh-TW" altLang="en-US" dirty="0">
                <a:solidFill>
                  <a:schemeClr val="tx1">
                    <a:lumMod val="65000"/>
                    <a:lumOff val="35000"/>
                  </a:schemeClr>
                </a:solidFill>
              </a:rPr>
              <a:t> </a:t>
            </a:r>
            <a:r>
              <a:rPr lang="en-US" altLang="zh-TW" dirty="0">
                <a:solidFill>
                  <a:schemeClr val="tx1">
                    <a:lumMod val="65000"/>
                    <a:lumOff val="35000"/>
                  </a:schemeClr>
                </a:solidFill>
              </a:rPr>
              <a:t>Research Methodology</a:t>
            </a:r>
          </a:p>
          <a:p>
            <a:r>
              <a:rPr lang="en-US" altLang="zh-TW" sz="2300" dirty="0">
                <a:solidFill>
                  <a:schemeClr val="bg1">
                    <a:lumMod val="75000"/>
                  </a:schemeClr>
                </a:solidFill>
              </a:rPr>
              <a:t>3.</a:t>
            </a:r>
            <a:r>
              <a:rPr lang="zh-TW" altLang="en-US" sz="2300" dirty="0">
                <a:solidFill>
                  <a:schemeClr val="bg1">
                    <a:lumMod val="75000"/>
                  </a:schemeClr>
                </a:solidFill>
              </a:rPr>
              <a:t> </a:t>
            </a:r>
            <a:r>
              <a:rPr lang="en-US" altLang="zh-TW" sz="2300" dirty="0">
                <a:solidFill>
                  <a:schemeClr val="bg1">
                    <a:lumMod val="75000"/>
                  </a:schemeClr>
                </a:solidFill>
              </a:rPr>
              <a:t>Project resource</a:t>
            </a:r>
          </a:p>
          <a:p>
            <a:r>
              <a:rPr lang="en-US" altLang="zh-TW" sz="2300" dirty="0">
                <a:solidFill>
                  <a:schemeClr val="bg1">
                    <a:lumMod val="75000"/>
                  </a:schemeClr>
                </a:solidFill>
              </a:rPr>
              <a:t>4.</a:t>
            </a:r>
            <a:r>
              <a:rPr lang="zh-TW" altLang="en-US" sz="2300" dirty="0">
                <a:solidFill>
                  <a:schemeClr val="bg1">
                    <a:lumMod val="75000"/>
                  </a:schemeClr>
                </a:solidFill>
              </a:rPr>
              <a:t> </a:t>
            </a:r>
            <a:r>
              <a:rPr lang="en-US" altLang="zh-TW" sz="2000" dirty="0">
                <a:solidFill>
                  <a:schemeClr val="bg1">
                    <a:lumMod val="75000"/>
                  </a:schemeClr>
                </a:solidFill>
              </a:rPr>
              <a:t>Project</a:t>
            </a:r>
            <a:r>
              <a:rPr lang="zh-TW" altLang="en-US" sz="2000" dirty="0">
                <a:solidFill>
                  <a:schemeClr val="bg1">
                    <a:lumMod val="75000"/>
                  </a:schemeClr>
                </a:solidFill>
              </a:rPr>
              <a:t> </a:t>
            </a:r>
            <a:r>
              <a:rPr lang="en-US" altLang="zh-TW" sz="2000" dirty="0">
                <a:solidFill>
                  <a:schemeClr val="bg1">
                    <a:lumMod val="75000"/>
                  </a:schemeClr>
                </a:solidFill>
              </a:rPr>
              <a:t>Timeline</a:t>
            </a:r>
            <a:endParaRPr lang="zh-TW" altLang="en-US" sz="2000" dirty="0">
              <a:solidFill>
                <a:schemeClr val="bg1">
                  <a:lumMod val="75000"/>
                </a:schemeClr>
              </a:solidFill>
            </a:endParaRPr>
          </a:p>
          <a:p>
            <a:endParaRPr lang="zh-TW" altLang="en-US" sz="2300" dirty="0"/>
          </a:p>
          <a:p>
            <a:endParaRPr lang="zh-TW" altLang="en-US" dirty="0"/>
          </a:p>
        </p:txBody>
      </p:sp>
    </p:spTree>
    <p:extLst>
      <p:ext uri="{BB962C8B-B14F-4D97-AF65-F5344CB8AC3E}">
        <p14:creationId xmlns:p14="http://schemas.microsoft.com/office/powerpoint/2010/main" val="3997270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18AC8-124A-C304-F642-C4CD4F832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8EB6C-6B73-76C7-907E-018B1B822490}"/>
              </a:ext>
            </a:extLst>
          </p:cNvPr>
          <p:cNvSpPr>
            <a:spLocks noGrp="1"/>
          </p:cNvSpPr>
          <p:nvPr>
            <p:ph type="title"/>
          </p:nvPr>
        </p:nvSpPr>
        <p:spPr/>
        <p:txBody>
          <a:bodyPr/>
          <a:lstStyle/>
          <a:p>
            <a:r>
              <a:rPr lang="en-US" dirty="0"/>
              <a:t>Research Methodology</a:t>
            </a:r>
          </a:p>
        </p:txBody>
      </p:sp>
      <p:sp>
        <p:nvSpPr>
          <p:cNvPr id="3" name="Content Placeholder 2">
            <a:extLst>
              <a:ext uri="{FF2B5EF4-FFF2-40B4-BE49-F238E27FC236}">
                <a16:creationId xmlns:a16="http://schemas.microsoft.com/office/drawing/2014/main" id="{E3953445-2DBE-3AD1-1DDA-84D7E5B0235B}"/>
              </a:ext>
            </a:extLst>
          </p:cNvPr>
          <p:cNvSpPr>
            <a:spLocks noGrp="1"/>
          </p:cNvSpPr>
          <p:nvPr>
            <p:ph idx="1"/>
          </p:nvPr>
        </p:nvSpPr>
        <p:spPr/>
        <p:txBody>
          <a:bodyPr/>
          <a:lstStyle/>
          <a:p>
            <a:pPr marL="457200" indent="-457200">
              <a:buFont typeface="+mj-lt"/>
              <a:buAutoNum type="arabicPeriod"/>
            </a:pPr>
            <a:r>
              <a:rPr lang="en-US" dirty="0"/>
              <a:t>Literature Review: Comprehensive review of existing research to identify gaps.</a:t>
            </a:r>
          </a:p>
          <a:p>
            <a:pPr marL="457200" indent="-457200">
              <a:buFont typeface="+mj-lt"/>
              <a:buAutoNum type="arabicPeriod"/>
            </a:pPr>
            <a:r>
              <a:rPr lang="en-US" dirty="0"/>
              <a:t>Prototype Development: Building a functional camera-based system.</a:t>
            </a:r>
          </a:p>
          <a:p>
            <a:pPr marL="457200" indent="-457200">
              <a:buFont typeface="+mj-lt"/>
              <a:buAutoNum type="arabicPeriod"/>
            </a:pPr>
            <a:r>
              <a:rPr lang="en-US" dirty="0"/>
              <a:t>Experimental Design: Creating controlled lab-based simulations.</a:t>
            </a:r>
          </a:p>
          <a:p>
            <a:pPr marL="457200" indent="-457200">
              <a:buFont typeface="+mj-lt"/>
              <a:buAutoNum type="arabicPeriod"/>
            </a:pPr>
            <a:r>
              <a:rPr lang="en-US" dirty="0"/>
              <a:t>Data Collection &amp; Analysis: Gathering and processing data from both lab and real-world field tests.</a:t>
            </a:r>
          </a:p>
          <a:p>
            <a:pPr marL="457200" indent="-457200">
              <a:buFont typeface="+mj-lt"/>
              <a:buAutoNum type="arabicPeriod"/>
            </a:pPr>
            <a:r>
              <a:rPr lang="en-US" dirty="0"/>
              <a:t>Validation: Comparing our system's performance against existing technologies.</a:t>
            </a:r>
          </a:p>
        </p:txBody>
      </p:sp>
    </p:spTree>
    <p:extLst>
      <p:ext uri="{BB962C8B-B14F-4D97-AF65-F5344CB8AC3E}">
        <p14:creationId xmlns:p14="http://schemas.microsoft.com/office/powerpoint/2010/main" val="1080561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0F4538A9-513F-12B3-2F8C-E6E9E62B1122}"/>
              </a:ext>
            </a:extLst>
          </p:cNvPr>
          <p:cNvPicPr>
            <a:picLocks noGrp="1" noChangeAspect="1"/>
          </p:cNvPicPr>
          <p:nvPr>
            <p:ph idx="1"/>
          </p:nvPr>
        </p:nvPicPr>
        <p:blipFill rotWithShape="1">
          <a:blip r:embed="rId2"/>
          <a:srcRect b="13456"/>
          <a:stretch>
            <a:fillRect/>
          </a:stretch>
        </p:blipFill>
        <p:spPr bwMode="auto">
          <a:xfrm>
            <a:off x="117505" y="521208"/>
            <a:ext cx="11953843" cy="5845112"/>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4179782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7CE26-C4E9-4FDE-340C-C6CF276E44D4}"/>
            </a:ext>
          </a:extLst>
        </p:cNvPr>
        <p:cNvGrpSpPr/>
        <p:nvPr/>
      </p:nvGrpSpPr>
      <p:grpSpPr>
        <a:xfrm>
          <a:off x="0" y="0"/>
          <a:ext cx="0" cy="0"/>
          <a:chOff x="0" y="0"/>
          <a:chExt cx="0" cy="0"/>
        </a:xfrm>
      </p:grpSpPr>
      <p:sp>
        <p:nvSpPr>
          <p:cNvPr id="4" name="標題 3">
            <a:extLst>
              <a:ext uri="{FF2B5EF4-FFF2-40B4-BE49-F238E27FC236}">
                <a16:creationId xmlns:a16="http://schemas.microsoft.com/office/drawing/2014/main" id="{F3167A73-88EB-70A4-80B0-29321F12AE93}"/>
              </a:ext>
            </a:extLst>
          </p:cNvPr>
          <p:cNvSpPr>
            <a:spLocks noGrp="1"/>
          </p:cNvSpPr>
          <p:nvPr>
            <p:ph type="title"/>
          </p:nvPr>
        </p:nvSpPr>
        <p:spPr/>
        <p:txBody>
          <a:bodyPr/>
          <a:lstStyle/>
          <a:p>
            <a:r>
              <a:rPr lang="en-US" altLang="zh-TW" dirty="0"/>
              <a:t>Project</a:t>
            </a:r>
            <a:r>
              <a:rPr lang="zh-TW" altLang="en-US" dirty="0"/>
              <a:t> </a:t>
            </a:r>
            <a:r>
              <a:rPr lang="en-US" altLang="zh-TW" dirty="0"/>
              <a:t>Resource</a:t>
            </a:r>
            <a:endParaRPr lang="zh-TW" altLang="en-US" dirty="0"/>
          </a:p>
        </p:txBody>
      </p:sp>
      <p:sp>
        <p:nvSpPr>
          <p:cNvPr id="5" name="文字版面配置區 4">
            <a:extLst>
              <a:ext uri="{FF2B5EF4-FFF2-40B4-BE49-F238E27FC236}">
                <a16:creationId xmlns:a16="http://schemas.microsoft.com/office/drawing/2014/main" id="{4581BE86-8DCD-E3C9-B86A-3E01DFA24830}"/>
              </a:ext>
            </a:extLst>
          </p:cNvPr>
          <p:cNvSpPr>
            <a:spLocks noGrp="1"/>
          </p:cNvSpPr>
          <p:nvPr>
            <p:ph type="body" idx="1"/>
          </p:nvPr>
        </p:nvSpPr>
        <p:spPr/>
        <p:txBody>
          <a:bodyPr>
            <a:normAutofit fontScale="47500" lnSpcReduction="20000"/>
          </a:bodyPr>
          <a:lstStyle/>
          <a:p>
            <a:r>
              <a:rPr lang="en-US" altLang="zh-TW" dirty="0">
                <a:solidFill>
                  <a:schemeClr val="bg1">
                    <a:lumMod val="75000"/>
                  </a:schemeClr>
                </a:solidFill>
              </a:rPr>
              <a:t>1.</a:t>
            </a:r>
            <a:r>
              <a:rPr lang="zh-TW" altLang="en-US" dirty="0">
                <a:solidFill>
                  <a:schemeClr val="bg1">
                    <a:lumMod val="75000"/>
                  </a:schemeClr>
                </a:solidFill>
              </a:rPr>
              <a:t> </a:t>
            </a:r>
            <a:r>
              <a:rPr lang="en-US" altLang="zh-TW" dirty="0">
                <a:solidFill>
                  <a:schemeClr val="bg1">
                    <a:lumMod val="75000"/>
                  </a:schemeClr>
                </a:solidFill>
              </a:rPr>
              <a:t>Introduction</a:t>
            </a:r>
          </a:p>
          <a:p>
            <a:r>
              <a:rPr lang="en-US" altLang="zh-TW" dirty="0">
                <a:solidFill>
                  <a:schemeClr val="bg1">
                    <a:lumMod val="75000"/>
                  </a:schemeClr>
                </a:solidFill>
              </a:rPr>
              <a:t>2.</a:t>
            </a:r>
            <a:r>
              <a:rPr lang="zh-TW" altLang="en-US" dirty="0">
                <a:solidFill>
                  <a:schemeClr val="bg1">
                    <a:lumMod val="75000"/>
                  </a:schemeClr>
                </a:solidFill>
              </a:rPr>
              <a:t> </a:t>
            </a:r>
            <a:r>
              <a:rPr lang="en-US" altLang="zh-TW" dirty="0">
                <a:solidFill>
                  <a:schemeClr val="bg1">
                    <a:lumMod val="75000"/>
                  </a:schemeClr>
                </a:solidFill>
              </a:rPr>
              <a:t>Research Methodology</a:t>
            </a:r>
          </a:p>
          <a:p>
            <a:r>
              <a:rPr lang="en-US" altLang="zh-TW" sz="2300" dirty="0">
                <a:solidFill>
                  <a:schemeClr val="tx1">
                    <a:lumMod val="65000"/>
                    <a:lumOff val="35000"/>
                  </a:schemeClr>
                </a:solidFill>
              </a:rPr>
              <a:t>3.</a:t>
            </a:r>
            <a:r>
              <a:rPr lang="zh-TW" altLang="en-US" sz="2300" dirty="0">
                <a:solidFill>
                  <a:schemeClr val="tx1">
                    <a:lumMod val="65000"/>
                    <a:lumOff val="35000"/>
                  </a:schemeClr>
                </a:solidFill>
              </a:rPr>
              <a:t> </a:t>
            </a:r>
            <a:r>
              <a:rPr lang="en-US" altLang="zh-TW" sz="2300" dirty="0">
                <a:solidFill>
                  <a:schemeClr val="tx1">
                    <a:lumMod val="65000"/>
                    <a:lumOff val="35000"/>
                  </a:schemeClr>
                </a:solidFill>
              </a:rPr>
              <a:t>Project Resource</a:t>
            </a:r>
          </a:p>
          <a:p>
            <a:r>
              <a:rPr lang="en-US" altLang="zh-TW" sz="2300" dirty="0">
                <a:solidFill>
                  <a:schemeClr val="bg1">
                    <a:lumMod val="75000"/>
                  </a:schemeClr>
                </a:solidFill>
              </a:rPr>
              <a:t>4.</a:t>
            </a:r>
            <a:r>
              <a:rPr lang="zh-TW" altLang="en-US" sz="2300" dirty="0">
                <a:solidFill>
                  <a:schemeClr val="bg1">
                    <a:lumMod val="75000"/>
                  </a:schemeClr>
                </a:solidFill>
              </a:rPr>
              <a:t> </a:t>
            </a:r>
            <a:r>
              <a:rPr lang="en-US" altLang="zh-TW" sz="2000" dirty="0">
                <a:solidFill>
                  <a:schemeClr val="bg1">
                    <a:lumMod val="75000"/>
                  </a:schemeClr>
                </a:solidFill>
              </a:rPr>
              <a:t>Project</a:t>
            </a:r>
            <a:r>
              <a:rPr lang="zh-TW" altLang="en-US" sz="2000" dirty="0">
                <a:solidFill>
                  <a:schemeClr val="bg1">
                    <a:lumMod val="75000"/>
                  </a:schemeClr>
                </a:solidFill>
              </a:rPr>
              <a:t> </a:t>
            </a:r>
            <a:r>
              <a:rPr lang="en-US" altLang="zh-TW" sz="2000" dirty="0">
                <a:solidFill>
                  <a:schemeClr val="bg1">
                    <a:lumMod val="75000"/>
                  </a:schemeClr>
                </a:solidFill>
              </a:rPr>
              <a:t>Timeline</a:t>
            </a:r>
            <a:endParaRPr lang="zh-TW" altLang="en-US" sz="2000" dirty="0">
              <a:solidFill>
                <a:schemeClr val="bg1">
                  <a:lumMod val="75000"/>
                </a:schemeClr>
              </a:solidFill>
            </a:endParaRPr>
          </a:p>
          <a:p>
            <a:endParaRPr lang="zh-TW" altLang="en-US" sz="2300" dirty="0"/>
          </a:p>
          <a:p>
            <a:endParaRPr lang="zh-TW" altLang="en-US" dirty="0"/>
          </a:p>
        </p:txBody>
      </p:sp>
    </p:spTree>
    <p:extLst>
      <p:ext uri="{BB962C8B-B14F-4D97-AF65-F5344CB8AC3E}">
        <p14:creationId xmlns:p14="http://schemas.microsoft.com/office/powerpoint/2010/main" val="1226028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BF184-0549-509F-81A0-5AB494822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8D2F0-987E-F2C7-CC98-0D2E5B8AD0E8}"/>
              </a:ext>
            </a:extLst>
          </p:cNvPr>
          <p:cNvSpPr>
            <a:spLocks noGrp="1"/>
          </p:cNvSpPr>
          <p:nvPr>
            <p:ph type="title"/>
          </p:nvPr>
        </p:nvSpPr>
        <p:spPr/>
        <p:txBody>
          <a:bodyPr/>
          <a:lstStyle/>
          <a:p>
            <a:r>
              <a:rPr lang="en-US" dirty="0"/>
              <a:t>Project Resource</a:t>
            </a:r>
          </a:p>
        </p:txBody>
      </p:sp>
      <p:sp>
        <p:nvSpPr>
          <p:cNvPr id="3" name="Content Placeholder 2">
            <a:extLst>
              <a:ext uri="{FF2B5EF4-FFF2-40B4-BE49-F238E27FC236}">
                <a16:creationId xmlns:a16="http://schemas.microsoft.com/office/drawing/2014/main" id="{B12EB161-2DC2-B739-45B3-99C0263DEA0E}"/>
              </a:ext>
            </a:extLst>
          </p:cNvPr>
          <p:cNvSpPr>
            <a:spLocks noGrp="1"/>
          </p:cNvSpPr>
          <p:nvPr>
            <p:ph idx="1"/>
          </p:nvPr>
        </p:nvSpPr>
        <p:spPr/>
        <p:txBody>
          <a:bodyPr/>
          <a:lstStyle/>
          <a:p>
            <a:pPr marL="457200" indent="-457200">
              <a:buFont typeface="+mj-lt"/>
              <a:buAutoNum type="arabicPeriod"/>
            </a:pPr>
            <a:r>
              <a:rPr lang="en-US" dirty="0"/>
              <a:t>Hardware: NIR cameras, edge device, and a pulse oximeter for ground truth data.</a:t>
            </a:r>
          </a:p>
          <a:p>
            <a:pPr marL="457200" indent="-457200">
              <a:buFont typeface="+mj-lt"/>
              <a:buAutoNum type="arabicPeriod"/>
            </a:pPr>
            <a:r>
              <a:rPr lang="en-US" dirty="0"/>
              <a:t>Software: Machine learning algorithms, with a focus on </a:t>
            </a:r>
            <a:r>
              <a:rPr lang="en-US" dirty="0" err="1"/>
              <a:t>rPPG</a:t>
            </a:r>
            <a:r>
              <a:rPr lang="en-US" dirty="0"/>
              <a:t>, MTCNN(Multi-task Cascaded convolutional neural </a:t>
            </a:r>
            <a:r>
              <a:rPr lang="en-US" dirty="0" err="1"/>
              <a:t>netowrk</a:t>
            </a:r>
            <a:r>
              <a:rPr lang="en-US" dirty="0"/>
              <a:t>), </a:t>
            </a:r>
            <a:r>
              <a:rPr lang="en-US" dirty="0" err="1"/>
              <a:t>BiLSTM</a:t>
            </a:r>
            <a:r>
              <a:rPr lang="en-US" dirty="0"/>
              <a:t>, and NN</a:t>
            </a:r>
          </a:p>
          <a:p>
            <a:pPr marL="457200" indent="-457200">
              <a:buFont typeface="+mj-lt"/>
              <a:buAutoNum type="arabicPeriod"/>
            </a:pPr>
            <a:r>
              <a:rPr lang="en-US" dirty="0"/>
              <a:t>Data Points: The system will monitor heart rate, oxygen saturation, respiration rate, blood pressure, and facial expressions(eye closure percentage).</a:t>
            </a:r>
          </a:p>
        </p:txBody>
      </p:sp>
    </p:spTree>
    <p:extLst>
      <p:ext uri="{BB962C8B-B14F-4D97-AF65-F5344CB8AC3E}">
        <p14:creationId xmlns:p14="http://schemas.microsoft.com/office/powerpoint/2010/main" val="2825258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14726-6206-7C53-5856-B7F9B51293A1}"/>
              </a:ext>
            </a:extLst>
          </p:cNvPr>
          <p:cNvSpPr>
            <a:spLocks noGrp="1"/>
          </p:cNvSpPr>
          <p:nvPr>
            <p:ph type="title"/>
          </p:nvPr>
        </p:nvSpPr>
        <p:spPr/>
        <p:txBody>
          <a:bodyPr/>
          <a:lstStyle/>
          <a:p>
            <a:r>
              <a:rPr lang="en-US" dirty="0"/>
              <a:t>Project Resource</a:t>
            </a:r>
          </a:p>
        </p:txBody>
      </p:sp>
      <p:sp>
        <p:nvSpPr>
          <p:cNvPr id="3" name="Content Placeholder 2">
            <a:extLst>
              <a:ext uri="{FF2B5EF4-FFF2-40B4-BE49-F238E27FC236}">
                <a16:creationId xmlns:a16="http://schemas.microsoft.com/office/drawing/2014/main" id="{9E333E57-A6FF-AF33-AB25-FC17D327A6E3}"/>
              </a:ext>
            </a:extLst>
          </p:cNvPr>
          <p:cNvSpPr>
            <a:spLocks noGrp="1"/>
          </p:cNvSpPr>
          <p:nvPr>
            <p:ph idx="1"/>
          </p:nvPr>
        </p:nvSpPr>
        <p:spPr/>
        <p:txBody>
          <a:bodyPr/>
          <a:lstStyle/>
          <a:p>
            <a:r>
              <a:rPr lang="en-US" dirty="0"/>
              <a:t>This project has several resources that </a:t>
            </a:r>
            <a:r>
              <a:rPr lang="en-US" b="1" dirty="0"/>
              <a:t>requests support from partner project </a:t>
            </a:r>
            <a:r>
              <a:rPr lang="en-US" dirty="0"/>
              <a:t>to develop as follows:</a:t>
            </a:r>
          </a:p>
          <a:p>
            <a:pPr marL="457200" indent="-457200">
              <a:buFont typeface="+mj-lt"/>
              <a:buAutoNum type="arabicPeriod"/>
            </a:pPr>
            <a:r>
              <a:rPr lang="en-US" dirty="0"/>
              <a:t>Datasets</a:t>
            </a:r>
          </a:p>
          <a:p>
            <a:pPr marL="457200" indent="-457200">
              <a:buFont typeface="+mj-lt"/>
              <a:buAutoNum type="arabicPeriod"/>
            </a:pPr>
            <a:r>
              <a:rPr lang="en-US" dirty="0"/>
              <a:t>Camera Device</a:t>
            </a:r>
          </a:p>
          <a:p>
            <a:pPr marL="457200" indent="-457200">
              <a:buFont typeface="+mj-lt"/>
              <a:buAutoNum type="arabicPeriod"/>
            </a:pPr>
            <a:r>
              <a:rPr lang="en-US" dirty="0"/>
              <a:t>Edge computing device </a:t>
            </a:r>
          </a:p>
        </p:txBody>
      </p:sp>
    </p:spTree>
    <p:extLst>
      <p:ext uri="{BB962C8B-B14F-4D97-AF65-F5344CB8AC3E}">
        <p14:creationId xmlns:p14="http://schemas.microsoft.com/office/powerpoint/2010/main" val="917375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5D06FC-826A-66F2-F0A3-9E8BEB8D1273}"/>
              </a:ext>
            </a:extLst>
          </p:cNvPr>
          <p:cNvSpPr>
            <a:spLocks noGrp="1"/>
          </p:cNvSpPr>
          <p:nvPr>
            <p:ph type="title"/>
          </p:nvPr>
        </p:nvSpPr>
        <p:spPr>
          <a:xfrm>
            <a:off x="6411685" y="634946"/>
            <a:ext cx="5127171" cy="1450757"/>
          </a:xfrm>
        </p:spPr>
        <p:txBody>
          <a:bodyPr>
            <a:normAutofit/>
          </a:bodyPr>
          <a:lstStyle/>
          <a:p>
            <a:r>
              <a:rPr lang="en-US" dirty="0"/>
              <a:t>Datasets</a:t>
            </a:r>
          </a:p>
        </p:txBody>
      </p:sp>
      <p:pic>
        <p:nvPicPr>
          <p:cNvPr id="1026" name="Picture 2" descr="Vicomtech develops the Driver Monitoring Dataset (DMD), an open-source driver monitoring system now available for academic and scientific use.">
            <a:extLst>
              <a:ext uri="{FF2B5EF4-FFF2-40B4-BE49-F238E27FC236}">
                <a16:creationId xmlns:a16="http://schemas.microsoft.com/office/drawing/2014/main" id="{63DB8EA1-487B-8018-6C2F-E1F267713EB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3144" y="1609520"/>
            <a:ext cx="5451627" cy="3638960"/>
          </a:xfrm>
          <a:prstGeom prst="rect">
            <a:avLst/>
          </a:prstGeom>
          <a:noFill/>
          <a:extLst>
            <a:ext uri="{909E8E84-426E-40DD-AFC4-6F175D3DCCD1}">
              <a14:hiddenFill xmlns:a14="http://schemas.microsoft.com/office/drawing/2010/main">
                <a:solidFill>
                  <a:srgbClr val="FFFFFF"/>
                </a:solidFill>
              </a14:hiddenFill>
            </a:ext>
          </a:extLst>
        </p:spPr>
      </p:pic>
      <p:cxnSp>
        <p:nvCxnSpPr>
          <p:cNvPr id="1033" name="Straight Connector 1032">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1614C04-68D5-C976-6B9D-4B3B5CC79F56}"/>
              </a:ext>
            </a:extLst>
          </p:cNvPr>
          <p:cNvSpPr>
            <a:spLocks noGrp="1"/>
          </p:cNvSpPr>
          <p:nvPr>
            <p:ph idx="1"/>
          </p:nvPr>
        </p:nvSpPr>
        <p:spPr>
          <a:xfrm>
            <a:off x="6411684" y="2198914"/>
            <a:ext cx="5127172" cy="3670180"/>
          </a:xfrm>
        </p:spPr>
        <p:txBody>
          <a:bodyPr>
            <a:normAutofit fontScale="92500" lnSpcReduction="10000"/>
          </a:bodyPr>
          <a:lstStyle/>
          <a:p>
            <a:pPr marL="457200" indent="-457200">
              <a:buFont typeface="+mj-lt"/>
              <a:buAutoNum type="arabicPeriod"/>
            </a:pPr>
            <a:r>
              <a:rPr lang="en-US" dirty="0"/>
              <a:t>We will be using </a:t>
            </a:r>
            <a:r>
              <a:rPr lang="en-US" dirty="0" err="1"/>
              <a:t>Vicomtech</a:t>
            </a:r>
            <a:r>
              <a:rPr lang="en-US" dirty="0"/>
              <a:t> Driver Monitoring Dataset(DMD). It is an opensource driver monitoring data.</a:t>
            </a:r>
          </a:p>
          <a:p>
            <a:pPr marL="457200" indent="-457200">
              <a:buFont typeface="+mj-lt"/>
              <a:buAutoNum type="arabicPeriod"/>
            </a:pPr>
            <a:r>
              <a:rPr lang="en-US" dirty="0"/>
              <a:t>There is about 25TB of raw data.</a:t>
            </a:r>
          </a:p>
          <a:p>
            <a:pPr marL="457200" indent="-457200">
              <a:buFont typeface="+mj-lt"/>
              <a:buAutoNum type="arabicPeriod"/>
            </a:pPr>
            <a:r>
              <a:rPr lang="en-US" dirty="0"/>
              <a:t>All recordings were grouped by sessions, each one determined by a protocol of activities, a participant, an environment and a lighting condition.</a:t>
            </a:r>
          </a:p>
          <a:p>
            <a:pPr marL="457200" indent="-457200">
              <a:buFont typeface="+mj-lt"/>
              <a:buAutoNum type="arabicPeriod"/>
            </a:pPr>
            <a:r>
              <a:rPr lang="en-US" dirty="0"/>
              <a:t>In each session Body, Face and Hands camera(with RBG, Infrared and Depth)</a:t>
            </a:r>
          </a:p>
          <a:p>
            <a:pPr>
              <a:buFont typeface="Wingdings" panose="05000000000000000000" pitchFamily="2" charset="2"/>
              <a:buChar char="§"/>
            </a:pPr>
            <a:r>
              <a:rPr lang="en-US" dirty="0"/>
              <a:t>If the company can provide any data which is desired to test on, we can accommodate.</a:t>
            </a:r>
          </a:p>
          <a:p>
            <a:pPr marL="457200" indent="-457200">
              <a:buFont typeface="+mj-lt"/>
              <a:buAutoNum type="arabicPeriod"/>
            </a:pPr>
            <a:endParaRPr lang="en-US" dirty="0"/>
          </a:p>
          <a:p>
            <a:pPr marL="457200" indent="-457200">
              <a:buFont typeface="+mj-lt"/>
              <a:buAutoNum type="arabicPeriod"/>
            </a:pPr>
            <a:endParaRPr lang="en-US" dirty="0"/>
          </a:p>
        </p:txBody>
      </p:sp>
      <p:sp>
        <p:nvSpPr>
          <p:cNvPr id="1035" name="Rectangle 1034">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7" name="Rectangle 1036">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32206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9E06C-B590-2DC7-9C09-17F657130B1C}"/>
              </a:ext>
            </a:extLst>
          </p:cNvPr>
          <p:cNvSpPr>
            <a:spLocks noGrp="1"/>
          </p:cNvSpPr>
          <p:nvPr>
            <p:ph type="title"/>
          </p:nvPr>
        </p:nvSpPr>
        <p:spPr>
          <a:xfrm>
            <a:off x="6179296" y="621837"/>
            <a:ext cx="5127171" cy="1450757"/>
          </a:xfrm>
        </p:spPr>
        <p:txBody>
          <a:bodyPr>
            <a:normAutofit/>
          </a:bodyPr>
          <a:lstStyle/>
          <a:p>
            <a:r>
              <a:rPr lang="en-US" altLang="zh-TW" dirty="0"/>
              <a:t>Camera</a:t>
            </a:r>
            <a:endParaRPr lang="en-US" dirty="0"/>
          </a:p>
        </p:txBody>
      </p:sp>
      <p:pic>
        <p:nvPicPr>
          <p:cNvPr id="5" name="Content Placeholder 4">
            <a:extLst>
              <a:ext uri="{FF2B5EF4-FFF2-40B4-BE49-F238E27FC236}">
                <a16:creationId xmlns:a16="http://schemas.microsoft.com/office/drawing/2014/main" id="{EA39DF76-C671-E57E-6FF6-5628F44A1C0D}"/>
              </a:ext>
            </a:extLst>
          </p:cNvPr>
          <p:cNvPicPr>
            <a:picLocks noChangeAspect="1"/>
          </p:cNvPicPr>
          <p:nvPr/>
        </p:nvPicPr>
        <p:blipFill>
          <a:blip r:embed="rId2"/>
          <a:stretch>
            <a:fillRect/>
          </a:stretch>
        </p:blipFill>
        <p:spPr>
          <a:xfrm>
            <a:off x="725304" y="645106"/>
            <a:ext cx="5287402" cy="5247747"/>
          </a:xfrm>
          <a:prstGeom prst="rect">
            <a:avLst/>
          </a:prstGeom>
        </p:spPr>
      </p:pic>
      <p:cxnSp>
        <p:nvCxnSpPr>
          <p:cNvPr id="14" name="Straight Connector 13">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70A2D3C4-CAA7-8A97-F67E-1BDA945BFFEA}"/>
              </a:ext>
            </a:extLst>
          </p:cNvPr>
          <p:cNvSpPr>
            <a:spLocks noGrp="1"/>
          </p:cNvSpPr>
          <p:nvPr>
            <p:ph idx="1"/>
          </p:nvPr>
        </p:nvSpPr>
        <p:spPr>
          <a:xfrm>
            <a:off x="6096000" y="2139078"/>
            <a:ext cx="6179279" cy="3670180"/>
          </a:xfrm>
        </p:spPr>
        <p:txBody>
          <a:bodyPr>
            <a:normAutofit/>
          </a:bodyPr>
          <a:lstStyle/>
          <a:p>
            <a:pPr marL="457200" indent="-457200">
              <a:buFont typeface="+mj-lt"/>
              <a:buAutoNum type="arabicPeriod"/>
            </a:pPr>
            <a:r>
              <a:rPr lang="en-US" dirty="0"/>
              <a:t>For RPPG research, normally the spec for the camera are relatively high.</a:t>
            </a:r>
          </a:p>
          <a:p>
            <a:pPr marL="749808" lvl="1" indent="-457200">
              <a:buFont typeface="+mj-lt"/>
              <a:buAutoNum type="arabicPeriod"/>
            </a:pPr>
            <a:r>
              <a:rPr lang="en-US" dirty="0"/>
              <a:t>5M pixels</a:t>
            </a:r>
          </a:p>
          <a:p>
            <a:pPr marL="749808" lvl="1" indent="-457200">
              <a:buFont typeface="+mj-lt"/>
              <a:buAutoNum type="arabicPeriod"/>
            </a:pPr>
            <a:r>
              <a:rPr lang="en-US" dirty="0" err="1"/>
              <a:t>Hybird</a:t>
            </a:r>
            <a:r>
              <a:rPr lang="en-US" dirty="0"/>
              <a:t> NIR and RGB</a:t>
            </a:r>
          </a:p>
          <a:p>
            <a:pPr marL="457200" indent="-457200">
              <a:buFont typeface="+mj-lt"/>
              <a:buAutoNum type="arabicPeriod"/>
            </a:pPr>
            <a:r>
              <a:rPr lang="en-US" dirty="0"/>
              <a:t>But our goal is edge device implementation.</a:t>
            </a:r>
          </a:p>
          <a:p>
            <a:pPr marL="749808" lvl="1" indent="-457200">
              <a:buFont typeface="+mj-lt"/>
              <a:buAutoNum type="arabicPeriod"/>
            </a:pPr>
            <a:r>
              <a:rPr lang="en-US" dirty="0"/>
              <a:t>Aim to turn into a product</a:t>
            </a:r>
          </a:p>
          <a:p>
            <a:pPr marL="749808" lvl="1" indent="-457200">
              <a:buFont typeface="+mj-lt"/>
              <a:buAutoNum type="arabicPeriod"/>
            </a:pPr>
            <a:r>
              <a:rPr lang="en-US" dirty="0"/>
              <a:t>How much can we sacrifice for the cost?</a:t>
            </a:r>
          </a:p>
          <a:p>
            <a:pPr marL="749808" lvl="1" indent="-457200">
              <a:buFont typeface="+mj-lt"/>
              <a:buAutoNum type="arabicPeriod"/>
            </a:pPr>
            <a:endParaRPr lang="en-US" dirty="0"/>
          </a:p>
        </p:txBody>
      </p:sp>
      <p:sp>
        <p:nvSpPr>
          <p:cNvPr id="16" name="Rectangle 15">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TextBox 5">
            <a:extLst>
              <a:ext uri="{FF2B5EF4-FFF2-40B4-BE49-F238E27FC236}">
                <a16:creationId xmlns:a16="http://schemas.microsoft.com/office/drawing/2014/main" id="{A0A14249-9F57-1EA2-466D-B7454542642A}"/>
              </a:ext>
            </a:extLst>
          </p:cNvPr>
          <p:cNvSpPr txBox="1"/>
          <p:nvPr/>
        </p:nvSpPr>
        <p:spPr>
          <a:xfrm>
            <a:off x="1558253" y="5867785"/>
            <a:ext cx="3621504" cy="369332"/>
          </a:xfrm>
          <a:prstGeom prst="rect">
            <a:avLst/>
          </a:prstGeom>
          <a:noFill/>
        </p:spPr>
        <p:txBody>
          <a:bodyPr wrap="none" rtlCol="0">
            <a:spAutoFit/>
          </a:bodyPr>
          <a:lstStyle/>
          <a:p>
            <a:r>
              <a:rPr lang="en-US" dirty="0">
                <a:hlinkClick r:id="rId3"/>
              </a:rPr>
              <a:t>Product Page Link</a:t>
            </a:r>
            <a:r>
              <a:rPr lang="en-US" dirty="0"/>
              <a:t> for the camera</a:t>
            </a:r>
          </a:p>
        </p:txBody>
      </p:sp>
      <p:pic>
        <p:nvPicPr>
          <p:cNvPr id="15" name="Picture 14">
            <a:extLst>
              <a:ext uri="{FF2B5EF4-FFF2-40B4-BE49-F238E27FC236}">
                <a16:creationId xmlns:a16="http://schemas.microsoft.com/office/drawing/2014/main" id="{B4EAF947-5ABC-DFD2-50BE-0D79968F7492}"/>
              </a:ext>
            </a:extLst>
          </p:cNvPr>
          <p:cNvPicPr>
            <a:picLocks noChangeAspect="1"/>
          </p:cNvPicPr>
          <p:nvPr/>
        </p:nvPicPr>
        <p:blipFill>
          <a:blip r:embed="rId4"/>
          <a:stretch>
            <a:fillRect/>
          </a:stretch>
        </p:blipFill>
        <p:spPr>
          <a:xfrm>
            <a:off x="9507015" y="4446337"/>
            <a:ext cx="2684985" cy="2411663"/>
          </a:xfrm>
          <a:prstGeom prst="rect">
            <a:avLst/>
          </a:prstGeom>
        </p:spPr>
      </p:pic>
    </p:spTree>
    <p:extLst>
      <p:ext uri="{BB962C8B-B14F-4D97-AF65-F5344CB8AC3E}">
        <p14:creationId xmlns:p14="http://schemas.microsoft.com/office/powerpoint/2010/main" val="760584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0DC2-F235-3459-F21A-C03DBEA575EA}"/>
              </a:ext>
            </a:extLst>
          </p:cNvPr>
          <p:cNvSpPr>
            <a:spLocks noGrp="1"/>
          </p:cNvSpPr>
          <p:nvPr>
            <p:ph type="title"/>
          </p:nvPr>
        </p:nvSpPr>
        <p:spPr/>
        <p:txBody>
          <a:bodyPr/>
          <a:lstStyle/>
          <a:p>
            <a:r>
              <a:rPr lang="en-US" altLang="zh-TW" dirty="0"/>
              <a:t>Camera</a:t>
            </a:r>
            <a:endParaRPr lang="en-US" dirty="0"/>
          </a:p>
        </p:txBody>
      </p:sp>
      <p:sp>
        <p:nvSpPr>
          <p:cNvPr id="3" name="Content Placeholder 2">
            <a:extLst>
              <a:ext uri="{FF2B5EF4-FFF2-40B4-BE49-F238E27FC236}">
                <a16:creationId xmlns:a16="http://schemas.microsoft.com/office/drawing/2014/main" id="{3DE87E43-1522-9ED2-CB51-615BE1F6E2C0}"/>
              </a:ext>
            </a:extLst>
          </p:cNvPr>
          <p:cNvSpPr>
            <a:spLocks noGrp="1"/>
          </p:cNvSpPr>
          <p:nvPr>
            <p:ph idx="1"/>
          </p:nvPr>
        </p:nvSpPr>
        <p:spPr/>
        <p:txBody>
          <a:bodyPr/>
          <a:lstStyle/>
          <a:p>
            <a:pPr marL="457200" indent="-457200">
              <a:buFont typeface="+mj-lt"/>
              <a:buAutoNum type="arabicPeriod"/>
            </a:pPr>
            <a:r>
              <a:rPr lang="en-US" sz="2800" dirty="0"/>
              <a:t>Why NIR not RGB?</a:t>
            </a:r>
          </a:p>
          <a:p>
            <a:pPr marL="749808" lvl="1" indent="-457200">
              <a:buFont typeface="+mj-lt"/>
              <a:buAutoNum type="arabicPeriod"/>
            </a:pPr>
            <a:r>
              <a:rPr lang="en-US" sz="2400" dirty="0"/>
              <a:t>NIR according to Kong, is more robust to the detect </a:t>
            </a:r>
            <a:r>
              <a:rPr lang="en-US" sz="2400" dirty="0" err="1"/>
              <a:t>rppg</a:t>
            </a:r>
            <a:r>
              <a:rPr lang="en-US" sz="2400" dirty="0"/>
              <a:t> signals.</a:t>
            </a:r>
          </a:p>
          <a:p>
            <a:pPr marL="457200" indent="-457200">
              <a:buFont typeface="+mj-lt"/>
              <a:buAutoNum type="arabicPeriod"/>
            </a:pPr>
            <a:r>
              <a:rPr lang="en-US" sz="2800" dirty="0"/>
              <a:t>The camera must include NIR functions. It can be hybrid. </a:t>
            </a:r>
          </a:p>
          <a:p>
            <a:pPr marL="749808" lvl="1" indent="-457200">
              <a:buFont typeface="+mj-lt"/>
              <a:buAutoNum type="arabicPeriod"/>
            </a:pPr>
            <a:r>
              <a:rPr lang="en-US" altLang="zh-TW" sz="2400" dirty="0"/>
              <a:t>NIR</a:t>
            </a:r>
            <a:r>
              <a:rPr lang="zh-TW" altLang="en-US" sz="2400" dirty="0"/>
              <a:t> </a:t>
            </a:r>
            <a:r>
              <a:rPr lang="en-US" altLang="zh-TW" sz="2400" dirty="0"/>
              <a:t>only</a:t>
            </a:r>
            <a:r>
              <a:rPr lang="zh-TW" altLang="en-US" sz="2400" dirty="0"/>
              <a:t> </a:t>
            </a:r>
            <a:r>
              <a:rPr lang="en-US" altLang="zh-TW" sz="2400" dirty="0"/>
              <a:t>camera can be cheaper. (NIR waveform range: </a:t>
            </a:r>
            <a:r>
              <a:rPr lang="en-US" sz="2400" dirty="0"/>
              <a:t>700 to 1,000 nm)</a:t>
            </a:r>
          </a:p>
          <a:p>
            <a:pPr marL="932688" lvl="2" indent="-457200">
              <a:buFont typeface="+mj-lt"/>
              <a:buAutoNum type="alphaLcParenR"/>
            </a:pPr>
            <a:r>
              <a:rPr lang="en-US" altLang="zh-TW" sz="1800" dirty="0"/>
              <a:t>We have experience on using 850nm and 940nm NIR camera.</a:t>
            </a:r>
          </a:p>
          <a:p>
            <a:pPr marL="932688" lvl="2" indent="-457200">
              <a:buFont typeface="+mj-lt"/>
              <a:buAutoNum type="alphaLcParenR"/>
            </a:pPr>
            <a:r>
              <a:rPr lang="en-US" altLang="zh-TW" sz="1800" dirty="0"/>
              <a:t>850nm captured video will turn a little purple (optimal range: &lt;5m)</a:t>
            </a:r>
          </a:p>
          <a:p>
            <a:pPr marL="932688" lvl="2" indent="-457200">
              <a:buFont typeface="+mj-lt"/>
              <a:buAutoNum type="alphaLcParenR"/>
            </a:pPr>
            <a:r>
              <a:rPr lang="en-US" altLang="zh-TW" sz="1800" dirty="0"/>
              <a:t>940nm has better result in nighttime (optimal range: &lt;3m)</a:t>
            </a:r>
          </a:p>
          <a:p>
            <a:pPr marL="749808" lvl="1" indent="-457200">
              <a:buFont typeface="+mj-lt"/>
              <a:buAutoNum type="arabicPeriod"/>
            </a:pPr>
            <a:r>
              <a:rPr lang="en-US" sz="2400" dirty="0"/>
              <a:t>Hybrid camera (NIR+RGB) are generally more expensive.</a:t>
            </a:r>
          </a:p>
          <a:p>
            <a:endParaRPr lang="en-US" dirty="0"/>
          </a:p>
        </p:txBody>
      </p:sp>
      <p:sp>
        <p:nvSpPr>
          <p:cNvPr id="4" name="TextBox 3">
            <a:extLst>
              <a:ext uri="{FF2B5EF4-FFF2-40B4-BE49-F238E27FC236}">
                <a16:creationId xmlns:a16="http://schemas.microsoft.com/office/drawing/2014/main" id="{7C7210BB-497F-35D2-3E1F-D01E347EB16D}"/>
              </a:ext>
            </a:extLst>
          </p:cNvPr>
          <p:cNvSpPr txBox="1"/>
          <p:nvPr/>
        </p:nvSpPr>
        <p:spPr>
          <a:xfrm>
            <a:off x="28926" y="5869094"/>
            <a:ext cx="12195108" cy="461665"/>
          </a:xfrm>
          <a:prstGeom prst="rect">
            <a:avLst/>
          </a:prstGeom>
          <a:noFill/>
        </p:spPr>
        <p:txBody>
          <a:bodyPr wrap="square" rtlCol="0">
            <a:spAutoFit/>
          </a:bodyPr>
          <a:lstStyle/>
          <a:p>
            <a:r>
              <a:rPr lang="en-US" sz="1200" dirty="0"/>
              <a:t>Source: </a:t>
            </a:r>
            <a:r>
              <a:rPr lang="en-US" sz="1200" dirty="0">
                <a:hlinkClick r:id="rId2"/>
              </a:rPr>
              <a:t>Remote Kong, L., Xie, K., Niu, K., He, J., &amp; Zhang, W. (2024). Remote photoplethysmography and motion tracking convolutional neural network with bidirectional long short-term memory: Non-invasive fatigue detection method based on Multi-Modal Fusion. </a:t>
            </a:r>
            <a:r>
              <a:rPr lang="en-US" sz="1200" i="1" dirty="0">
                <a:hlinkClick r:id="rId2"/>
              </a:rPr>
              <a:t>Sensors</a:t>
            </a:r>
            <a:r>
              <a:rPr lang="en-US" sz="1200" dirty="0">
                <a:hlinkClick r:id="rId2"/>
              </a:rPr>
              <a:t>, </a:t>
            </a:r>
            <a:r>
              <a:rPr lang="en-US" sz="1200" i="1" dirty="0">
                <a:hlinkClick r:id="rId2"/>
              </a:rPr>
              <a:t>24</a:t>
            </a:r>
            <a:r>
              <a:rPr lang="en-US" sz="1200" dirty="0">
                <a:hlinkClick r:id="rId2"/>
              </a:rPr>
              <a:t>(2), 455. https://doi.org/10.3390/s24020455 </a:t>
            </a:r>
            <a:endParaRPr lang="en-US" sz="1200" dirty="0">
              <a:effectLst/>
            </a:endParaRPr>
          </a:p>
        </p:txBody>
      </p:sp>
    </p:spTree>
    <p:extLst>
      <p:ext uri="{BB962C8B-B14F-4D97-AF65-F5344CB8AC3E}">
        <p14:creationId xmlns:p14="http://schemas.microsoft.com/office/powerpoint/2010/main" val="3389288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F7560-A020-90F3-35B2-F9613504B995}"/>
              </a:ext>
            </a:extLst>
          </p:cNvPr>
          <p:cNvSpPr>
            <a:spLocks noGrp="1"/>
          </p:cNvSpPr>
          <p:nvPr>
            <p:ph type="title"/>
          </p:nvPr>
        </p:nvSpPr>
        <p:spPr/>
        <p:txBody>
          <a:bodyPr/>
          <a:lstStyle/>
          <a:p>
            <a:r>
              <a:rPr lang="en-US" dirty="0"/>
              <a:t>Camera</a:t>
            </a:r>
          </a:p>
        </p:txBody>
      </p:sp>
      <p:sp>
        <p:nvSpPr>
          <p:cNvPr id="3" name="Content Placeholder 2">
            <a:extLst>
              <a:ext uri="{FF2B5EF4-FFF2-40B4-BE49-F238E27FC236}">
                <a16:creationId xmlns:a16="http://schemas.microsoft.com/office/drawing/2014/main" id="{176BFCD3-D26C-2DDF-3B81-00863449912E}"/>
              </a:ext>
            </a:extLst>
          </p:cNvPr>
          <p:cNvSpPr>
            <a:spLocks noGrp="1"/>
          </p:cNvSpPr>
          <p:nvPr>
            <p:ph idx="1"/>
          </p:nvPr>
        </p:nvSpPr>
        <p:spPr/>
        <p:txBody>
          <a:bodyPr>
            <a:normAutofit/>
          </a:bodyPr>
          <a:lstStyle/>
          <a:p>
            <a:pPr marL="457200" indent="-457200">
              <a:buFont typeface="+mj-lt"/>
              <a:buAutoNum type="arabicPeriod"/>
            </a:pPr>
            <a:r>
              <a:rPr lang="en-US" dirty="0"/>
              <a:t>3M pixel is recommended for higher quality video capture (for 1920 x 1080 high resolution). 1M is the bare requirement (for </a:t>
            </a:r>
            <a:r>
              <a:rPr lang="en-US" b="1" dirty="0"/>
              <a:t>1200 × 650  resolution</a:t>
            </a:r>
            <a:r>
              <a:rPr lang="en-US" dirty="0"/>
              <a:t>).</a:t>
            </a:r>
          </a:p>
          <a:p>
            <a:pPr marL="749808" lvl="1" indent="-457200">
              <a:buFont typeface="+mj-lt"/>
              <a:buAutoNum type="arabicPeriod"/>
            </a:pPr>
            <a:r>
              <a:rPr lang="en-US" dirty="0"/>
              <a:t>The higher resolution  the higher the accuracy the result will be.</a:t>
            </a:r>
          </a:p>
          <a:p>
            <a:pPr marL="749808" lvl="1" indent="-457200">
              <a:buFont typeface="+mj-lt"/>
              <a:buAutoNum type="arabicPeriod"/>
            </a:pPr>
            <a:r>
              <a:rPr lang="en-US" dirty="0"/>
              <a:t>Are we willing to sacrifice a little bit off accuracy for higher performance and reduce cost? </a:t>
            </a:r>
          </a:p>
          <a:p>
            <a:pPr marL="457200" indent="-457200">
              <a:buFont typeface="+mj-lt"/>
              <a:buAutoNum type="arabicPeriod"/>
            </a:pPr>
            <a:r>
              <a:rPr lang="en-US" dirty="0"/>
              <a:t>A refresh rate of 30 Hz is our best choice. The most common refresh rate for </a:t>
            </a:r>
            <a:r>
              <a:rPr lang="en-US" dirty="0" err="1"/>
              <a:t>rppg</a:t>
            </a:r>
            <a:r>
              <a:rPr lang="en-US" dirty="0"/>
              <a:t> detection.</a:t>
            </a:r>
          </a:p>
          <a:p>
            <a:pPr marL="457200" indent="-457200">
              <a:buFont typeface="+mj-lt"/>
              <a:buAutoNum type="arabicPeriod"/>
            </a:pPr>
            <a:r>
              <a:rPr lang="en-US" dirty="0"/>
              <a:t>Higher refresh rates, such as 60 Hz or 120 Hz, can improve the signal quality and provide more data for advanced analysis, which requires capturing subtle beat-to-beat changes. However, these higher rates also increase the computational load and file sizes</a:t>
            </a:r>
          </a:p>
          <a:p>
            <a:pPr marL="457200" indent="-457200">
              <a:buFont typeface="+mj-lt"/>
              <a:buAutoNum type="arabicPeriod"/>
            </a:pPr>
            <a:r>
              <a:rPr lang="en-US" dirty="0"/>
              <a:t>Wondering if the company have any suggestion on the camera?</a:t>
            </a:r>
          </a:p>
          <a:p>
            <a:pPr marL="457200" indent="-457200">
              <a:buFont typeface="+mj-lt"/>
              <a:buAutoNum type="arabicPeriod"/>
            </a:pPr>
            <a:endParaRPr lang="en-US" dirty="0"/>
          </a:p>
        </p:txBody>
      </p:sp>
    </p:spTree>
    <p:extLst>
      <p:ext uri="{BB962C8B-B14F-4D97-AF65-F5344CB8AC3E}">
        <p14:creationId xmlns:p14="http://schemas.microsoft.com/office/powerpoint/2010/main" val="716232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58F6A-221D-1C30-D03E-817301E9D231}"/>
              </a:ext>
            </a:extLst>
          </p:cNvPr>
          <p:cNvSpPr>
            <a:spLocks noGrp="1"/>
          </p:cNvSpPr>
          <p:nvPr>
            <p:ph type="title"/>
          </p:nvPr>
        </p:nvSpPr>
        <p:spPr/>
        <p:txBody>
          <a:bodyPr/>
          <a:lstStyle/>
          <a:p>
            <a:r>
              <a:rPr lang="en-US" dirty="0"/>
              <a:t>Edge computing device</a:t>
            </a:r>
          </a:p>
        </p:txBody>
      </p:sp>
      <p:sp>
        <p:nvSpPr>
          <p:cNvPr id="3" name="Content Placeholder 2">
            <a:extLst>
              <a:ext uri="{FF2B5EF4-FFF2-40B4-BE49-F238E27FC236}">
                <a16:creationId xmlns:a16="http://schemas.microsoft.com/office/drawing/2014/main" id="{B8925B15-6F19-1FC0-F3A4-D8BCA1A37D14}"/>
              </a:ext>
            </a:extLst>
          </p:cNvPr>
          <p:cNvSpPr>
            <a:spLocks noGrp="1"/>
          </p:cNvSpPr>
          <p:nvPr>
            <p:ph idx="1"/>
          </p:nvPr>
        </p:nvSpPr>
        <p:spPr>
          <a:xfrm>
            <a:off x="195943" y="1845734"/>
            <a:ext cx="10959737" cy="4023360"/>
          </a:xfrm>
        </p:spPr>
        <p:txBody>
          <a:bodyPr/>
          <a:lstStyle/>
          <a:p>
            <a:pPr marL="871400" lvl="5" indent="0">
              <a:buNone/>
            </a:pPr>
            <a:r>
              <a:rPr lang="en-US" sz="2400" b="1" dirty="0"/>
              <a:t>Options</a:t>
            </a:r>
          </a:p>
          <a:p>
            <a:pPr lvl="5"/>
            <a:r>
              <a:rPr lang="en-US" sz="2400" b="1" dirty="0">
                <a:hlinkClick r:id="rId2"/>
              </a:rPr>
              <a:t>Raspberry Pi 5 (8GB):</a:t>
            </a:r>
            <a:r>
              <a:rPr lang="en-US" sz="2400" dirty="0">
                <a:hlinkClick r:id="rId2"/>
              </a:rPr>
              <a:t> </a:t>
            </a:r>
            <a:r>
              <a:rPr lang="en-US" sz="2400" dirty="0"/>
              <a:t>( 3</a:t>
            </a:r>
            <a:r>
              <a:rPr lang="en-US" altLang="zh-TW" sz="2400" dirty="0"/>
              <a:t>8</a:t>
            </a:r>
            <a:r>
              <a:rPr lang="en-US" sz="2400" dirty="0"/>
              <a:t>00 NTD) These are general-purpose, single-board computers. The RPi 5 has a more powerful CPU but still lacks a dedicated, high-performance GPU for AI.</a:t>
            </a:r>
            <a:endParaRPr lang="en-US" sz="2000" dirty="0"/>
          </a:p>
          <a:p>
            <a:pPr lvl="5"/>
            <a:r>
              <a:rPr lang="en-US" sz="2400" b="1" dirty="0">
                <a:hlinkClick r:id="rId3"/>
              </a:rPr>
              <a:t>Jetson </a:t>
            </a:r>
            <a:r>
              <a:rPr lang="en-US" sz="2400" dirty="0">
                <a:hlinkClick r:id="rId3"/>
              </a:rPr>
              <a:t>Orin Nano</a:t>
            </a:r>
            <a:r>
              <a:rPr lang="zh-TW" altLang="en-US" sz="2400" dirty="0">
                <a:hlinkClick r:id="rId3"/>
              </a:rPr>
              <a:t> </a:t>
            </a:r>
            <a:r>
              <a:rPr lang="en-US" altLang="zh-TW" sz="2400" dirty="0">
                <a:hlinkClick r:id="rId3"/>
              </a:rPr>
              <a:t>Super</a:t>
            </a:r>
            <a:r>
              <a:rPr lang="en-US" sz="2400" dirty="0">
                <a:hlinkClick r:id="rId3"/>
              </a:rPr>
              <a:t> </a:t>
            </a:r>
            <a:r>
              <a:rPr lang="en-US" sz="2400" b="1" dirty="0">
                <a:hlinkClick r:id="rId3"/>
              </a:rPr>
              <a:t>Developer Kit</a:t>
            </a:r>
            <a:r>
              <a:rPr lang="en-US" sz="2400" b="1" dirty="0"/>
              <a:t>:</a:t>
            </a:r>
            <a:r>
              <a:rPr lang="en-US" sz="2400" dirty="0"/>
              <a:t> (Around NT$21,700) Jetson Orin Nano Super 8GB module with an NVIDIA Ampere architecture GPU, which includes 1024 CUDA cores and 32 Tensor cores, and a 6-core Arm Cortex-A78AE v8.2 64-bit CPU, delivering up to 67 TOPS of AI performance.</a:t>
            </a:r>
            <a:endParaRPr lang="en-US" dirty="0"/>
          </a:p>
        </p:txBody>
      </p:sp>
      <p:pic>
        <p:nvPicPr>
          <p:cNvPr id="4" name="Picture 3">
            <a:extLst>
              <a:ext uri="{FF2B5EF4-FFF2-40B4-BE49-F238E27FC236}">
                <a16:creationId xmlns:a16="http://schemas.microsoft.com/office/drawing/2014/main" id="{F67DFC69-019E-075A-6631-30F8A343DBE9}"/>
              </a:ext>
            </a:extLst>
          </p:cNvPr>
          <p:cNvPicPr>
            <a:picLocks noChangeAspect="1"/>
          </p:cNvPicPr>
          <p:nvPr/>
        </p:nvPicPr>
        <p:blipFill>
          <a:blip r:embed="rId4"/>
          <a:stretch>
            <a:fillRect/>
          </a:stretch>
        </p:blipFill>
        <p:spPr>
          <a:xfrm>
            <a:off x="6863080" y="4692579"/>
            <a:ext cx="2160936" cy="2165420"/>
          </a:xfrm>
          <a:prstGeom prst="rect">
            <a:avLst/>
          </a:prstGeom>
        </p:spPr>
      </p:pic>
      <p:pic>
        <p:nvPicPr>
          <p:cNvPr id="5" name="Picture 4">
            <a:extLst>
              <a:ext uri="{FF2B5EF4-FFF2-40B4-BE49-F238E27FC236}">
                <a16:creationId xmlns:a16="http://schemas.microsoft.com/office/drawing/2014/main" id="{4DC9B64A-3E30-28D9-A514-88D47B91F5A7}"/>
              </a:ext>
            </a:extLst>
          </p:cNvPr>
          <p:cNvPicPr>
            <a:picLocks noChangeAspect="1"/>
          </p:cNvPicPr>
          <p:nvPr/>
        </p:nvPicPr>
        <p:blipFill>
          <a:blip r:embed="rId5"/>
          <a:stretch>
            <a:fillRect/>
          </a:stretch>
        </p:blipFill>
        <p:spPr>
          <a:xfrm>
            <a:off x="9024017" y="4745406"/>
            <a:ext cx="3151088" cy="2112594"/>
          </a:xfrm>
          <a:prstGeom prst="rect">
            <a:avLst/>
          </a:prstGeom>
        </p:spPr>
      </p:pic>
    </p:spTree>
    <p:extLst>
      <p:ext uri="{BB962C8B-B14F-4D97-AF65-F5344CB8AC3E}">
        <p14:creationId xmlns:p14="http://schemas.microsoft.com/office/powerpoint/2010/main" val="884516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53608-5AEE-CC9F-05D7-40A8AACF2A3C}"/>
              </a:ext>
            </a:extLst>
          </p:cNvPr>
          <p:cNvSpPr>
            <a:spLocks noGrp="1"/>
          </p:cNvSpPr>
          <p:nvPr>
            <p:ph type="title"/>
          </p:nvPr>
        </p:nvSpPr>
        <p:spPr/>
        <p:txBody>
          <a:bodyPr/>
          <a:lstStyle/>
          <a:p>
            <a:r>
              <a:rPr lang="en-US" altLang="zh-TW" dirty="0"/>
              <a:t>Edge Device</a:t>
            </a:r>
            <a:endParaRPr lang="en-US" dirty="0"/>
          </a:p>
        </p:txBody>
      </p:sp>
      <p:sp>
        <p:nvSpPr>
          <p:cNvPr id="3" name="Content Placeholder 2">
            <a:extLst>
              <a:ext uri="{FF2B5EF4-FFF2-40B4-BE49-F238E27FC236}">
                <a16:creationId xmlns:a16="http://schemas.microsoft.com/office/drawing/2014/main" id="{D5444940-1C65-AD2D-31B0-15ACB8A732B1}"/>
              </a:ext>
            </a:extLst>
          </p:cNvPr>
          <p:cNvSpPr>
            <a:spLocks noGrp="1"/>
          </p:cNvSpPr>
          <p:nvPr>
            <p:ph idx="1"/>
          </p:nvPr>
        </p:nvSpPr>
        <p:spPr/>
        <p:txBody>
          <a:bodyPr>
            <a:normAutofit fontScale="92500"/>
          </a:bodyPr>
          <a:lstStyle/>
          <a:p>
            <a:pPr marL="457200" indent="-457200">
              <a:buFont typeface="+mj-lt"/>
              <a:buAutoNum type="arabicPeriod"/>
            </a:pPr>
            <a:r>
              <a:rPr lang="en-US" sz="2800" dirty="0"/>
              <a:t>Older models and research are mostly running on Raspberry pi</a:t>
            </a:r>
          </a:p>
          <a:p>
            <a:pPr marL="457200" indent="-457200">
              <a:buFont typeface="+mj-lt"/>
              <a:buAutoNum type="arabicPeriod"/>
            </a:pPr>
            <a:r>
              <a:rPr lang="en-US" sz="2800" dirty="0"/>
              <a:t>The current newest model and best result was not run on edge device.</a:t>
            </a:r>
          </a:p>
          <a:p>
            <a:pPr marL="749808" lvl="1" indent="-457200">
              <a:buFont typeface="+mj-lt"/>
              <a:buAutoNum type="romanUcPeriod"/>
            </a:pPr>
            <a:r>
              <a:rPr lang="en-US" sz="2400" dirty="0"/>
              <a:t>The experimental equipment and environment included:</a:t>
            </a:r>
          </a:p>
          <a:p>
            <a:pPr marL="932688" lvl="2" indent="-457200">
              <a:buFont typeface="+mj-lt"/>
              <a:buAutoNum type="alphaLcParenR"/>
            </a:pPr>
            <a:r>
              <a:rPr lang="en-US" sz="1800" dirty="0"/>
              <a:t>A computer running a Windows 11 64-bit operating system.</a:t>
            </a:r>
          </a:p>
          <a:p>
            <a:pPr marL="932688" lvl="2" indent="-457200">
              <a:buFont typeface="+mj-lt"/>
              <a:buAutoNum type="alphaLcParenR"/>
            </a:pPr>
            <a:r>
              <a:rPr lang="en-US" sz="1800" dirty="0"/>
              <a:t>Intel i9 2.20 GHz processor.16 GB of memory.</a:t>
            </a:r>
          </a:p>
          <a:p>
            <a:pPr marL="932688" lvl="2" indent="-457200">
              <a:buFont typeface="+mj-lt"/>
              <a:buAutoNum type="alphaLcParenR"/>
            </a:pPr>
            <a:r>
              <a:rPr lang="en-US" sz="1800" dirty="0"/>
              <a:t>An NVIDIA RTX 4060 GPU.</a:t>
            </a:r>
          </a:p>
          <a:p>
            <a:pPr marL="457200" indent="-457200">
              <a:buFont typeface="+mj-lt"/>
              <a:buAutoNum type="arabicPeriod"/>
            </a:pPr>
            <a:r>
              <a:rPr lang="en-US" sz="2800" dirty="0"/>
              <a:t>If we want to run on edge device the system needs to be robust, and specialize running AI model and parallel computation task.</a:t>
            </a:r>
          </a:p>
          <a:p>
            <a:pPr marL="457200" indent="-457200">
              <a:buFont typeface="+mj-lt"/>
              <a:buAutoNum type="arabicPeriod"/>
            </a:pPr>
            <a:endParaRPr lang="en-US" sz="2800" dirty="0"/>
          </a:p>
        </p:txBody>
      </p:sp>
    </p:spTree>
    <p:extLst>
      <p:ext uri="{BB962C8B-B14F-4D97-AF65-F5344CB8AC3E}">
        <p14:creationId xmlns:p14="http://schemas.microsoft.com/office/powerpoint/2010/main" val="127423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1" name="Rectangle 105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F24D4F-76D6-4E8A-186B-3A06D24F8E6D}"/>
              </a:ext>
            </a:extLst>
          </p:cNvPr>
          <p:cNvSpPr>
            <a:spLocks noGrp="1"/>
          </p:cNvSpPr>
          <p:nvPr>
            <p:ph type="title"/>
          </p:nvPr>
        </p:nvSpPr>
        <p:spPr>
          <a:xfrm>
            <a:off x="7859485" y="634946"/>
            <a:ext cx="3690257" cy="1450757"/>
          </a:xfrm>
        </p:spPr>
        <p:txBody>
          <a:bodyPr>
            <a:normAutofit/>
          </a:bodyPr>
          <a:lstStyle/>
          <a:p>
            <a:r>
              <a:rPr lang="en-US" sz="3400"/>
              <a:t>Media Pipe Face Tracking</a:t>
            </a:r>
          </a:p>
        </p:txBody>
      </p:sp>
      <p:pic>
        <p:nvPicPr>
          <p:cNvPr id="1026" name="Picture 2" descr="Three people with their faces highlighted with bounding boxes">
            <a:extLst>
              <a:ext uri="{FF2B5EF4-FFF2-40B4-BE49-F238E27FC236}">
                <a16:creationId xmlns:a16="http://schemas.microsoft.com/office/drawing/2014/main" id="{03B12199-849A-642A-21D4-204291F60CE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3999" y="1362540"/>
            <a:ext cx="6909801" cy="3869488"/>
          </a:xfrm>
          <a:prstGeom prst="rect">
            <a:avLst/>
          </a:prstGeom>
          <a:noFill/>
          <a:extLst>
            <a:ext uri="{909E8E84-426E-40DD-AFC4-6F175D3DCCD1}">
              <a14:hiddenFill xmlns:a14="http://schemas.microsoft.com/office/drawing/2010/main">
                <a:solidFill>
                  <a:srgbClr val="FFFFFF"/>
                </a:solidFill>
              </a14:hiddenFill>
            </a:ext>
          </a:extLst>
        </p:spPr>
      </p:pic>
      <p:cxnSp>
        <p:nvCxnSpPr>
          <p:cNvPr id="1052" name="Straight Connector 1051">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333C614-4F89-E0AD-9A17-B7F476F5DFB7}"/>
              </a:ext>
            </a:extLst>
          </p:cNvPr>
          <p:cNvSpPr>
            <a:spLocks noGrp="1" noChangeArrowheads="1"/>
          </p:cNvSpPr>
          <p:nvPr>
            <p:ph idx="1"/>
          </p:nvPr>
        </p:nvSpPr>
        <p:spPr bwMode="auto">
          <a:xfrm>
            <a:off x="7859485" y="2198914"/>
            <a:ext cx="3690257" cy="36701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Face Detection:</a:t>
            </a:r>
            <a:r>
              <a:rPr kumimoji="0" lang="en-US" altLang="en-US" b="0" i="0" u="none" strike="noStrike" cap="none" normalizeH="0" baseline="0" dirty="0">
                <a:ln>
                  <a:noFill/>
                </a:ln>
                <a:effectLst/>
                <a:latin typeface="Arial" panose="020B0604020202020204" pitchFamily="34" charset="0"/>
              </a:rPr>
              <a:t> A detector model first identifies the location of a face within the image or video frame.</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3D Face Landmark Model:</a:t>
            </a:r>
            <a:r>
              <a:rPr kumimoji="0" lang="en-US" altLang="en-US" b="0" i="0" u="none" strike="noStrike" cap="none" normalizeH="0" baseline="0" dirty="0">
                <a:ln>
                  <a:noFill/>
                </a:ln>
                <a:effectLst/>
                <a:latin typeface="Arial" panose="020B0604020202020204" pitchFamily="34" charset="0"/>
              </a:rPr>
              <a:t> A subsequent model then takes the identified facial region and predicts the 3D coordinates of the 468 landmarks, creating a detailed mesh of the facial surface.</a:t>
            </a:r>
          </a:p>
          <a:p>
            <a:pPr marL="0" marR="0" lvl="0" indent="0" defTabSz="914400" rtl="0" eaLnBrk="0" fontAlgn="base" latinLnBrk="0" hangingPunct="0">
              <a:spcBef>
                <a:spcPct val="0"/>
              </a:spcBef>
              <a:spcAft>
                <a:spcPts val="600"/>
              </a:spcAft>
              <a:buClrTx/>
              <a:buSzTx/>
              <a:buFontTx/>
              <a:buChar char="•"/>
              <a:tabLst/>
            </a:pPr>
            <a:r>
              <a:rPr lang="en-US" altLang="en-US" dirty="0">
                <a:latin typeface="Arial" panose="020B0604020202020204" pitchFamily="34" charset="0"/>
              </a:rPr>
              <a:t>Have previous experience with this using </a:t>
            </a:r>
            <a:r>
              <a:rPr lang="en-US" altLang="en-US" dirty="0" err="1">
                <a:latin typeface="Arial" panose="020B0604020202020204" pitchFamily="34" charset="0"/>
              </a:rPr>
              <a:t>rppg</a:t>
            </a:r>
            <a:r>
              <a:rPr lang="en-US" altLang="en-US" dirty="0">
                <a:latin typeface="Arial" panose="020B0604020202020204" pitchFamily="34" charset="0"/>
              </a:rPr>
              <a:t>.</a:t>
            </a:r>
            <a:endParaRPr kumimoji="0" lang="en-US" altLang="en-US" b="0" i="0" u="none" strike="noStrike" cap="none" normalizeH="0" baseline="0" dirty="0">
              <a:ln>
                <a:noFill/>
              </a:ln>
              <a:effectLst/>
              <a:latin typeface="Arial" panose="020B0604020202020204" pitchFamily="34" charset="0"/>
            </a:endParaRPr>
          </a:p>
        </p:txBody>
      </p:sp>
      <p:sp>
        <p:nvSpPr>
          <p:cNvPr id="1053" name="Rectangle 1052">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0" name="Rectangle 1049">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25841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5" name="Rectangle 2074">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71A4FD-EB58-F3F0-89A7-1A849ADD6980}"/>
              </a:ext>
            </a:extLst>
          </p:cNvPr>
          <p:cNvSpPr>
            <a:spLocks noGrp="1"/>
          </p:cNvSpPr>
          <p:nvPr>
            <p:ph type="title"/>
          </p:nvPr>
        </p:nvSpPr>
        <p:spPr>
          <a:xfrm>
            <a:off x="7259717" y="502211"/>
            <a:ext cx="3690257" cy="1450757"/>
          </a:xfrm>
        </p:spPr>
        <p:txBody>
          <a:bodyPr>
            <a:normAutofit/>
          </a:bodyPr>
          <a:lstStyle/>
          <a:p>
            <a:r>
              <a:rPr lang="en-US" dirty="0"/>
              <a:t>RPPG</a:t>
            </a:r>
          </a:p>
        </p:txBody>
      </p:sp>
      <p:pic>
        <p:nvPicPr>
          <p:cNvPr id="2052" name="Picture 4" descr="Literature Review] R2I-rPPG: A Robust Region of Interest Selection Method  for Remote Photoplethysmography to Extract Heart Rate">
            <a:extLst>
              <a:ext uri="{FF2B5EF4-FFF2-40B4-BE49-F238E27FC236}">
                <a16:creationId xmlns:a16="http://schemas.microsoft.com/office/drawing/2014/main" id="{95F9EBA0-FF77-887D-42E4-496A6E36190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61" y="2085703"/>
            <a:ext cx="6909801" cy="2556626"/>
          </a:xfrm>
          <a:prstGeom prst="rect">
            <a:avLst/>
          </a:prstGeom>
          <a:noFill/>
          <a:extLst>
            <a:ext uri="{909E8E84-426E-40DD-AFC4-6F175D3DCCD1}">
              <a14:hiddenFill xmlns:a14="http://schemas.microsoft.com/office/drawing/2010/main">
                <a:solidFill>
                  <a:srgbClr val="FFFFFF"/>
                </a:solidFill>
              </a14:hiddenFill>
            </a:ext>
          </a:extLst>
        </p:spPr>
      </p:pic>
      <p:cxnSp>
        <p:nvCxnSpPr>
          <p:cNvPr id="2076" name="Straight Connector 2075">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054" name="Content Placeholder 2053">
            <a:extLst>
              <a:ext uri="{FF2B5EF4-FFF2-40B4-BE49-F238E27FC236}">
                <a16:creationId xmlns:a16="http://schemas.microsoft.com/office/drawing/2014/main" id="{7B38EFA7-8902-5FEF-B3BD-611B5BA128CD}"/>
              </a:ext>
            </a:extLst>
          </p:cNvPr>
          <p:cNvSpPr>
            <a:spLocks noGrp="1"/>
          </p:cNvSpPr>
          <p:nvPr>
            <p:ph idx="1"/>
          </p:nvPr>
        </p:nvSpPr>
        <p:spPr>
          <a:xfrm>
            <a:off x="7003025" y="2218439"/>
            <a:ext cx="5188960" cy="4432700"/>
          </a:xfrm>
        </p:spPr>
        <p:txBody>
          <a:bodyPr>
            <a:normAutofit fontScale="92500" lnSpcReduction="10000"/>
          </a:bodyPr>
          <a:lstStyle/>
          <a:p>
            <a:pPr marL="457200" indent="-457200">
              <a:buFont typeface="+mj-lt"/>
              <a:buAutoNum type="arabicPeriod"/>
            </a:pPr>
            <a:r>
              <a:rPr lang="en-US" sz="1600" dirty="0"/>
              <a:t>Blood Flow and Color: With each heartbeat, blood is pumped through the vessels in your face. This surge in blood volume causes the capillaries just beneath the skin to expand, slightly increasing the absorption of light.</a:t>
            </a:r>
          </a:p>
          <a:p>
            <a:pPr marL="457200" indent="-457200">
              <a:buFont typeface="+mj-lt"/>
              <a:buAutoNum type="arabicPeriod"/>
            </a:pPr>
            <a:r>
              <a:rPr lang="en-US" sz="1600" dirty="0"/>
              <a:t>Light Absorption: When light hits your face, your skin reflects it. Hemoglobin in your blood absorbs green light more than red or blue light.</a:t>
            </a:r>
          </a:p>
          <a:p>
            <a:pPr marL="457200" indent="-457200">
              <a:buFont typeface="+mj-lt"/>
              <a:buAutoNum type="arabicPeriod"/>
            </a:pPr>
            <a:r>
              <a:rPr lang="en-US" sz="1600" dirty="0"/>
              <a:t>Camera as a Sensor: As blood pulses through your face, the amount of light reflected back to the camera changes periodically. The camera's sensor is sensitive enough to pick up these minute color variations in the video frames.</a:t>
            </a:r>
          </a:p>
          <a:p>
            <a:pPr marL="457200" indent="-457200">
              <a:buFont typeface="+mj-lt"/>
              <a:buAutoNum type="arabicPeriod"/>
            </a:pPr>
            <a:r>
              <a:rPr lang="en-US" sz="1600" dirty="0"/>
              <a:t>Signal Processing: Sophisticated algorithms then analyze this raw video data, isolating the periodic signal corresponding to the heartbeat from other "noise" like motion artifacts or changes in lighting. This extracted signal, which mirrors the cardiac cycle, is then used to calculate the heart rate.</a:t>
            </a:r>
          </a:p>
        </p:txBody>
      </p:sp>
      <p:sp>
        <p:nvSpPr>
          <p:cNvPr id="2077" name="Rectangle 2076">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74" name="Rectangle 2073">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96030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1C98245F-EB5E-45ED-65FF-0F311132F9EB}"/>
              </a:ext>
            </a:extLst>
          </p:cNvPr>
          <p:cNvGraphicFramePr>
            <a:graphicFrameLocks noGrp="1"/>
          </p:cNvGraphicFramePr>
          <p:nvPr>
            <p:ph idx="1"/>
            <p:extLst>
              <p:ext uri="{D42A27DB-BD31-4B8C-83A1-F6EECF244321}">
                <p14:modId xmlns:p14="http://schemas.microsoft.com/office/powerpoint/2010/main" val="261602276"/>
              </p:ext>
            </p:extLst>
          </p:nvPr>
        </p:nvGraphicFramePr>
        <p:xfrm>
          <a:off x="1121325" y="905933"/>
          <a:ext cx="9981356" cy="5268131"/>
        </p:xfrm>
        <a:graphic>
          <a:graphicData uri="http://schemas.openxmlformats.org/drawingml/2006/table">
            <a:tbl>
              <a:tblPr firstRow="1" bandRow="1">
                <a:solidFill>
                  <a:srgbClr val="F2F2F2">
                    <a:alpha val="45098"/>
                  </a:srgbClr>
                </a:solidFill>
              </a:tblPr>
              <a:tblGrid>
                <a:gridCol w="1678946">
                  <a:extLst>
                    <a:ext uri="{9D8B030D-6E8A-4147-A177-3AD203B41FA5}">
                      <a16:colId xmlns:a16="http://schemas.microsoft.com/office/drawing/2014/main" val="3504807773"/>
                    </a:ext>
                  </a:extLst>
                </a:gridCol>
                <a:gridCol w="1915233">
                  <a:extLst>
                    <a:ext uri="{9D8B030D-6E8A-4147-A177-3AD203B41FA5}">
                      <a16:colId xmlns:a16="http://schemas.microsoft.com/office/drawing/2014/main" val="1408643641"/>
                    </a:ext>
                  </a:extLst>
                </a:gridCol>
                <a:gridCol w="6387177">
                  <a:extLst>
                    <a:ext uri="{9D8B030D-6E8A-4147-A177-3AD203B41FA5}">
                      <a16:colId xmlns:a16="http://schemas.microsoft.com/office/drawing/2014/main" val="1889912225"/>
                    </a:ext>
                  </a:extLst>
                </a:gridCol>
              </a:tblGrid>
              <a:tr h="812244">
                <a:tc>
                  <a:txBody>
                    <a:bodyPr/>
                    <a:lstStyle/>
                    <a:p>
                      <a:pPr rtl="0" fontAlgn="b">
                        <a:buNone/>
                      </a:pPr>
                      <a:r>
                        <a:rPr lang="en-US" sz="2000" b="0" cap="none" spc="0">
                          <a:solidFill>
                            <a:schemeClr val="bg1"/>
                          </a:solidFill>
                          <a:effectLst/>
                        </a:rPr>
                        <a:t>Component</a:t>
                      </a:r>
                    </a:p>
                  </a:txBody>
                  <a:tcPr marL="4127" marR="4127" marT="133433" marB="2751" anchor="ctr">
                    <a:lnL w="12700" cmpd="sng">
                      <a:noFill/>
                    </a:lnL>
                    <a:lnR w="12700" cmpd="sng">
                      <a:noFill/>
                    </a:lnR>
                    <a:lnT w="19050" cap="flat" cmpd="sng" algn="ctr">
                      <a:noFill/>
                      <a:prstDash val="solid"/>
                    </a:lnT>
                    <a:lnB w="38100" cmpd="sng">
                      <a:noFill/>
                    </a:lnB>
                    <a:solidFill>
                      <a:schemeClr val="tx1"/>
                    </a:solidFill>
                  </a:tcPr>
                </a:tc>
                <a:tc>
                  <a:txBody>
                    <a:bodyPr/>
                    <a:lstStyle/>
                    <a:p>
                      <a:pPr rtl="0" fontAlgn="b">
                        <a:buNone/>
                      </a:pPr>
                      <a:r>
                        <a:rPr lang="en-US" sz="2000" b="0" cap="none" spc="0">
                          <a:solidFill>
                            <a:schemeClr val="bg1"/>
                          </a:solidFill>
                          <a:effectLst/>
                        </a:rPr>
                        <a:t>Estimated FLOPs</a:t>
                      </a:r>
                    </a:p>
                  </a:txBody>
                  <a:tcPr marL="4127" marR="4127" marT="133433" marB="2751" anchor="ctr">
                    <a:lnL w="12700" cmpd="sng">
                      <a:noFill/>
                    </a:lnL>
                    <a:lnR w="12700" cmpd="sng">
                      <a:noFill/>
                    </a:lnR>
                    <a:lnT w="19050" cap="flat" cmpd="sng" algn="ctr">
                      <a:noFill/>
                      <a:prstDash val="solid"/>
                    </a:lnT>
                    <a:lnB w="38100" cmpd="sng">
                      <a:noFill/>
                    </a:lnB>
                    <a:solidFill>
                      <a:schemeClr val="tx1"/>
                    </a:solidFill>
                  </a:tcPr>
                </a:tc>
                <a:tc>
                  <a:txBody>
                    <a:bodyPr/>
                    <a:lstStyle/>
                    <a:p>
                      <a:pPr rtl="0" fontAlgn="b">
                        <a:buNone/>
                      </a:pPr>
                      <a:r>
                        <a:rPr lang="en-US" sz="2000" b="0" cap="none" spc="0">
                          <a:solidFill>
                            <a:schemeClr val="bg1"/>
                          </a:solidFill>
                          <a:effectLst/>
                        </a:rPr>
                        <a:t>Rationale</a:t>
                      </a:r>
                    </a:p>
                  </a:txBody>
                  <a:tcPr marL="4127" marR="4127" marT="133433" marB="2751"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747058926"/>
                  </a:ext>
                </a:extLst>
              </a:tr>
              <a:tr h="1257021">
                <a:tc>
                  <a:txBody>
                    <a:bodyPr/>
                    <a:lstStyle/>
                    <a:p>
                      <a:pPr rtl="0" fontAlgn="b">
                        <a:buNone/>
                      </a:pPr>
                      <a:r>
                        <a:rPr lang="en-US" sz="1800" cap="none" spc="0">
                          <a:solidFill>
                            <a:schemeClr val="tx1"/>
                          </a:solidFill>
                          <a:effectLst/>
                        </a:rPr>
                        <a:t>1. Face Tracking</a:t>
                      </a:r>
                    </a:p>
                  </a:txBody>
                  <a:tcPr marL="4127" marR="4127" marT="133433" marB="2751" anchor="b">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rtl="0" fontAlgn="b">
                        <a:buNone/>
                      </a:pPr>
                      <a:r>
                        <a:rPr lang="en-US" sz="1800" cap="none" spc="0">
                          <a:solidFill>
                            <a:schemeClr val="tx1"/>
                          </a:solidFill>
                          <a:effectLst/>
                        </a:rPr>
                        <a:t>0.2 - 0.4 GFLOPs</a:t>
                      </a:r>
                    </a:p>
                  </a:txBody>
                  <a:tcPr marL="4127" marR="4127" marT="133433" marB="2751" anchor="b">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rtl="0" fontAlgn="b">
                        <a:buNone/>
                      </a:pPr>
                      <a:r>
                        <a:rPr lang="en-US" sz="1800" cap="none" spc="0" dirty="0">
                          <a:solidFill>
                            <a:schemeClr val="tx1"/>
                          </a:solidFill>
                          <a:effectLst/>
                        </a:rPr>
                        <a:t>This involves a lightweight face detector to find the face and a landmark tracker (like </a:t>
                      </a:r>
                      <a:r>
                        <a:rPr lang="en-US" sz="1800" cap="none" spc="0" dirty="0" err="1">
                          <a:solidFill>
                            <a:schemeClr val="tx1"/>
                          </a:solidFill>
                          <a:effectLst/>
                        </a:rPr>
                        <a:t>MediaPipe</a:t>
                      </a:r>
                      <a:r>
                        <a:rPr lang="en-US" sz="1800" cap="none" spc="0" dirty="0">
                          <a:solidFill>
                            <a:schemeClr val="tx1"/>
                          </a:solidFill>
                          <a:effectLst/>
                        </a:rPr>
                        <a:t> Face Mesh) to identify the region of interest (e.g., the forehead or cheeks) for the </a:t>
                      </a:r>
                      <a:r>
                        <a:rPr lang="en-US" sz="1800" cap="none" spc="0" dirty="0" err="1">
                          <a:solidFill>
                            <a:schemeClr val="tx1"/>
                          </a:solidFill>
                          <a:effectLst/>
                        </a:rPr>
                        <a:t>rPPG</a:t>
                      </a:r>
                      <a:r>
                        <a:rPr lang="en-US" sz="1800" cap="none" spc="0" dirty="0">
                          <a:solidFill>
                            <a:schemeClr val="tx1"/>
                          </a:solidFill>
                          <a:effectLst/>
                        </a:rPr>
                        <a:t> model.</a:t>
                      </a:r>
                    </a:p>
                  </a:txBody>
                  <a:tcPr marL="0" marR="0" marT="133433" marB="2751" anchor="b">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4047728285"/>
                  </a:ext>
                </a:extLst>
              </a:tr>
              <a:tr h="1257021">
                <a:tc>
                  <a:txBody>
                    <a:bodyPr/>
                    <a:lstStyle/>
                    <a:p>
                      <a:pPr rtl="0" fontAlgn="b">
                        <a:buNone/>
                      </a:pPr>
                      <a:r>
                        <a:rPr lang="en-US" sz="1800" cap="none" spc="0">
                          <a:solidFill>
                            <a:schemeClr val="tx1"/>
                          </a:solidFill>
                          <a:effectLst/>
                        </a:rPr>
                        <a:t>2. rPPG Model</a:t>
                      </a:r>
                    </a:p>
                  </a:txBody>
                  <a:tcPr marL="4127" marR="4127" marT="133433" marB="2751" anchor="b">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rtl="0" fontAlgn="b">
                        <a:buNone/>
                      </a:pPr>
                      <a:r>
                        <a:rPr lang="en-US" sz="1800" cap="none" spc="0">
                          <a:solidFill>
                            <a:schemeClr val="tx1"/>
                          </a:solidFill>
                          <a:effectLst/>
                        </a:rPr>
                        <a:t>0.3 - 1.0 GFLOPs</a:t>
                      </a:r>
                    </a:p>
                  </a:txBody>
                  <a:tcPr marL="4127" marR="4127" marT="133433" marB="2751" anchor="b">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rtl="0" fontAlgn="b">
                        <a:buNone/>
                      </a:pPr>
                      <a:r>
                        <a:rPr lang="en-US" sz="1800" cap="none" spc="0">
                          <a:solidFill>
                            <a:schemeClr val="tx1"/>
                          </a:solidFill>
                          <a:effectLst/>
                        </a:rPr>
                        <a:t>This is the core of the system. The model analyzes the subtle color changes in the selected facial region. The FLOPs here can vary significantly based on the model's complexity and its robustness to noise and motion.</a:t>
                      </a:r>
                    </a:p>
                  </a:txBody>
                  <a:tcPr marL="0" marR="0" marT="133433" marB="2751" anchor="b">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882534378"/>
                  </a:ext>
                </a:extLst>
              </a:tr>
              <a:tr h="1257021">
                <a:tc>
                  <a:txBody>
                    <a:bodyPr/>
                    <a:lstStyle/>
                    <a:p>
                      <a:pPr rtl="0" fontAlgn="b">
                        <a:buNone/>
                      </a:pPr>
                      <a:r>
                        <a:rPr lang="en-US" sz="1800" cap="none" spc="0">
                          <a:solidFill>
                            <a:schemeClr val="tx1"/>
                          </a:solidFill>
                          <a:effectLst/>
                        </a:rPr>
                        <a:t>3. Alert System</a:t>
                      </a:r>
                    </a:p>
                  </a:txBody>
                  <a:tcPr marL="4127" marR="4127" marT="133433" marB="2751" anchor="b">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rtl="0" fontAlgn="b">
                        <a:buNone/>
                      </a:pPr>
                      <a:r>
                        <a:rPr lang="en-US" sz="1800" cap="none" spc="0">
                          <a:solidFill>
                            <a:schemeClr val="tx1"/>
                          </a:solidFill>
                          <a:effectLst/>
                        </a:rPr>
                        <a:t>~0 GFLOPs</a:t>
                      </a:r>
                    </a:p>
                  </a:txBody>
                  <a:tcPr marL="4127" marR="4127" marT="133433" marB="2751" anchor="b">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rtl="0" fontAlgn="b">
                        <a:buNone/>
                      </a:pPr>
                      <a:r>
                        <a:rPr lang="en-US" sz="1800" cap="none" spc="0">
                          <a:solidFill>
                            <a:schemeClr val="tx1"/>
                          </a:solidFill>
                          <a:effectLst/>
                        </a:rPr>
                        <a:t>This component is just simple conditional logic (e.g., if heart_rate &gt; 100). Its computational cost is trivial compared to the neural networks and does not contribute to the total in a meaningful way.</a:t>
                      </a:r>
                    </a:p>
                  </a:txBody>
                  <a:tcPr marL="0" marR="0" marT="133433" marB="2751" anchor="b">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640038985"/>
                  </a:ext>
                </a:extLst>
              </a:tr>
              <a:tr h="456423">
                <a:tc>
                  <a:txBody>
                    <a:bodyPr/>
                    <a:lstStyle/>
                    <a:p>
                      <a:pPr rtl="0" fontAlgn="b">
                        <a:buNone/>
                      </a:pPr>
                      <a:r>
                        <a:rPr lang="en-US" sz="1800" cap="none" spc="0">
                          <a:solidFill>
                            <a:schemeClr val="tx1"/>
                          </a:solidFill>
                          <a:effectLst/>
                        </a:rPr>
                        <a:t>Total (Typical)</a:t>
                      </a:r>
                    </a:p>
                  </a:txBody>
                  <a:tcPr marL="4127" marR="4127" marT="133433" marB="2751" anchor="b">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rtl="0" fontAlgn="b">
                        <a:buNone/>
                      </a:pPr>
                      <a:r>
                        <a:rPr lang="en-US" sz="1800" cap="none" spc="0">
                          <a:solidFill>
                            <a:schemeClr val="tx1"/>
                          </a:solidFill>
                          <a:effectLst/>
                        </a:rPr>
                        <a:t>~0.8 GFLOPs</a:t>
                      </a:r>
                    </a:p>
                  </a:txBody>
                  <a:tcPr marL="4127" marR="4127" marT="133433" marB="2751" anchor="b">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rtl="0" fontAlgn="b">
                        <a:buNone/>
                      </a:pPr>
                      <a:r>
                        <a:rPr lang="en-US" sz="1800" cap="none" spc="0" dirty="0">
                          <a:solidFill>
                            <a:schemeClr val="tx1"/>
                          </a:solidFill>
                          <a:effectLst/>
                        </a:rPr>
                        <a:t>A common, well-optimized system would likely fall in this range.</a:t>
                      </a:r>
                    </a:p>
                  </a:txBody>
                  <a:tcPr marL="0" marR="0" marT="133433" marB="2751" anchor="b">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1925641880"/>
                  </a:ext>
                </a:extLst>
              </a:tr>
            </a:tbl>
          </a:graphicData>
        </a:graphic>
      </p:graphicFrame>
      <p:sp>
        <p:nvSpPr>
          <p:cNvPr id="2" name="TextBox 1">
            <a:extLst>
              <a:ext uri="{FF2B5EF4-FFF2-40B4-BE49-F238E27FC236}">
                <a16:creationId xmlns:a16="http://schemas.microsoft.com/office/drawing/2014/main" id="{81835EE9-E706-8466-B03C-5B713A9FC2B5}"/>
              </a:ext>
            </a:extLst>
          </p:cNvPr>
          <p:cNvSpPr txBox="1"/>
          <p:nvPr/>
        </p:nvSpPr>
        <p:spPr>
          <a:xfrm>
            <a:off x="5181600" y="6416341"/>
            <a:ext cx="8583562" cy="369332"/>
          </a:xfrm>
          <a:prstGeom prst="rect">
            <a:avLst/>
          </a:prstGeom>
          <a:noFill/>
        </p:spPr>
        <p:txBody>
          <a:bodyPr wrap="square" rtlCol="0">
            <a:spAutoFit/>
          </a:bodyPr>
          <a:lstStyle/>
          <a:p>
            <a:r>
              <a:rPr lang="en-US" altLang="zh-TW" b="1" dirty="0"/>
              <a:t>Units for computational load: </a:t>
            </a:r>
            <a:r>
              <a:rPr lang="en-US" b="1" dirty="0"/>
              <a:t>FLOPs</a:t>
            </a:r>
            <a:r>
              <a:rPr lang="en-US" dirty="0"/>
              <a:t> (Floating-Point Operations)</a:t>
            </a:r>
          </a:p>
        </p:txBody>
      </p:sp>
    </p:spTree>
    <p:extLst>
      <p:ext uri="{BB962C8B-B14F-4D97-AF65-F5344CB8AC3E}">
        <p14:creationId xmlns:p14="http://schemas.microsoft.com/office/powerpoint/2010/main" val="2253551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ED611-FB11-1BBB-3976-22ECCC35468C}"/>
              </a:ext>
            </a:extLst>
          </p:cNvPr>
          <p:cNvSpPr>
            <a:spLocks noGrp="1"/>
          </p:cNvSpPr>
          <p:nvPr>
            <p:ph type="title"/>
          </p:nvPr>
        </p:nvSpPr>
        <p:spPr/>
        <p:txBody>
          <a:bodyPr/>
          <a:lstStyle/>
          <a:p>
            <a:r>
              <a:rPr lang="en-US" altLang="zh-TW" dirty="0"/>
              <a:t>Edge Device</a:t>
            </a:r>
            <a:endParaRPr lang="en-US" dirty="0"/>
          </a:p>
        </p:txBody>
      </p:sp>
      <p:sp>
        <p:nvSpPr>
          <p:cNvPr id="3" name="Content Placeholder 2">
            <a:extLst>
              <a:ext uri="{FF2B5EF4-FFF2-40B4-BE49-F238E27FC236}">
                <a16:creationId xmlns:a16="http://schemas.microsoft.com/office/drawing/2014/main" id="{54AAAC42-9842-4BC1-DC37-12F8E591F37D}"/>
              </a:ext>
            </a:extLst>
          </p:cNvPr>
          <p:cNvSpPr>
            <a:spLocks noGrp="1"/>
          </p:cNvSpPr>
          <p:nvPr>
            <p:ph idx="1"/>
          </p:nvPr>
        </p:nvSpPr>
        <p:spPr/>
        <p:txBody>
          <a:bodyPr/>
          <a:lstStyle/>
          <a:p>
            <a:r>
              <a:rPr lang="en-US" b="1" dirty="0"/>
              <a:t>Computational Demand:</a:t>
            </a:r>
            <a:r>
              <a:rPr lang="en-US" dirty="0"/>
              <a:t> To process video at a smooth </a:t>
            </a:r>
            <a:r>
              <a:rPr lang="en-US" b="1" dirty="0"/>
              <a:t>10 frames per second (FPS)</a:t>
            </a:r>
            <a:r>
              <a:rPr lang="en-US" dirty="0"/>
              <a:t>, the device would need to handle: </a:t>
            </a:r>
          </a:p>
          <a:p>
            <a:r>
              <a:rPr lang="en-US" dirty="0"/>
              <a:t>0.8 GFLOPs/frame×10 FPS=8 GFLOPS</a:t>
            </a:r>
          </a:p>
          <a:p>
            <a:pPr marL="0" indent="0">
              <a:buNone/>
            </a:pPr>
            <a:endParaRPr lang="en-US" dirty="0"/>
          </a:p>
          <a:p>
            <a:r>
              <a:rPr lang="en-US" b="1" dirty="0"/>
              <a:t>Target FPS:</a:t>
            </a:r>
            <a:r>
              <a:rPr lang="en-US" dirty="0"/>
              <a:t> 30</a:t>
            </a:r>
          </a:p>
          <a:p>
            <a:r>
              <a:rPr lang="en-US" dirty="0"/>
              <a:t>0.8 GFLOPs/frame×30 FPS=24 GFLOPS </a:t>
            </a:r>
          </a:p>
          <a:p>
            <a:endParaRPr lang="en-US" dirty="0"/>
          </a:p>
          <a:p>
            <a:r>
              <a:rPr lang="en-US" dirty="0"/>
              <a:t>-Raspberry Pi </a:t>
            </a:r>
            <a:r>
              <a:rPr lang="en-US" altLang="zh-TW" dirty="0"/>
              <a:t>5</a:t>
            </a:r>
            <a:r>
              <a:rPr lang="zh-TW" altLang="en-US" dirty="0"/>
              <a:t> </a:t>
            </a:r>
            <a:r>
              <a:rPr lang="en-US" dirty="0"/>
              <a:t>can handle</a:t>
            </a:r>
            <a:r>
              <a:rPr lang="zh-TW" altLang="en-US" dirty="0"/>
              <a:t> </a:t>
            </a:r>
            <a:r>
              <a:rPr lang="en-US" altLang="zh-TW" dirty="0"/>
              <a:t>around 5-9</a:t>
            </a:r>
            <a:r>
              <a:rPr lang="en-US" dirty="0"/>
              <a:t> GFLOPS</a:t>
            </a:r>
          </a:p>
          <a:p>
            <a:r>
              <a:rPr lang="en-US" dirty="0"/>
              <a:t>-If the operation is 24 GFLOPS, mid-range edge devices will not be able to handle.</a:t>
            </a:r>
          </a:p>
          <a:p>
            <a:endParaRPr lang="en-US" dirty="0"/>
          </a:p>
          <a:p>
            <a:endParaRPr lang="en-US" dirty="0"/>
          </a:p>
        </p:txBody>
      </p:sp>
    </p:spTree>
    <p:extLst>
      <p:ext uri="{BB962C8B-B14F-4D97-AF65-F5344CB8AC3E}">
        <p14:creationId xmlns:p14="http://schemas.microsoft.com/office/powerpoint/2010/main" val="1531609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21DCF073-A1E5-71C8-8785-F73FDB9CF3A1}"/>
              </a:ext>
            </a:extLst>
          </p:cNvPr>
          <p:cNvGraphicFramePr>
            <a:graphicFrameLocks noGrp="1"/>
          </p:cNvGraphicFramePr>
          <p:nvPr>
            <p:ph idx="1"/>
            <p:extLst>
              <p:ext uri="{D42A27DB-BD31-4B8C-83A1-F6EECF244321}">
                <p14:modId xmlns:p14="http://schemas.microsoft.com/office/powerpoint/2010/main" val="3524871120"/>
              </p:ext>
            </p:extLst>
          </p:nvPr>
        </p:nvGraphicFramePr>
        <p:xfrm>
          <a:off x="1137251" y="1439672"/>
          <a:ext cx="9914351" cy="3912172"/>
        </p:xfrm>
        <a:graphic>
          <a:graphicData uri="http://schemas.openxmlformats.org/drawingml/2006/table">
            <a:tbl>
              <a:tblPr firstRow="1" bandRow="1">
                <a:tableStyleId>{8EC20E35-A176-4012-BC5E-935CFFF8708E}</a:tableStyleId>
              </a:tblPr>
              <a:tblGrid>
                <a:gridCol w="1686064">
                  <a:extLst>
                    <a:ext uri="{9D8B030D-6E8A-4147-A177-3AD203B41FA5}">
                      <a16:colId xmlns:a16="http://schemas.microsoft.com/office/drawing/2014/main" val="1878768869"/>
                    </a:ext>
                  </a:extLst>
                </a:gridCol>
                <a:gridCol w="1722282">
                  <a:extLst>
                    <a:ext uri="{9D8B030D-6E8A-4147-A177-3AD203B41FA5}">
                      <a16:colId xmlns:a16="http://schemas.microsoft.com/office/drawing/2014/main" val="448637804"/>
                    </a:ext>
                  </a:extLst>
                </a:gridCol>
                <a:gridCol w="3160328">
                  <a:extLst>
                    <a:ext uri="{9D8B030D-6E8A-4147-A177-3AD203B41FA5}">
                      <a16:colId xmlns:a16="http://schemas.microsoft.com/office/drawing/2014/main" val="2225381095"/>
                    </a:ext>
                  </a:extLst>
                </a:gridCol>
                <a:gridCol w="3345677">
                  <a:extLst>
                    <a:ext uri="{9D8B030D-6E8A-4147-A177-3AD203B41FA5}">
                      <a16:colId xmlns:a16="http://schemas.microsoft.com/office/drawing/2014/main" val="592694692"/>
                    </a:ext>
                  </a:extLst>
                </a:gridCol>
              </a:tblGrid>
              <a:tr h="1043488">
                <a:tc>
                  <a:txBody>
                    <a:bodyPr/>
                    <a:lstStyle/>
                    <a:p>
                      <a:pPr rtl="0" fontAlgn="b">
                        <a:buNone/>
                      </a:pPr>
                      <a:r>
                        <a:rPr lang="en-US" sz="2300" b="1" cap="none" spc="0">
                          <a:solidFill>
                            <a:schemeClr val="bg1"/>
                          </a:solidFill>
                          <a:effectLst/>
                        </a:rPr>
                        <a:t>Device</a:t>
                      </a:r>
                    </a:p>
                  </a:txBody>
                  <a:tcPr marL="104659" marR="74757" marT="149513" marB="149513" anchor="ctr"/>
                </a:tc>
                <a:tc>
                  <a:txBody>
                    <a:bodyPr/>
                    <a:lstStyle/>
                    <a:p>
                      <a:pPr rtl="0" fontAlgn="b">
                        <a:buNone/>
                      </a:pPr>
                      <a:r>
                        <a:rPr lang="en-US" sz="2300" b="1" cap="none" spc="0">
                          <a:solidFill>
                            <a:schemeClr val="bg1"/>
                          </a:solidFill>
                          <a:effectLst/>
                        </a:rPr>
                        <a:t>Key Feature</a:t>
                      </a:r>
                    </a:p>
                  </a:txBody>
                  <a:tcPr marL="104659" marR="74757" marT="149513" marB="149513" anchor="ctr"/>
                </a:tc>
                <a:tc>
                  <a:txBody>
                    <a:bodyPr/>
                    <a:lstStyle/>
                    <a:p>
                      <a:pPr rtl="0" fontAlgn="b">
                        <a:buNone/>
                      </a:pPr>
                      <a:r>
                        <a:rPr lang="en-US" sz="2300" b="1" cap="none" spc="0" dirty="0">
                          <a:solidFill>
                            <a:schemeClr val="bg1"/>
                          </a:solidFill>
                          <a:effectLst/>
                        </a:rPr>
                        <a:t>Pros</a:t>
                      </a:r>
                    </a:p>
                  </a:txBody>
                  <a:tcPr marL="104659" marR="74757" marT="149513" marB="149513" anchor="ctr"/>
                </a:tc>
                <a:tc>
                  <a:txBody>
                    <a:bodyPr/>
                    <a:lstStyle/>
                    <a:p>
                      <a:pPr rtl="0" fontAlgn="b">
                        <a:buNone/>
                      </a:pPr>
                      <a:r>
                        <a:rPr lang="en-US" sz="2300" b="1" cap="none" spc="0">
                          <a:solidFill>
                            <a:schemeClr val="bg1"/>
                          </a:solidFill>
                          <a:effectLst/>
                        </a:rPr>
                        <a:t>Cons</a:t>
                      </a:r>
                    </a:p>
                  </a:txBody>
                  <a:tcPr marL="104659" marR="74757" marT="149513" marB="149513" anchor="ctr"/>
                </a:tc>
                <a:extLst>
                  <a:ext uri="{0D108BD9-81ED-4DB2-BD59-A6C34878D82A}">
                    <a16:rowId xmlns:a16="http://schemas.microsoft.com/office/drawing/2014/main" val="3694552441"/>
                  </a:ext>
                </a:extLst>
              </a:tr>
              <a:tr h="1434342">
                <a:tc>
                  <a:txBody>
                    <a:bodyPr/>
                    <a:lstStyle/>
                    <a:p>
                      <a:pPr rtl="0" fontAlgn="b">
                        <a:buNone/>
                      </a:pPr>
                      <a:r>
                        <a:rPr lang="en-US" sz="2000" cap="none" spc="0">
                          <a:solidFill>
                            <a:schemeClr val="tx1"/>
                          </a:solidFill>
                          <a:effectLst/>
                        </a:rPr>
                        <a:t>NVIDIA Jetson Orin Nano</a:t>
                      </a:r>
                    </a:p>
                  </a:txBody>
                  <a:tcPr marL="104659" marR="74757" marT="8609" marB="149513" anchor="b"/>
                </a:tc>
                <a:tc>
                  <a:txBody>
                    <a:bodyPr/>
                    <a:lstStyle/>
                    <a:p>
                      <a:pPr rtl="0" fontAlgn="b">
                        <a:buNone/>
                      </a:pPr>
                      <a:r>
                        <a:rPr lang="en-US" sz="2000" cap="none" spc="0">
                          <a:solidFill>
                            <a:schemeClr val="tx1"/>
                          </a:solidFill>
                          <a:effectLst/>
                        </a:rPr>
                        <a:t>Integrated Ampere GPU</a:t>
                      </a:r>
                    </a:p>
                  </a:txBody>
                  <a:tcPr marL="104659" marR="74757" marT="8609" marB="149513" anchor="b"/>
                </a:tc>
                <a:tc>
                  <a:txBody>
                    <a:bodyPr/>
                    <a:lstStyle/>
                    <a:p>
                      <a:pPr rtl="0" fontAlgn="b">
                        <a:buNone/>
                      </a:pPr>
                      <a:r>
                        <a:rPr lang="en-US" sz="2000" cap="none" spc="0">
                          <a:solidFill>
                            <a:schemeClr val="tx1"/>
                          </a:solidFill>
                          <a:effectLst/>
                        </a:rPr>
                        <a:t>Most powerful, direct software path from research, mature AI ecosystem.</a:t>
                      </a:r>
                    </a:p>
                  </a:txBody>
                  <a:tcPr marL="104659" marR="74757" marT="8609" marB="149513" anchor="b"/>
                </a:tc>
                <a:tc>
                  <a:txBody>
                    <a:bodyPr/>
                    <a:lstStyle/>
                    <a:p>
                      <a:pPr rtl="0" fontAlgn="b">
                        <a:buNone/>
                      </a:pPr>
                      <a:r>
                        <a:rPr lang="en-US" sz="2000" cap="none" spc="0" dirty="0">
                          <a:solidFill>
                            <a:schemeClr val="tx1"/>
                          </a:solidFill>
                          <a:effectLst/>
                        </a:rPr>
                        <a:t>Higher cost, slightly higher power draw.</a:t>
                      </a:r>
                    </a:p>
                  </a:txBody>
                  <a:tcPr marL="104659" marR="74757" marT="8609" marB="149513" anchor="b"/>
                </a:tc>
                <a:extLst>
                  <a:ext uri="{0D108BD9-81ED-4DB2-BD59-A6C34878D82A}">
                    <a16:rowId xmlns:a16="http://schemas.microsoft.com/office/drawing/2014/main" val="3503212837"/>
                  </a:ext>
                </a:extLst>
              </a:tr>
              <a:tr h="1434342">
                <a:tc>
                  <a:txBody>
                    <a:bodyPr/>
                    <a:lstStyle/>
                    <a:p>
                      <a:pPr rtl="0" fontAlgn="b">
                        <a:buNone/>
                      </a:pPr>
                      <a:r>
                        <a:rPr lang="en-US" sz="2000" cap="none" spc="0" dirty="0">
                          <a:solidFill>
                            <a:schemeClr val="tx1"/>
                          </a:solidFill>
                          <a:effectLst/>
                        </a:rPr>
                        <a:t>Raspberry Pi 5 + Coral USB</a:t>
                      </a:r>
                    </a:p>
                  </a:txBody>
                  <a:tcPr marL="104659" marR="74757" marT="8609" marB="149513" anchor="b"/>
                </a:tc>
                <a:tc>
                  <a:txBody>
                    <a:bodyPr/>
                    <a:lstStyle/>
                    <a:p>
                      <a:pPr rtl="0" fontAlgn="b">
                        <a:buNone/>
                      </a:pPr>
                      <a:r>
                        <a:rPr lang="en-US" sz="2000" cap="none" spc="0">
                          <a:solidFill>
                            <a:schemeClr val="tx1"/>
                          </a:solidFill>
                          <a:effectLst/>
                        </a:rPr>
                        <a:t>Modular (SBC + Accelerator)</a:t>
                      </a:r>
                    </a:p>
                  </a:txBody>
                  <a:tcPr marL="104659" marR="74757" marT="8609" marB="149513" anchor="b"/>
                </a:tc>
                <a:tc>
                  <a:txBody>
                    <a:bodyPr/>
                    <a:lstStyle/>
                    <a:p>
                      <a:pPr rtl="0" fontAlgn="b">
                        <a:buNone/>
                      </a:pPr>
                      <a:r>
                        <a:rPr lang="en-US" sz="2000" cap="none" spc="0">
                          <a:solidFill>
                            <a:schemeClr val="tx1"/>
                          </a:solidFill>
                          <a:effectLst/>
                        </a:rPr>
                        <a:t>Lowest cost, highly flexible, large community support.</a:t>
                      </a:r>
                    </a:p>
                  </a:txBody>
                  <a:tcPr marL="104659" marR="74757" marT="8609" marB="149513" anchor="b"/>
                </a:tc>
                <a:tc>
                  <a:txBody>
                    <a:bodyPr/>
                    <a:lstStyle/>
                    <a:p>
                      <a:pPr rtl="0" fontAlgn="b">
                        <a:buNone/>
                      </a:pPr>
                      <a:r>
                        <a:rPr lang="en-US" sz="2000" cap="none" spc="0" dirty="0">
                          <a:solidFill>
                            <a:schemeClr val="tx1"/>
                          </a:solidFill>
                          <a:effectLst/>
                        </a:rPr>
                        <a:t>More complex setup, potential for USB bottlenecks, less integrated.</a:t>
                      </a:r>
                    </a:p>
                  </a:txBody>
                  <a:tcPr marL="104659" marR="74757" marT="8609" marB="149513" anchor="b"/>
                </a:tc>
                <a:extLst>
                  <a:ext uri="{0D108BD9-81ED-4DB2-BD59-A6C34878D82A}">
                    <a16:rowId xmlns:a16="http://schemas.microsoft.com/office/drawing/2014/main" val="1448933509"/>
                  </a:ext>
                </a:extLst>
              </a:tr>
            </a:tbl>
          </a:graphicData>
        </a:graphic>
      </p:graphicFrame>
    </p:spTree>
    <p:extLst>
      <p:ext uri="{BB962C8B-B14F-4D97-AF65-F5344CB8AC3E}">
        <p14:creationId xmlns:p14="http://schemas.microsoft.com/office/powerpoint/2010/main" val="2922219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B37E6-5F8D-3C29-6B34-DC1C04777C51}"/>
              </a:ext>
            </a:extLst>
          </p:cNvPr>
          <p:cNvSpPr>
            <a:spLocks noGrp="1"/>
          </p:cNvSpPr>
          <p:nvPr>
            <p:ph type="title"/>
          </p:nvPr>
        </p:nvSpPr>
        <p:spPr/>
        <p:txBody>
          <a:bodyPr/>
          <a:lstStyle/>
          <a:p>
            <a:r>
              <a:rPr lang="en-US" dirty="0"/>
              <a:t>Possible Improvement</a:t>
            </a:r>
          </a:p>
        </p:txBody>
      </p:sp>
      <p:pic>
        <p:nvPicPr>
          <p:cNvPr id="5" name="Content Placeholder 4">
            <a:extLst>
              <a:ext uri="{FF2B5EF4-FFF2-40B4-BE49-F238E27FC236}">
                <a16:creationId xmlns:a16="http://schemas.microsoft.com/office/drawing/2014/main" id="{0B187F44-6094-52ED-A36E-725A904652CA}"/>
              </a:ext>
            </a:extLst>
          </p:cNvPr>
          <p:cNvPicPr>
            <a:picLocks noGrp="1" noChangeAspect="1"/>
          </p:cNvPicPr>
          <p:nvPr>
            <p:ph idx="1"/>
          </p:nvPr>
        </p:nvPicPr>
        <p:blipFill>
          <a:blip r:embed="rId2"/>
          <a:stretch>
            <a:fillRect/>
          </a:stretch>
        </p:blipFill>
        <p:spPr>
          <a:xfrm>
            <a:off x="769590" y="1898133"/>
            <a:ext cx="6090905" cy="4022725"/>
          </a:xfrm>
          <a:prstGeom prst="rect">
            <a:avLst/>
          </a:prstGeom>
        </p:spPr>
      </p:pic>
      <p:sp>
        <p:nvSpPr>
          <p:cNvPr id="6" name="TextBox 5">
            <a:extLst>
              <a:ext uri="{FF2B5EF4-FFF2-40B4-BE49-F238E27FC236}">
                <a16:creationId xmlns:a16="http://schemas.microsoft.com/office/drawing/2014/main" id="{27878C6F-405A-E914-D988-8A45AE54D038}"/>
              </a:ext>
            </a:extLst>
          </p:cNvPr>
          <p:cNvSpPr txBox="1"/>
          <p:nvPr/>
        </p:nvSpPr>
        <p:spPr>
          <a:xfrm>
            <a:off x="683288" y="5807948"/>
            <a:ext cx="3376246" cy="369332"/>
          </a:xfrm>
          <a:prstGeom prst="rect">
            <a:avLst/>
          </a:prstGeom>
          <a:noFill/>
        </p:spPr>
        <p:txBody>
          <a:bodyPr wrap="square" rtlCol="0">
            <a:spAutoFit/>
          </a:bodyPr>
          <a:lstStyle/>
          <a:p>
            <a:r>
              <a:rPr lang="en-US" dirty="0">
                <a:hlinkClick r:id="rId3"/>
              </a:rPr>
              <a:t>Product link</a:t>
            </a:r>
            <a:endParaRPr lang="en-US" dirty="0"/>
          </a:p>
        </p:txBody>
      </p:sp>
      <p:sp>
        <p:nvSpPr>
          <p:cNvPr id="8" name="TextBox 7">
            <a:extLst>
              <a:ext uri="{FF2B5EF4-FFF2-40B4-BE49-F238E27FC236}">
                <a16:creationId xmlns:a16="http://schemas.microsoft.com/office/drawing/2014/main" id="{1701D7B1-8430-9226-84D8-B3366FE3CF2C}"/>
              </a:ext>
            </a:extLst>
          </p:cNvPr>
          <p:cNvSpPr txBox="1"/>
          <p:nvPr/>
        </p:nvSpPr>
        <p:spPr>
          <a:xfrm>
            <a:off x="6755363" y="1898133"/>
            <a:ext cx="4870580" cy="3785652"/>
          </a:xfrm>
          <a:prstGeom prst="rect">
            <a:avLst/>
          </a:prstGeom>
          <a:noFill/>
        </p:spPr>
        <p:txBody>
          <a:bodyPr wrap="square" rtlCol="0">
            <a:spAutoFit/>
          </a:bodyPr>
          <a:lstStyle/>
          <a:p>
            <a:pPr marL="342900" indent="-342900">
              <a:buFont typeface="+mj-lt"/>
              <a:buAutoNum type="arabicPeriod"/>
            </a:pPr>
            <a:r>
              <a:rPr lang="en-US" sz="2400" dirty="0"/>
              <a:t>Coral USB Accelerator can help AI model computational task.</a:t>
            </a:r>
          </a:p>
          <a:p>
            <a:pPr marL="342900" indent="-342900">
              <a:buFont typeface="+mj-lt"/>
              <a:buAutoNum type="arabicPeriod"/>
            </a:pPr>
            <a:r>
              <a:rPr lang="en-US" sz="2400" dirty="0"/>
              <a:t>Also improve power consumption issue, which the original Raspberry Pi 5 has when running AI models.</a:t>
            </a:r>
          </a:p>
          <a:p>
            <a:pPr marL="342900" indent="-342900">
              <a:buFont typeface="+mj-lt"/>
              <a:buAutoNum type="arabicPeriod"/>
            </a:pPr>
            <a:r>
              <a:rPr lang="en-US" sz="2400" dirty="0"/>
              <a:t>This solves the issue of the weak performance issue of Raspberry Pi 5 on AI models.</a:t>
            </a:r>
          </a:p>
          <a:p>
            <a:pPr marL="342900" indent="-342900">
              <a:buFont typeface="+mj-lt"/>
              <a:buAutoNum type="arabicPeriod"/>
            </a:pPr>
            <a:r>
              <a:rPr lang="en-US" sz="2400" dirty="0"/>
              <a:t>Cost is around 2500 NTD</a:t>
            </a:r>
          </a:p>
        </p:txBody>
      </p:sp>
    </p:spTree>
    <p:extLst>
      <p:ext uri="{BB962C8B-B14F-4D97-AF65-F5344CB8AC3E}">
        <p14:creationId xmlns:p14="http://schemas.microsoft.com/office/powerpoint/2010/main" val="1476122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0FA5D-05EB-46E8-18F2-BE1B6221D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0810D-74F4-6F2C-2BDC-9D636215193D}"/>
              </a:ext>
            </a:extLst>
          </p:cNvPr>
          <p:cNvSpPr>
            <a:spLocks noGrp="1"/>
          </p:cNvSpPr>
          <p:nvPr>
            <p:ph type="title"/>
          </p:nvPr>
        </p:nvSpPr>
        <p:spPr/>
        <p:txBody>
          <a:bodyPr/>
          <a:lstStyle/>
          <a:p>
            <a:r>
              <a:rPr lang="en-US" dirty="0"/>
              <a:t>Ethical Framework</a:t>
            </a:r>
          </a:p>
        </p:txBody>
      </p:sp>
      <p:sp>
        <p:nvSpPr>
          <p:cNvPr id="3" name="Content Placeholder 2">
            <a:extLst>
              <a:ext uri="{FF2B5EF4-FFF2-40B4-BE49-F238E27FC236}">
                <a16:creationId xmlns:a16="http://schemas.microsoft.com/office/drawing/2014/main" id="{4EE79B57-D93C-860D-1522-45B5EA357D53}"/>
              </a:ext>
            </a:extLst>
          </p:cNvPr>
          <p:cNvSpPr>
            <a:spLocks noGrp="1"/>
          </p:cNvSpPr>
          <p:nvPr>
            <p:ph idx="1"/>
          </p:nvPr>
        </p:nvSpPr>
        <p:spPr/>
        <p:txBody>
          <a:bodyPr>
            <a:normAutofit/>
          </a:bodyPr>
          <a:lstStyle/>
          <a:p>
            <a:pPr marL="457200" indent="-457200">
              <a:buFont typeface="+mj-lt"/>
              <a:buAutoNum type="arabicPeriod"/>
            </a:pPr>
            <a:r>
              <a:rPr lang="en-US" sz="2400" dirty="0"/>
              <a:t>Informed Consent: Obtaining written consent from all participants.</a:t>
            </a:r>
          </a:p>
          <a:p>
            <a:pPr marL="457200" indent="-457200">
              <a:buFont typeface="+mj-lt"/>
              <a:buAutoNum type="arabicPeriod"/>
            </a:pPr>
            <a:r>
              <a:rPr lang="en-US" sz="2400" dirty="0"/>
              <a:t>Data Security: Ensuring data is de-identified, encrypted, and stored in compliance with regulations like Taiwan's Personal Data Protection Act.</a:t>
            </a:r>
          </a:p>
          <a:p>
            <a:pPr marL="457200" indent="-457200">
              <a:buFont typeface="+mj-lt"/>
              <a:buAutoNum type="arabicPeriod"/>
            </a:pPr>
            <a:r>
              <a:rPr lang="en-US" sz="2400" dirty="0"/>
              <a:t>Minimizing Harm: Training the research team and providing support resources for participants.</a:t>
            </a:r>
          </a:p>
          <a:p>
            <a:pPr marL="457200" indent="-457200">
              <a:buFont typeface="+mj-lt"/>
              <a:buAutoNum type="arabicPeriod"/>
            </a:pPr>
            <a:r>
              <a:rPr lang="en-US" sz="2400" dirty="0"/>
              <a:t>Ethical Approval: Submitting the protocol for review by Tatung University.</a:t>
            </a:r>
          </a:p>
        </p:txBody>
      </p:sp>
    </p:spTree>
    <p:extLst>
      <p:ext uri="{BB962C8B-B14F-4D97-AF65-F5344CB8AC3E}">
        <p14:creationId xmlns:p14="http://schemas.microsoft.com/office/powerpoint/2010/main" val="346114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2ED1E-8D54-506C-7B83-414BA57EBDC7}"/>
              </a:ext>
            </a:extLst>
          </p:cNvPr>
          <p:cNvSpPr>
            <a:spLocks noGrp="1"/>
          </p:cNvSpPr>
          <p:nvPr>
            <p:ph type="title"/>
          </p:nvPr>
        </p:nvSpPr>
        <p:spPr/>
        <p:txBody>
          <a:bodyPr/>
          <a:lstStyle/>
          <a:p>
            <a:r>
              <a:rPr lang="en-US" b="1" dirty="0"/>
              <a:t>Potential Challenges</a:t>
            </a:r>
            <a:endParaRPr lang="en-US" dirty="0"/>
          </a:p>
        </p:txBody>
      </p:sp>
      <p:sp>
        <p:nvSpPr>
          <p:cNvPr id="3" name="Content Placeholder 2">
            <a:extLst>
              <a:ext uri="{FF2B5EF4-FFF2-40B4-BE49-F238E27FC236}">
                <a16:creationId xmlns:a16="http://schemas.microsoft.com/office/drawing/2014/main" id="{2DA7E1F7-B4B1-1BC8-F7EF-C91828D3D2AF}"/>
              </a:ext>
            </a:extLst>
          </p:cNvPr>
          <p:cNvSpPr>
            <a:spLocks noGrp="1"/>
          </p:cNvSpPr>
          <p:nvPr>
            <p:ph idx="1"/>
          </p:nvPr>
        </p:nvSpPr>
        <p:spPr/>
        <p:txBody>
          <a:bodyPr>
            <a:normAutofit fontScale="92500" lnSpcReduction="20000"/>
          </a:bodyPr>
          <a:lstStyle/>
          <a:p>
            <a:pPr lvl="1"/>
            <a:r>
              <a:rPr lang="en-US" sz="2800" dirty="0"/>
              <a:t>Surrounding Light Impact on the </a:t>
            </a:r>
            <a:r>
              <a:rPr lang="en-US" sz="2800" dirty="0" err="1"/>
              <a:t>rPPG</a:t>
            </a:r>
            <a:r>
              <a:rPr lang="en-US" sz="2800" dirty="0"/>
              <a:t> detection</a:t>
            </a:r>
            <a:endParaRPr lang="en-US" sz="2400" dirty="0"/>
          </a:p>
          <a:p>
            <a:pPr lvl="2"/>
            <a:r>
              <a:rPr lang="en-US" sz="2000" dirty="0"/>
              <a:t>Normal RGB cameras are going to be heavily influenced by the environmental lighting. In bright environment and dark environment, the RGB camera will have unreliable readings for the detections. With prior experience, NIR cameras can greatly reduce the influence of the bright environment. But the actual performance still needs to be tested.</a:t>
            </a:r>
          </a:p>
          <a:p>
            <a:pPr lvl="1"/>
            <a:r>
              <a:rPr lang="en-US" sz="2800" dirty="0"/>
              <a:t>High computational load</a:t>
            </a:r>
            <a:endParaRPr lang="en-US" sz="2400" dirty="0"/>
          </a:p>
          <a:p>
            <a:pPr lvl="2"/>
            <a:r>
              <a:rPr lang="en-US" sz="2000" dirty="0"/>
              <a:t>The model runs two tasks in parallel which could cause high computation load. To address this issue, knowledge distillation could reduce computation power by transferring knowledge learned by larger model to a smaller and efficient model. </a:t>
            </a:r>
            <a:r>
              <a:rPr lang="en-US" altLang="zh-TW" sz="2000" dirty="0"/>
              <a:t>(Knowledge distillation)</a:t>
            </a:r>
            <a:r>
              <a:rPr lang="en-US" sz="2000" dirty="0"/>
              <a:t>This enables the smaller model to have faster inference and deployment of less powerful hardware.</a:t>
            </a:r>
          </a:p>
          <a:p>
            <a:pPr lvl="1"/>
            <a:r>
              <a:rPr lang="en-US" sz="2800" dirty="0"/>
              <a:t>Lack of real time responsiveness</a:t>
            </a:r>
            <a:endParaRPr lang="en-US" sz="2400" dirty="0"/>
          </a:p>
          <a:p>
            <a:pPr lvl="2"/>
            <a:r>
              <a:rPr lang="en-US" sz="2000" dirty="0"/>
              <a:t>The proposed approach lacks real time responsiveness because of high computational load which causes latency during inference. Implementing knowledge distillation could reduce inference time.</a:t>
            </a:r>
          </a:p>
          <a:p>
            <a:endParaRPr lang="en-US" dirty="0"/>
          </a:p>
        </p:txBody>
      </p:sp>
    </p:spTree>
    <p:extLst>
      <p:ext uri="{BB962C8B-B14F-4D97-AF65-F5344CB8AC3E}">
        <p14:creationId xmlns:p14="http://schemas.microsoft.com/office/powerpoint/2010/main" val="3681359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72C26-AFC8-5775-2AEF-EEEA747C2CCB}"/>
              </a:ext>
            </a:extLst>
          </p:cNvPr>
          <p:cNvSpPr>
            <a:spLocks noGrp="1"/>
          </p:cNvSpPr>
          <p:nvPr>
            <p:ph type="title"/>
          </p:nvPr>
        </p:nvSpPr>
        <p:spPr/>
        <p:txBody>
          <a:bodyPr/>
          <a:lstStyle/>
          <a:p>
            <a:r>
              <a:rPr lang="en-US" b="1" dirty="0"/>
              <a:t>Hypothesis</a:t>
            </a:r>
            <a:endParaRPr lang="en-US" dirty="0"/>
          </a:p>
        </p:txBody>
      </p:sp>
      <p:sp>
        <p:nvSpPr>
          <p:cNvPr id="3" name="Content Placeholder 2">
            <a:extLst>
              <a:ext uri="{FF2B5EF4-FFF2-40B4-BE49-F238E27FC236}">
                <a16:creationId xmlns:a16="http://schemas.microsoft.com/office/drawing/2014/main" id="{19180D67-5C24-ACA0-3728-AAC5F5BB0920}"/>
              </a:ext>
            </a:extLst>
          </p:cNvPr>
          <p:cNvSpPr>
            <a:spLocks noGrp="1"/>
          </p:cNvSpPr>
          <p:nvPr>
            <p:ph idx="1"/>
          </p:nvPr>
        </p:nvSpPr>
        <p:spPr/>
        <p:txBody>
          <a:bodyPr/>
          <a:lstStyle/>
          <a:p>
            <a:pPr marL="457200" indent="-457200">
              <a:buFont typeface="+mj-lt"/>
              <a:buAutoNum type="arabicPeriod"/>
            </a:pPr>
            <a:r>
              <a:rPr lang="en-US" sz="2800" dirty="0"/>
              <a:t>The proposed approach enhances drivers’ safety on the road with the help of the monitoring system. RPPG and heartbeat detection can help determine whether the drivers are in good driving condition. The warning system can help warn drivers whenever drivers have subpar driving conditions. Drivers will have safer road experience when using this system while driving.</a:t>
            </a:r>
          </a:p>
          <a:p>
            <a:endParaRPr lang="en-US" b="1" dirty="0"/>
          </a:p>
        </p:txBody>
      </p:sp>
    </p:spTree>
    <p:extLst>
      <p:ext uri="{BB962C8B-B14F-4D97-AF65-F5344CB8AC3E}">
        <p14:creationId xmlns:p14="http://schemas.microsoft.com/office/powerpoint/2010/main" val="35081003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E7E3E482-A96A-4668-9E6D-3F37EFA9339D}"/>
              </a:ext>
            </a:extLst>
          </p:cNvPr>
          <p:cNvSpPr>
            <a:spLocks noGrp="1"/>
          </p:cNvSpPr>
          <p:nvPr>
            <p:ph type="title"/>
          </p:nvPr>
        </p:nvSpPr>
        <p:spPr/>
        <p:txBody>
          <a:bodyPr/>
          <a:lstStyle/>
          <a:p>
            <a:r>
              <a:rPr lang="en-US" altLang="zh-TW" dirty="0"/>
              <a:t>Project</a:t>
            </a:r>
            <a:r>
              <a:rPr lang="zh-TW" altLang="en-US" dirty="0"/>
              <a:t> </a:t>
            </a:r>
            <a:r>
              <a:rPr lang="en-US" altLang="zh-TW" dirty="0"/>
              <a:t>Timeline</a:t>
            </a:r>
            <a:endParaRPr lang="zh-TW" altLang="en-US" dirty="0"/>
          </a:p>
        </p:txBody>
      </p:sp>
      <p:sp>
        <p:nvSpPr>
          <p:cNvPr id="5" name="文字版面配置區 4">
            <a:extLst>
              <a:ext uri="{FF2B5EF4-FFF2-40B4-BE49-F238E27FC236}">
                <a16:creationId xmlns:a16="http://schemas.microsoft.com/office/drawing/2014/main" id="{5D7B7FFA-452B-4152-87AD-14E02191CB2B}"/>
              </a:ext>
            </a:extLst>
          </p:cNvPr>
          <p:cNvSpPr>
            <a:spLocks noGrp="1"/>
          </p:cNvSpPr>
          <p:nvPr>
            <p:ph type="body" idx="1"/>
          </p:nvPr>
        </p:nvSpPr>
        <p:spPr/>
        <p:txBody>
          <a:bodyPr>
            <a:normAutofit fontScale="47500" lnSpcReduction="20000"/>
          </a:bodyPr>
          <a:lstStyle/>
          <a:p>
            <a:r>
              <a:rPr lang="en-US" altLang="zh-TW" dirty="0">
                <a:solidFill>
                  <a:schemeClr val="bg1">
                    <a:lumMod val="75000"/>
                  </a:schemeClr>
                </a:solidFill>
              </a:rPr>
              <a:t>1.</a:t>
            </a:r>
            <a:r>
              <a:rPr lang="zh-TW" altLang="en-US" dirty="0">
                <a:solidFill>
                  <a:schemeClr val="bg1">
                    <a:lumMod val="75000"/>
                  </a:schemeClr>
                </a:solidFill>
              </a:rPr>
              <a:t> </a:t>
            </a:r>
            <a:r>
              <a:rPr lang="en-US" altLang="zh-TW" dirty="0">
                <a:solidFill>
                  <a:schemeClr val="bg1">
                    <a:lumMod val="75000"/>
                  </a:schemeClr>
                </a:solidFill>
              </a:rPr>
              <a:t>Introduction</a:t>
            </a:r>
          </a:p>
          <a:p>
            <a:r>
              <a:rPr lang="en-US" altLang="zh-TW" dirty="0">
                <a:solidFill>
                  <a:schemeClr val="bg1">
                    <a:lumMod val="75000"/>
                  </a:schemeClr>
                </a:solidFill>
              </a:rPr>
              <a:t>2.</a:t>
            </a:r>
            <a:r>
              <a:rPr lang="zh-TW" altLang="en-US" dirty="0">
                <a:solidFill>
                  <a:schemeClr val="bg1">
                    <a:lumMod val="75000"/>
                  </a:schemeClr>
                </a:solidFill>
              </a:rPr>
              <a:t> </a:t>
            </a:r>
            <a:r>
              <a:rPr lang="en-US" altLang="zh-TW" dirty="0">
                <a:solidFill>
                  <a:schemeClr val="bg1">
                    <a:lumMod val="75000"/>
                  </a:schemeClr>
                </a:solidFill>
              </a:rPr>
              <a:t>Research Methodology</a:t>
            </a:r>
          </a:p>
          <a:p>
            <a:r>
              <a:rPr lang="en-US" altLang="zh-TW" sz="2300" dirty="0">
                <a:solidFill>
                  <a:schemeClr val="bg1">
                    <a:lumMod val="75000"/>
                  </a:schemeClr>
                </a:solidFill>
              </a:rPr>
              <a:t>3.</a:t>
            </a:r>
            <a:r>
              <a:rPr lang="zh-TW" altLang="en-US" sz="2300" dirty="0">
                <a:solidFill>
                  <a:schemeClr val="bg1">
                    <a:lumMod val="75000"/>
                  </a:schemeClr>
                </a:solidFill>
              </a:rPr>
              <a:t> </a:t>
            </a:r>
            <a:r>
              <a:rPr lang="en-US" altLang="zh-TW" sz="2300" dirty="0">
                <a:solidFill>
                  <a:schemeClr val="bg1">
                    <a:lumMod val="75000"/>
                  </a:schemeClr>
                </a:solidFill>
              </a:rPr>
              <a:t>Project resource</a:t>
            </a:r>
          </a:p>
          <a:p>
            <a:r>
              <a:rPr lang="en-US" altLang="zh-TW" sz="2300" dirty="0"/>
              <a:t>4.</a:t>
            </a:r>
            <a:r>
              <a:rPr lang="zh-TW" altLang="en-US" sz="2300" dirty="0"/>
              <a:t> </a:t>
            </a:r>
            <a:r>
              <a:rPr lang="en-US" altLang="zh-TW" sz="2000" dirty="0"/>
              <a:t>Project</a:t>
            </a:r>
            <a:r>
              <a:rPr lang="zh-TW" altLang="en-US" sz="2000" dirty="0"/>
              <a:t> </a:t>
            </a:r>
            <a:r>
              <a:rPr lang="en-US" altLang="zh-TW" sz="2000" dirty="0"/>
              <a:t>Timeline</a:t>
            </a:r>
            <a:endParaRPr lang="zh-TW" altLang="en-US" sz="2000" dirty="0"/>
          </a:p>
          <a:p>
            <a:endParaRPr lang="zh-TW" altLang="en-US" sz="2300" dirty="0"/>
          </a:p>
          <a:p>
            <a:endParaRPr lang="zh-TW" altLang="en-US" dirty="0"/>
          </a:p>
        </p:txBody>
      </p:sp>
    </p:spTree>
    <p:extLst>
      <p:ext uri="{BB962C8B-B14F-4D97-AF65-F5344CB8AC3E}">
        <p14:creationId xmlns:p14="http://schemas.microsoft.com/office/powerpoint/2010/main" val="12512205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5CF19-F9C9-DA45-902F-0626F941B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2586-0462-2132-5E4A-682950CBAB1B}"/>
              </a:ext>
            </a:extLst>
          </p:cNvPr>
          <p:cNvSpPr>
            <a:spLocks noGrp="1"/>
          </p:cNvSpPr>
          <p:nvPr>
            <p:ph type="title"/>
          </p:nvPr>
        </p:nvSpPr>
        <p:spPr/>
        <p:txBody>
          <a:bodyPr/>
          <a:lstStyle/>
          <a:p>
            <a:r>
              <a:rPr lang="en-US" dirty="0"/>
              <a:t>Phase 1: Planning and Development (Aug - Dec 2025)</a:t>
            </a:r>
          </a:p>
        </p:txBody>
      </p:sp>
      <p:sp>
        <p:nvSpPr>
          <p:cNvPr id="3" name="Content Placeholder 2">
            <a:extLst>
              <a:ext uri="{FF2B5EF4-FFF2-40B4-BE49-F238E27FC236}">
                <a16:creationId xmlns:a16="http://schemas.microsoft.com/office/drawing/2014/main" id="{6D1FCCC8-1574-02C6-A650-EF294FE697C8}"/>
              </a:ext>
            </a:extLst>
          </p:cNvPr>
          <p:cNvSpPr>
            <a:spLocks noGrp="1"/>
          </p:cNvSpPr>
          <p:nvPr>
            <p:ph idx="1"/>
          </p:nvPr>
        </p:nvSpPr>
        <p:spPr/>
        <p:txBody>
          <a:bodyPr/>
          <a:lstStyle/>
          <a:p>
            <a:r>
              <a:rPr lang="en-US" dirty="0"/>
              <a:t>This initial phase focuses on laying the foundational groundwork for the project.</a:t>
            </a:r>
          </a:p>
          <a:p>
            <a:r>
              <a:rPr lang="en-US" b="1" dirty="0"/>
              <a:t>Research &amp; Ethics:</a:t>
            </a:r>
            <a:r>
              <a:rPr lang="en-US" dirty="0"/>
              <a:t> Conduct a comprehensive literature review, survey existing intellectual property, and establish ethical data collection protocols.</a:t>
            </a:r>
          </a:p>
          <a:p>
            <a:r>
              <a:rPr lang="en-US" b="1" dirty="0"/>
              <a:t>Prototype Development:</a:t>
            </a:r>
            <a:r>
              <a:rPr lang="en-US" dirty="0"/>
              <a:t> Assemble the core hardware system, including the RGB camera, IR camera, Raspberry Pi, and Pulse Oximeter.</a:t>
            </a:r>
          </a:p>
          <a:p>
            <a:r>
              <a:rPr lang="en-US" b="1" dirty="0"/>
              <a:t>Algorithmic Design:</a:t>
            </a:r>
            <a:r>
              <a:rPr lang="en-US" dirty="0"/>
              <a:t> Develop and fine-tune the CNN, LSTM, NN, and </a:t>
            </a:r>
            <a:r>
              <a:rPr lang="en-US" dirty="0" err="1"/>
              <a:t>rPPG</a:t>
            </a:r>
            <a:r>
              <a:rPr lang="en-US" dirty="0"/>
              <a:t> algorithms for monitoring driver readiness.</a:t>
            </a:r>
          </a:p>
          <a:p>
            <a:r>
              <a:rPr lang="en-US" b="1" dirty="0"/>
              <a:t>Experimental Design:</a:t>
            </a:r>
            <a:r>
              <a:rPr lang="en-US" dirty="0"/>
              <a:t> Create a detailed framework for lab-based testing and simulated driving scenarios.</a:t>
            </a:r>
          </a:p>
        </p:txBody>
      </p:sp>
    </p:spTree>
    <p:extLst>
      <p:ext uri="{BB962C8B-B14F-4D97-AF65-F5344CB8AC3E}">
        <p14:creationId xmlns:p14="http://schemas.microsoft.com/office/powerpoint/2010/main" val="441787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9CE98-9418-650E-6CDE-0C28B31C8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CC4E4-71C0-1641-9551-BD2F24C11DBF}"/>
              </a:ext>
            </a:extLst>
          </p:cNvPr>
          <p:cNvSpPr>
            <a:spLocks noGrp="1"/>
          </p:cNvSpPr>
          <p:nvPr>
            <p:ph type="title"/>
          </p:nvPr>
        </p:nvSpPr>
        <p:spPr/>
        <p:txBody>
          <a:bodyPr/>
          <a:lstStyle/>
          <a:p>
            <a:r>
              <a:rPr lang="en-US" dirty="0"/>
              <a:t>Phase 2: Testing and Analysis (Jan - Apr 2026)</a:t>
            </a:r>
          </a:p>
        </p:txBody>
      </p:sp>
      <p:sp>
        <p:nvSpPr>
          <p:cNvPr id="3" name="Content Placeholder 2">
            <a:extLst>
              <a:ext uri="{FF2B5EF4-FFF2-40B4-BE49-F238E27FC236}">
                <a16:creationId xmlns:a16="http://schemas.microsoft.com/office/drawing/2014/main" id="{A9E2527B-D963-494C-B9C8-8F36B2B6BBCB}"/>
              </a:ext>
            </a:extLst>
          </p:cNvPr>
          <p:cNvSpPr>
            <a:spLocks noGrp="1"/>
          </p:cNvSpPr>
          <p:nvPr>
            <p:ph idx="1"/>
          </p:nvPr>
        </p:nvSpPr>
        <p:spPr/>
        <p:txBody>
          <a:bodyPr/>
          <a:lstStyle/>
          <a:p>
            <a:r>
              <a:rPr lang="en-US" dirty="0"/>
              <a:t>This phase involves collecting and analyzing data in both controlled and real-world environments.</a:t>
            </a:r>
          </a:p>
          <a:p>
            <a:r>
              <a:rPr lang="en-US" b="1" dirty="0"/>
              <a:t>Data Collection:</a:t>
            </a:r>
            <a:r>
              <a:rPr lang="en-US" dirty="0"/>
              <a:t> Gather data from participants in a simulated lab environment, followed by field testing in real-world driving conditions.</a:t>
            </a:r>
          </a:p>
          <a:p>
            <a:r>
              <a:rPr lang="en-US" b="1" dirty="0"/>
              <a:t>Multi-modal Analysis:</a:t>
            </a:r>
            <a:r>
              <a:rPr lang="en-US" dirty="0"/>
              <a:t> Apply machine learning algorithms to classify driver readiness and identify potential issues.</a:t>
            </a:r>
          </a:p>
          <a:p>
            <a:r>
              <a:rPr lang="en-US" b="1" dirty="0"/>
              <a:t>User Assessment:</a:t>
            </a:r>
            <a:r>
              <a:rPr lang="en-US" dirty="0"/>
              <a:t> Collect qualitative feedback from participants to assess the system's usability and identify areas for improvement.</a:t>
            </a:r>
          </a:p>
        </p:txBody>
      </p:sp>
    </p:spTree>
    <p:extLst>
      <p:ext uri="{BB962C8B-B14F-4D97-AF65-F5344CB8AC3E}">
        <p14:creationId xmlns:p14="http://schemas.microsoft.com/office/powerpoint/2010/main" val="3892521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AA9A2-7785-9893-E34A-CFE28D405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CA7C8-F753-AC56-8FC8-09A957AEBB15}"/>
              </a:ext>
            </a:extLst>
          </p:cNvPr>
          <p:cNvSpPr>
            <a:spLocks noGrp="1"/>
          </p:cNvSpPr>
          <p:nvPr>
            <p:ph type="title"/>
          </p:nvPr>
        </p:nvSpPr>
        <p:spPr>
          <a:xfrm>
            <a:off x="1037564" y="531846"/>
            <a:ext cx="10621969" cy="1259632"/>
          </a:xfrm>
        </p:spPr>
        <p:txBody>
          <a:bodyPr>
            <a:normAutofit fontScale="90000"/>
          </a:bodyPr>
          <a:lstStyle/>
          <a:p>
            <a:r>
              <a:rPr lang="en-US" altLang="zh-TW" dirty="0"/>
              <a:t>Phase</a:t>
            </a:r>
            <a:r>
              <a:rPr lang="en-US" dirty="0"/>
              <a:t> 3: Prototype Enhancement &amp; Dissemination (May - July 2026)</a:t>
            </a:r>
          </a:p>
        </p:txBody>
      </p:sp>
      <p:sp>
        <p:nvSpPr>
          <p:cNvPr id="3" name="Content Placeholder 2">
            <a:extLst>
              <a:ext uri="{FF2B5EF4-FFF2-40B4-BE49-F238E27FC236}">
                <a16:creationId xmlns:a16="http://schemas.microsoft.com/office/drawing/2014/main" id="{7D0264A6-16EB-A337-14D0-8E04C334EA8F}"/>
              </a:ext>
            </a:extLst>
          </p:cNvPr>
          <p:cNvSpPr>
            <a:spLocks noGrp="1"/>
          </p:cNvSpPr>
          <p:nvPr>
            <p:ph idx="1"/>
          </p:nvPr>
        </p:nvSpPr>
        <p:spPr>
          <a:xfrm>
            <a:off x="1037564" y="1883056"/>
            <a:ext cx="10058400" cy="4023360"/>
          </a:xfrm>
        </p:spPr>
        <p:txBody>
          <a:bodyPr/>
          <a:lstStyle/>
          <a:p>
            <a:r>
              <a:rPr lang="en-US" dirty="0"/>
              <a:t>The final phase focuses on validating the system's performance and sharing the project's findings.</a:t>
            </a:r>
          </a:p>
          <a:p>
            <a:r>
              <a:rPr lang="en-US" b="1" dirty="0"/>
              <a:t>Validation:</a:t>
            </a:r>
            <a:r>
              <a:rPr lang="en-US" dirty="0"/>
              <a:t> Compare your system's performance against existing technologies and use statistical methods to validate your results.</a:t>
            </a:r>
          </a:p>
          <a:p>
            <a:r>
              <a:rPr lang="en-US" b="1" dirty="0"/>
              <a:t>Dissemination:</a:t>
            </a:r>
            <a:r>
              <a:rPr lang="en-US" dirty="0"/>
              <a:t> Prepare academic papers, conference presentations, and materials for stakeholders in the automotive industry.</a:t>
            </a:r>
          </a:p>
          <a:p>
            <a:r>
              <a:rPr lang="en-US" b="1" dirty="0"/>
              <a:t>Intellectual Property:</a:t>
            </a:r>
            <a:r>
              <a:rPr lang="en-US" dirty="0"/>
              <a:t> File a patent for the new AI driving monitoring system.</a:t>
            </a:r>
          </a:p>
        </p:txBody>
      </p:sp>
    </p:spTree>
    <p:extLst>
      <p:ext uri="{BB962C8B-B14F-4D97-AF65-F5344CB8AC3E}">
        <p14:creationId xmlns:p14="http://schemas.microsoft.com/office/powerpoint/2010/main" val="3690122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042B28EC-4535-5B78-80BE-090C530FFDCA}"/>
              </a:ext>
            </a:extLst>
          </p:cNvPr>
          <p:cNvPicPr>
            <a:picLocks noGrp="1" noChangeAspect="1"/>
          </p:cNvPicPr>
          <p:nvPr>
            <p:ph idx="1"/>
          </p:nvPr>
        </p:nvPicPr>
        <p:blipFill>
          <a:blip r:embed="rId2"/>
          <a:stretch>
            <a:fillRect/>
          </a:stretch>
        </p:blipFill>
        <p:spPr>
          <a:xfrm>
            <a:off x="994888" y="0"/>
            <a:ext cx="10199077" cy="6833383"/>
          </a:xfrm>
          <a:prstGeom prst="rect">
            <a:avLst/>
          </a:prstGeom>
        </p:spPr>
      </p:pic>
    </p:spTree>
    <p:extLst>
      <p:ext uri="{BB962C8B-B14F-4D97-AF65-F5344CB8AC3E}">
        <p14:creationId xmlns:p14="http://schemas.microsoft.com/office/powerpoint/2010/main" val="1476524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621E5CF1-4EA0-4957-8804-19C2DF8D9635}"/>
              </a:ext>
            </a:extLst>
          </p:cNvPr>
          <p:cNvSpPr>
            <a:spLocks noGrp="1"/>
          </p:cNvSpPr>
          <p:nvPr>
            <p:ph type="title"/>
          </p:nvPr>
        </p:nvSpPr>
        <p:spPr/>
        <p:txBody>
          <a:bodyPr/>
          <a:lstStyle/>
          <a:p>
            <a:br>
              <a:rPr lang="en-US" altLang="zh-TW" dirty="0"/>
            </a:br>
            <a:br>
              <a:rPr lang="en-US" altLang="zh-TW" dirty="0"/>
            </a:br>
            <a:r>
              <a:rPr lang="en-US" altLang="zh-TW" dirty="0"/>
              <a:t>Thank you</a:t>
            </a:r>
            <a:endParaRPr lang="zh-TW" altLang="en-US" dirty="0"/>
          </a:p>
        </p:txBody>
      </p:sp>
      <p:sp>
        <p:nvSpPr>
          <p:cNvPr id="3" name="文字版面配置區 2">
            <a:extLst>
              <a:ext uri="{FF2B5EF4-FFF2-40B4-BE49-F238E27FC236}">
                <a16:creationId xmlns:a16="http://schemas.microsoft.com/office/drawing/2014/main" id="{5A4AED1B-E0C5-47C0-A2DE-BA52DE1B0E1D}"/>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1664623368"/>
      </p:ext>
    </p:extLst>
  </p:cSld>
  <p:clrMapOvr>
    <a:masterClrMapping/>
  </p:clrMapOvr>
</p:sld>
</file>

<file path=ppt/theme/theme1.xml><?xml version="1.0" encoding="utf-8"?>
<a:theme xmlns:a="http://schemas.openxmlformats.org/drawingml/2006/main" name="回顧">
  <a:themeElements>
    <a:clrScheme name="回顧">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6365</TotalTime>
  <Words>2136</Words>
  <Application>Microsoft Office PowerPoint</Application>
  <PresentationFormat>Widescreen</PresentationFormat>
  <Paragraphs>178</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Arial Black</vt:lpstr>
      <vt:lpstr>Calibri</vt:lpstr>
      <vt:lpstr>Wingdings</vt:lpstr>
      <vt:lpstr>回顧</vt:lpstr>
      <vt:lpstr>AI Driving Monitoring System</vt:lpstr>
      <vt:lpstr>Table of Contents</vt:lpstr>
      <vt:lpstr>Introduction</vt:lpstr>
      <vt:lpstr>Introduction</vt:lpstr>
      <vt:lpstr>Project Objectives</vt:lpstr>
      <vt:lpstr>Research Methodology</vt:lpstr>
      <vt:lpstr>Research Methodology</vt:lpstr>
      <vt:lpstr>PowerPoint Presentation</vt:lpstr>
      <vt:lpstr>Project Resource</vt:lpstr>
      <vt:lpstr>Project Resource</vt:lpstr>
      <vt:lpstr>Project Resource</vt:lpstr>
      <vt:lpstr>Datasets</vt:lpstr>
      <vt:lpstr>Camera</vt:lpstr>
      <vt:lpstr>Camera</vt:lpstr>
      <vt:lpstr>Camera</vt:lpstr>
      <vt:lpstr>Edge computing device</vt:lpstr>
      <vt:lpstr>Edge Device</vt:lpstr>
      <vt:lpstr>Media Pipe Face Tracking</vt:lpstr>
      <vt:lpstr>RPPG</vt:lpstr>
      <vt:lpstr>PowerPoint Presentation</vt:lpstr>
      <vt:lpstr>Edge Device</vt:lpstr>
      <vt:lpstr>PowerPoint Presentation</vt:lpstr>
      <vt:lpstr>Possible Improvement</vt:lpstr>
      <vt:lpstr>Ethical Framework</vt:lpstr>
      <vt:lpstr>Potential Challenges</vt:lpstr>
      <vt:lpstr>Hypothesis</vt:lpstr>
      <vt:lpstr>Project Timeline</vt:lpstr>
      <vt:lpstr>Phase 1: Planning and Development (Aug - Dec 2025)</vt:lpstr>
      <vt:lpstr>Phase 2: Testing and Analysis (Jan - Apr 2026)</vt:lpstr>
      <vt:lpstr>Phase 3: Prototype Enhancement &amp; Dissemination (May - July 2026)</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LAB308</dc:creator>
  <cp:lastModifiedBy>張善為</cp:lastModifiedBy>
  <cp:revision>44</cp:revision>
  <dcterms:created xsi:type="dcterms:W3CDTF">2025-03-06T09:30:02Z</dcterms:created>
  <dcterms:modified xsi:type="dcterms:W3CDTF">2025-12-12T06:11:56Z</dcterms:modified>
</cp:coreProperties>
</file>