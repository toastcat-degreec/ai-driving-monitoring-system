
<file path=[Content_Types].xml><?xml version="1.0" encoding="utf-8"?>
<Types xmlns="http://schemas.openxmlformats.org/package/2006/content-types">
  <Default Extension="jpeg" ContentType="image/jpeg"/>
  <Default Extension="png" ContentType="image/png"/>
  <Default Extension="ppm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7" r:id="rId29"/>
  </p:sldIdLst>
  <p:sldSz cx="12192000" cy="6858000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482" autoAdjust="0"/>
  </p:normalViewPr>
  <p:slideViewPr>
    <p:cSldViewPr snapToGrid="0" snapToObjects="1">
      <p:cViewPr varScale="1">
        <p:scale>
          <a:sx n="64" d="100"/>
          <a:sy n="64" d="100"/>
        </p:scale>
        <p:origin x="139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3100653-E858-45E0-BB40-0A573E8B963C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7BA5C4A-B4E8-407F-BC49-0985E0FC4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  <a:spcAft>
                    <a:spcPts val="611"/>
                  </a:spcAft>
                </a:pPr>
                <a:r>
                  <a:rPr lang="en-US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b="1" dirty="0">
                    <a:solidFill>
                      <a:srgbClr val="505050"/>
                    </a:solidFill>
                    <a:latin typeface="Arial"/>
                  </a:rPr>
                  <a:t>Specular Reflection (C_s)</a:t>
                </a:r>
                <a:r>
                  <a:rPr lang="en-US" dirty="0">
                    <a:solidFill>
                      <a:srgbClr val="505050"/>
                    </a:solidFill>
                    <a:latin typeface="Arial"/>
                  </a:rPr>
                  <a:t>: Surface boundary reflection (achromatic noise) containing zero pulse data.</a:t>
                </a:r>
              </a:p>
              <a:p>
                <a:pPr>
                  <a:lnSpc>
                    <a:spcPct val="120000"/>
                  </a:lnSpc>
                  <a:spcAft>
                    <a:spcPts val="611"/>
                  </a:spcAft>
                </a:pPr>
                <a:r>
                  <a:rPr lang="en-US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b="1" dirty="0">
                    <a:solidFill>
                      <a:srgbClr val="505050"/>
                    </a:solidFill>
                    <a:latin typeface="Arial"/>
                  </a:rPr>
                  <a:t>Body (Diffuse) Reflection (</a:t>
                </a:r>
                <a:r>
                  <a:rPr lang="en-US" b="1" dirty="0" err="1">
                    <a:solidFill>
                      <a:srgbClr val="505050"/>
                    </a:solidFill>
                    <a:latin typeface="Arial"/>
                  </a:rPr>
                  <a:t>C_b</a:t>
                </a:r>
                <a:r>
                  <a:rPr lang="en-US" b="1" dirty="0">
                    <a:solidFill>
                      <a:srgbClr val="505050"/>
                    </a:solidFill>
                    <a:latin typeface="Arial"/>
                  </a:rPr>
                  <a:t>)</a:t>
                </a:r>
                <a:r>
                  <a:rPr lang="en-US" dirty="0">
                    <a:solidFill>
                      <a:srgbClr val="505050"/>
                    </a:solidFill>
                    <a:latin typeface="Arial"/>
                  </a:rPr>
                  <a:t>: Light penetrates the epidermis, scatters in dermis, and carries the pulse.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: The observed light intensity (or captured camera signal)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for wavelength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The time-varying illumination intensity (changes in the environmental light source).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The specular reflection modulation (the surface glare on the skin, which does </a:t>
                </a:r>
                <a:r>
                  <a:rPr lang="en-US" i="1" dirty="0"/>
                  <a:t>not</a:t>
                </a:r>
                <a:r>
                  <a:rPr lang="en-US" dirty="0"/>
                  <a:t> contain the pulse signal).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: The color spectrum of the specular reflection (typically identical to the light source color).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The diffuse/body reflection modulation (the light scattered beneath the skin, which contains the vital </a:t>
                </a:r>
                <a:r>
                  <a:rPr lang="en-US" b="1" dirty="0"/>
                  <a:t>blood volume pulse</a:t>
                </a:r>
                <a:r>
                  <a:rPr lang="en-US" dirty="0"/>
                  <a:t> signal).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: The color spectrum of the diffuse reflection (the baseline skin tissue color).</a:t>
                </a:r>
              </a:p>
              <a:p>
                <a:pPr>
                  <a:lnSpc>
                    <a:spcPct val="120000"/>
                  </a:lnSpc>
                  <a:spcAft>
                    <a:spcPts val="611"/>
                  </a:spcAft>
                </a:pPr>
                <a:endParaRPr lang="en-US" dirty="0">
                  <a:solidFill>
                    <a:srgbClr val="50505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1200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sz="1200" b="1" dirty="0">
                    <a:solidFill>
                      <a:srgbClr val="505050"/>
                    </a:solidFill>
                    <a:latin typeface="Arial"/>
                  </a:rPr>
                  <a:t>Specular Reflection (C_s)</a:t>
                </a:r>
                <a:r>
                  <a:rPr lang="en-US" sz="1200" dirty="0">
                    <a:solidFill>
                      <a:srgbClr val="505050"/>
                    </a:solidFill>
                    <a:latin typeface="Arial"/>
                  </a:rPr>
                  <a:t>: Surface boundary reflection (achromatic noise) containing zero pulse data.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sz="1200" b="1" dirty="0">
                    <a:solidFill>
                      <a:srgbClr val="D95319"/>
                    </a:solidFill>
                    <a:latin typeface="Arial"/>
                  </a:rPr>
                  <a:t>▷  </a:t>
                </a:r>
                <a:r>
                  <a:rPr lang="en-US" sz="1200" b="1" dirty="0">
                    <a:solidFill>
                      <a:srgbClr val="505050"/>
                    </a:solidFill>
                    <a:latin typeface="Arial"/>
                  </a:rPr>
                  <a:t>Body (Diffuse) Reflection (</a:t>
                </a:r>
                <a:r>
                  <a:rPr lang="en-US" sz="1200" b="1" dirty="0" err="1">
                    <a:solidFill>
                      <a:srgbClr val="505050"/>
                    </a:solidFill>
                    <a:latin typeface="Arial"/>
                  </a:rPr>
                  <a:t>C_b</a:t>
                </a:r>
                <a:r>
                  <a:rPr lang="en-US" sz="1200" b="1" dirty="0">
                    <a:solidFill>
                      <a:srgbClr val="505050"/>
                    </a:solidFill>
                    <a:latin typeface="Arial"/>
                  </a:rPr>
                  <a:t>)</a:t>
                </a:r>
                <a:r>
                  <a:rPr lang="en-US" sz="1200" dirty="0">
                    <a:solidFill>
                      <a:srgbClr val="505050"/>
                    </a:solidFill>
                    <a:latin typeface="Arial"/>
                  </a:rPr>
                  <a:t>: Light penetrates the epidermis, scatters in dermis, and carries the pulse.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𝐿(𝑡,𝜆)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observed light intensity (or captured camera signal) at time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 wavelength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𝐼(𝑡)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time-varying illumination intensity (changes in the environmental light source).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𝑚_𝑠 (𝑡)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specular reflection modulation (the surface glare on the skin, which does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contain the pulse signal).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𝐶_𝑠 (𝜆)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color spectrum of the specular reflection (typically identical to the light source color).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𝑚_𝑏 (𝑡)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diffuse/body reflection modulation (the light scattered beneath the skin, which contains the vital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blood volume pulse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signal).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𝐶_𝑏 (𝜆)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The color spectrum of the diffuse reflection (the baseline skin tissue color).</a:t>
                </a: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endParaRPr lang="en-US" sz="1200" dirty="0">
                  <a:solidFill>
                    <a:srgbClr val="505050"/>
                  </a:solidFill>
                  <a:latin typeface="Arial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sz="14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Tiered Multi-Modal Fusion Pipeline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: Integrates physiological and behavioral processing: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Part A: Signal Discovery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Face land-marking (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MediaPipe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), ROI extraction, and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YCrCb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chrominance masking.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Part B: Feature Refinement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POS projection, digital Butterworth filtering, and 1D-CNN feature extraction.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Part C: Temporal Fusion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Multi-Head Attention (MHA) +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BiLSTM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network for continuous state classification.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66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Google </a:t>
            </a:r>
            <a:r>
              <a:rPr lang="en-US" dirty="0" err="1"/>
              <a:t>MediaPipe</a:t>
            </a:r>
            <a:r>
              <a:rPr lang="en-US" dirty="0"/>
              <a:t> Face Mesh , 468 3D Landmarks (X,Y,Z),</a:t>
            </a:r>
            <a:r>
              <a:rPr lang="fr-FR" dirty="0"/>
              <a:t> Ultra-Fast (~6-8 ms on CPU), Near Zero (Temporal </a:t>
            </a:r>
            <a:r>
              <a:rPr lang="fr-FR" dirty="0" err="1"/>
              <a:t>Tracking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0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sz="14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sz="1400" b="1" dirty="0" err="1">
                <a:solidFill>
                  <a:srgbClr val="1E1E1E"/>
                </a:solidFill>
                <a:latin typeface="Arial"/>
              </a:rPr>
              <a:t>MediaPipe</a:t>
            </a:r>
            <a:r>
              <a:rPr lang="en-US" sz="1400" b="1" dirty="0">
                <a:solidFill>
                  <a:srgbClr val="1E1E1E"/>
                </a:solidFill>
                <a:latin typeface="Arial"/>
              </a:rPr>
              <a:t> Face Mesh</a:t>
            </a:r>
            <a:r>
              <a:rPr lang="en-US" sz="1400" dirty="0">
                <a:solidFill>
                  <a:srgbClr val="1E1E1E"/>
                </a:solidFill>
                <a:latin typeface="Arial"/>
              </a:rPr>
              <a:t>: Tracks 468 3D landmarks for real-time face tracking [19].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Chosen for optimized CPU inference speed, vital for achieving the 30 FPS target on standard edge computers.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91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Lighting Glare &amp; Shadow Artifacts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Non-uniform lighting makes fixed ROIs highly unreliable.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SNR-based Hard-Switching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Evaluates the signal quality of all 3 ROIs over a rolling window (N = 256 frames).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FFT-based Signal-to-Noise Ratio (SNR)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 inside the cardiac band (0.75 Hz - 3.0 Hz):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sz="11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sz="1100" b="1" dirty="0" err="1">
                <a:solidFill>
                  <a:srgbClr val="505050"/>
                </a:solidFill>
                <a:latin typeface="Arial"/>
              </a:rPr>
              <a:t>SNR_dB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 = 10 × log10( </a:t>
            </a:r>
            <a:r>
              <a:rPr lang="en-US" sz="1100" dirty="0" err="1">
                <a:solidFill>
                  <a:srgbClr val="505050"/>
                </a:solidFill>
                <a:latin typeface="Arial"/>
              </a:rPr>
              <a:t>P_pulse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 / (</a:t>
            </a:r>
            <a:r>
              <a:rPr lang="en-US" sz="1100" dirty="0" err="1">
                <a:solidFill>
                  <a:srgbClr val="505050"/>
                </a:solidFill>
                <a:latin typeface="Arial"/>
              </a:rPr>
              <a:t>P_total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 - </a:t>
            </a:r>
            <a:r>
              <a:rPr lang="en-US" sz="1100" dirty="0" err="1">
                <a:solidFill>
                  <a:srgbClr val="505050"/>
                </a:solidFill>
                <a:latin typeface="Arial"/>
              </a:rPr>
              <a:t>P_pulse</a:t>
            </a:r>
            <a:r>
              <a:rPr lang="en-US" sz="1100" dirty="0">
                <a:solidFill>
                  <a:srgbClr val="505050"/>
                </a:solidFill>
                <a:latin typeface="Arial"/>
              </a:rPr>
              <a:t>) )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Dynamic Region Pivoting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System dynamically switches to and selects the single ROI with the highest </a:t>
            </a:r>
            <a:r>
              <a:rPr lang="en-US" dirty="0" err="1">
                <a:solidFill>
                  <a:srgbClr val="1E1E1E"/>
                </a:solidFill>
                <a:latin typeface="Arial"/>
              </a:rPr>
              <a:t>SNR_dB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 for final 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endParaRPr lang="en-US" dirty="0"/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/>
              <a:t>Key Innovation vs. Soft-Weighting Baselines</a:t>
            </a:r>
            <a:endParaRPr lang="en-US" dirty="0">
              <a:solidFill>
                <a:srgbClr val="1E1E1E"/>
              </a:solidFill>
              <a:latin typeface="Arial"/>
            </a:endParaRP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>
                <a:solidFill>
                  <a:srgbClr val="1E1E1E"/>
                </a:solidFill>
                <a:latin typeface="Arial"/>
              </a:rPr>
              <a:t>Traditional methods average multiple regions [15], which allows noise from shadowed areas to propagate. 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>
                <a:solidFill>
                  <a:srgbClr val="1E1E1E"/>
                </a:solidFill>
                <a:latin typeface="Arial"/>
              </a:rPr>
              <a:t>Our hard-switching mechanism completely discards degraded regions, saving computational power and isolating the clean pulse.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r>
              <a:rPr lang="en-US" dirty="0"/>
              <a:t>[15] S. </a:t>
            </a:r>
            <a:r>
              <a:rPr lang="en-US" dirty="0" err="1"/>
              <a:t>Bobbia</a:t>
            </a:r>
            <a:r>
              <a:rPr lang="en-US" dirty="0"/>
              <a:t> et al., "Unsupervised skin tissue segmentation for remote photoplethysmography," Pattern </a:t>
            </a:r>
            <a:r>
              <a:rPr lang="en-US" dirty="0" err="1"/>
              <a:t>Recogn</a:t>
            </a:r>
            <a:r>
              <a:rPr lang="en-US" dirty="0"/>
              <a:t>. Lett., 2071.</a:t>
            </a:r>
          </a:p>
          <a:p>
            <a:pPr defTabSz="931774">
              <a:lnSpc>
                <a:spcPct val="120000"/>
              </a:lnSpc>
              <a:spcAft>
                <a:spcPts val="815"/>
              </a:spcAft>
              <a:defRPr/>
            </a:pPr>
            <a:endParaRPr lang="en-US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15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27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𝑝1 … 𝑝8, they represent the inner lip landmarks provided by </a:t>
            </a:r>
            <a:r>
              <a:rPr lang="en-US" dirty="0" err="1"/>
              <a:t>MediaPipe</a:t>
            </a:r>
            <a:r>
              <a:rPr lang="en-US" dirty="0"/>
              <a:t> Face Mesh. A sustained MAR above a threshold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calculating the standard deviation over a 60-frame window, this single scalar quantifies both head nodding (drowsiness) and</a:t>
            </a:r>
          </a:p>
          <a:p>
            <a:r>
              <a:rPr lang="en-US" dirty="0"/>
              <a:t>  │ head turning (distraction), serving as the 4th feature in our 7-vector fusion model."*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05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 and DC for modified </a:t>
            </a:r>
            <a:r>
              <a:rPr lang="en-US" dirty="0" err="1"/>
              <a:t>beerlambert</a:t>
            </a:r>
            <a:r>
              <a:rPr lang="en-US" dirty="0"/>
              <a:t> law(MBLL)</a:t>
            </a:r>
          </a:p>
          <a:p>
            <a:r>
              <a:rPr lang="en-US" dirty="0"/>
              <a:t>DC =brightness , AC= standard deviation of detrend signals</a:t>
            </a:r>
          </a:p>
          <a:p>
            <a:endParaRPr lang="en-US" dirty="0"/>
          </a:p>
          <a:p>
            <a:r>
              <a:rPr lang="en-US" dirty="0"/>
              <a:t> Oxygenated hemoglobin (</a:t>
            </a:r>
            <a:r>
              <a:rPr lang="en-US" dirty="0" err="1"/>
              <a:t>HbO</a:t>
            </a:r>
            <a:r>
              <a:rPr lang="en-US" dirty="0"/>
              <a:t>₂) and deoxygenated hemoglobin (Hb) absorb Red light (≈660 nm) and Blue/Green light (≈470 nm/530 nm) at drastically different rates</a:t>
            </a:r>
          </a:p>
          <a:p>
            <a:endParaRPr lang="en-US" dirty="0"/>
          </a:p>
          <a:p>
            <a:r>
              <a:rPr lang="en-US" dirty="0"/>
              <a:t> 1. High SpO₂ (Well-oxygenated): </a:t>
            </a:r>
            <a:r>
              <a:rPr lang="en-US" dirty="0" err="1"/>
              <a:t>HbO</a:t>
            </a:r>
            <a:r>
              <a:rPr lang="en-US" dirty="0"/>
              <a:t>₂ absorbs less Red light → Red AC fluctuation is lower relative to DC.</a:t>
            </a:r>
          </a:p>
          <a:p>
            <a:r>
              <a:rPr lang="en-US" dirty="0"/>
              <a:t> 2. Low SpO₂ (Hypoxia / Drowsiness): Hb absorbs more Red light → Red AC fluctuation increases relative to DC.</a:t>
            </a:r>
          </a:p>
          <a:p>
            <a:r>
              <a:rPr lang="en-US" dirty="0"/>
              <a:t> By taking the Ratio of Ratios (R) between the Red and Blue/Green channels, we isolate arterial oxygen saturation: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06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 "HRV measures the static beat-to-beat variability (SDNN), which varies between individuals."</a:t>
            </a:r>
          </a:p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  2. "HRV Delta measures the rate of change (Δ HRV), canceling out individual baseline differences."</a:t>
            </a:r>
          </a:p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  3. "HRV Delta detects parasympathetic nervous system shifts minutes before eyes close, acting as our primary predictive indicator (ρ = +0.84)."</a:t>
            </a:r>
          </a:p>
          <a:p>
            <a:pPr defTabSz="931774">
              <a:defRPr/>
            </a:pPr>
            <a:endParaRPr lang="en-US" b="1" dirty="0">
              <a:solidFill>
                <a:srgbClr val="D95319"/>
              </a:solidFill>
              <a:latin typeface="Arial"/>
            </a:endParaRPr>
          </a:p>
          <a:p>
            <a:pPr defTabSz="931774">
              <a:defRPr/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Layer 1: 64 hidden units, Layer 2: 32 hidden units (both return sequences). 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over a temporal context window of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T = 60 frames (2.0 seconds)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.</a:t>
            </a:r>
          </a:p>
          <a:p>
            <a:endParaRPr lang="en-US" dirty="0"/>
          </a:p>
          <a:p>
            <a:r>
              <a:rPr lang="en-US" dirty="0"/>
              <a:t>The skip connection allows gradients to flow directly during backpropagation, preventing vanishing gradients and ensuring that the original temporal features extracted by the </a:t>
            </a:r>
            <a:r>
              <a:rPr lang="en-US" dirty="0" err="1"/>
              <a:t>BiLSTM</a:t>
            </a:r>
            <a:r>
              <a:rPr lang="en-US" dirty="0"/>
              <a:t> are preserved alongside the attention weights."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08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Stage 1 (Normal Operations)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&lt;= 0.5. Stable physiology and regular blink patterns. Passive monitoring, no HMI warning.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Stage 2 (Fatigue Warning)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0.5 &lt;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&lt;= 0.8. Gradual drop in HRV Delta triggers localized haptic seat feedback and dashboard alerts.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Stage 3 (Critical Alert)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&gt; 0.8. Impending micro-sleep triggers high-decibel auditory alarms and integrates with ADAS for automatic braking.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28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guarantee real-time performance on standard CPUs without a GPU, we implemented Asynchronous Multi-Threading. The main thread handles 30 FPS video capture, </a:t>
            </a:r>
            <a:r>
              <a:rPr lang="en-US" dirty="0" err="1"/>
              <a:t>MediaPipe</a:t>
            </a:r>
            <a:r>
              <a:rPr lang="en-US" dirty="0"/>
              <a:t> facial landmarking, and dashboard rendering. Heavy deep learning inferences—specifically the 1D-CNN feature enhancement and 4-Head MHA-</a:t>
            </a:r>
            <a:r>
              <a:rPr lang="en-US" dirty="0" err="1"/>
              <a:t>BiLSTM</a:t>
            </a:r>
            <a:r>
              <a:rPr lang="en-US" dirty="0"/>
              <a:t> fusion—are offloaded to a background </a:t>
            </a:r>
            <a:r>
              <a:rPr lang="en-US" dirty="0" err="1"/>
              <a:t>AIBackgroundWorker</a:t>
            </a:r>
            <a:r>
              <a:rPr lang="en-US" dirty="0"/>
              <a:t> thread. Using a single-item queue (</a:t>
            </a:r>
            <a:r>
              <a:rPr lang="en-US" dirty="0" err="1"/>
              <a:t>maxsize</a:t>
            </a:r>
            <a:r>
              <a:rPr lang="en-US" dirty="0"/>
              <a:t>=1), unprocessed intermediate frames are dropped rather than buffered, completely preventing video lag or frame dropping in the driver camera feed.“</a:t>
            </a:r>
          </a:p>
          <a:p>
            <a:endParaRPr lang="en-US" dirty="0"/>
          </a:p>
          <a:p>
            <a:r>
              <a:rPr lang="en-US" dirty="0"/>
              <a:t>• Queue Management (</a:t>
            </a:r>
            <a:r>
              <a:rPr lang="en-US" dirty="0" err="1"/>
              <a:t>maxsize</a:t>
            </a:r>
            <a:r>
              <a:rPr lang="en-US" dirty="0"/>
              <a:t>=1):</a:t>
            </a:r>
          </a:p>
          <a:p>
            <a:r>
              <a:rPr lang="en-US" dirty="0"/>
              <a:t>  In main.py, </a:t>
            </a:r>
            <a:r>
              <a:rPr lang="en-US" dirty="0" err="1"/>
              <a:t>input_queue</a:t>
            </a:r>
            <a:r>
              <a:rPr lang="en-US" dirty="0"/>
              <a:t> = Queue(</a:t>
            </a:r>
            <a:r>
              <a:rPr lang="en-US" dirty="0" err="1"/>
              <a:t>maxsize</a:t>
            </a:r>
            <a:r>
              <a:rPr lang="en-US" dirty="0"/>
              <a:t>=1). If the worker thread is busy computing, the main thread skips putting</a:t>
            </a:r>
          </a:p>
          <a:p>
            <a:r>
              <a:rPr lang="en-US" dirty="0"/>
              <a:t>  new frames into the queue, ensuring the system never accumulates a frame buffer lag over hours of driving.</a:t>
            </a:r>
          </a:p>
          <a:p>
            <a:r>
              <a:rPr lang="en-US" dirty="0"/>
              <a:t>  • Explicit CPU Device Allocation:</a:t>
            </a:r>
          </a:p>
          <a:p>
            <a:r>
              <a:rPr lang="en-US" dirty="0"/>
              <a:t>  In main.py, with </a:t>
            </a:r>
            <a:r>
              <a:rPr lang="en-US" dirty="0" err="1"/>
              <a:t>tf.device</a:t>
            </a:r>
            <a:r>
              <a:rPr lang="en-US" dirty="0"/>
              <a:t>('/cpu:0'): locks inference execution to dedicated CPU threads, preventing GPU context-</a:t>
            </a:r>
          </a:p>
          <a:p>
            <a:r>
              <a:rPr lang="en-US" dirty="0"/>
              <a:t>  switching overhead and reducing CPU utilization to &lt;12%.</a:t>
            </a:r>
          </a:p>
          <a:p>
            <a:r>
              <a:rPr lang="en-US" dirty="0"/>
              <a:t>  • Thread Safety (</a:t>
            </a:r>
            <a:r>
              <a:rPr lang="en-US" dirty="0" err="1"/>
              <a:t>task_done</a:t>
            </a:r>
            <a:r>
              <a:rPr lang="en-US" dirty="0"/>
              <a:t>()):</a:t>
            </a:r>
          </a:p>
          <a:p>
            <a:r>
              <a:rPr lang="en-US" dirty="0"/>
              <a:t>  Results are passed back safely to </a:t>
            </a:r>
            <a:r>
              <a:rPr lang="en-US" dirty="0" err="1"/>
              <a:t>dash_data</a:t>
            </a:r>
            <a:r>
              <a:rPr lang="en-US" dirty="0"/>
              <a:t> using atomic dictionary updates (</a:t>
            </a:r>
            <a:r>
              <a:rPr lang="en-US" dirty="0" err="1"/>
              <a:t>worker.results.update</a:t>
            </a:r>
            <a:r>
              <a:rPr lang="en-US" dirty="0"/>
              <a:t>(...)), ensuring</a:t>
            </a:r>
          </a:p>
          <a:p>
            <a:r>
              <a:rPr lang="en-US" dirty="0"/>
              <a:t>  zero UI screen flicker.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8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/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NTHU-DDD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13,299 sequences covering diverse lighting conditions, facial occlusions, and head movements, used for fusion network training</a:t>
            </a:r>
          </a:p>
          <a:p>
            <a:pPr defTabSz="931774"/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UBFC-</a:t>
            </a:r>
            <a:r>
              <a:rPr lang="en-US" b="1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N=50 subjects with synchronized contact oximeter ground-truth readings, used for validating non-contact physiological extraction [24].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501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05050"/>
                </a:solidFill>
                <a:latin typeface="Arial"/>
              </a:rPr>
              <a:t>Recall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99.78%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 (Critical for safety: guarantees that potential micro-sleeps are almost never missed).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17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1 (Geometric Transient)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Prioritizes the Pose Variance spike to catch rapid distraction movements.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2 (Physiological Gradient)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Tracks basal Heart Rate increase and autonomic nervous shifts.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3 (Signal Quality Verification)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Monitors ROI SNR to check </a:t>
            </a:r>
            <a:r>
              <a:rPr lang="en-US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 signal validity.</a:t>
            </a:r>
          </a:p>
          <a:p>
            <a:pPr>
              <a:lnSpc>
                <a:spcPct val="120000"/>
              </a:lnSpc>
              <a:spcAft>
                <a:spcPts val="611"/>
              </a:spcAft>
            </a:pPr>
            <a:r>
              <a:rPr lang="en-US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Head 4 (Global State Monitoring)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 Maintains a diffuse baseline weighting for long-term consistency.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33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Modality Synchronization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Confirms spatial and temporal alignment of all 7 modalities in the 60-frame (2.0s) buffer.</a:t>
            </a:r>
          </a:p>
          <a:p>
            <a:pPr>
              <a:lnSpc>
                <a:spcPct val="120000"/>
              </a:lnSpc>
              <a:spcAft>
                <a:spcPts val="815"/>
              </a:spcAft>
            </a:pPr>
            <a:r>
              <a:rPr lang="en-US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b="1" dirty="0">
                <a:solidFill>
                  <a:srgbClr val="1E1E1E"/>
                </a:solidFill>
                <a:latin typeface="Arial"/>
              </a:rPr>
              <a:t>Biometric Waveform Fidelity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: The extracted physiological </a:t>
            </a:r>
            <a:r>
              <a:rPr lang="en-US" dirty="0" err="1">
                <a:solidFill>
                  <a:srgbClr val="1E1E1E"/>
                </a:solidFill>
                <a:latin typeface="Arial"/>
              </a:rPr>
              <a:t>rPPG</a:t>
            </a:r>
            <a:r>
              <a:rPr lang="en-US" dirty="0">
                <a:solidFill>
                  <a:srgbClr val="1E1E1E"/>
                </a:solidFill>
                <a:latin typeface="Arial"/>
              </a:rPr>
              <a:t> streams maintain distinct shapes and baseline stability under standard laboratory conditions.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A5C4A-B4E8-407F-BC49-0985E0FC4D6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9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pm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371600"/>
            <a:ext cx="11277295" cy="2011680"/>
          </a:xfrm>
          <a:prstGeom prst="round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0" rIns="457200" bIns="182880" rtlCol="0" anchor="ctr"/>
          <a:lstStyle/>
          <a:p>
            <a:pPr algn="ctr">
              <a:spcAft>
                <a:spcPts val="12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基於注意力機制多模態融合之穩健駕駛狀態監控系統</a:t>
            </a:r>
          </a:p>
          <a:p>
            <a:pPr algn="ctr">
              <a:defRPr sz="2000" b="1">
                <a:solidFill>
                  <a:srgbClr val="B4D2F5"/>
                </a:solidFill>
                <a:latin typeface="Arial"/>
              </a:defRPr>
            </a:pPr>
            <a:r>
              <a:t>A Robust Driver State Monitoring System Utilizing Attention-Based Multi-Modal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t>研 究 生：張善為 (Shang-Wei Chang)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E1E1E"/>
                </a:solidFill>
                <a:latin typeface="Arial"/>
              </a:defRPr>
            </a:pPr>
            <a:r>
              <a:t>指導教授：許超雲 教授 (Prof. Chau-Yun Hsu)  /  卓立 教授 (Prof. Cho Li)</a:t>
            </a:r>
          </a:p>
          <a:p>
            <a:pPr algn="ctr">
              <a:spcAft>
                <a:spcPts val="800"/>
              </a:spcAft>
              <a:defRPr sz="1600">
                <a:solidFill>
                  <a:srgbClr val="505050"/>
                </a:solidFill>
                <a:latin typeface="Arial"/>
              </a:defRPr>
            </a:pPr>
            <a:r>
              <a:t>大同大學 電機工程研究所 碩士學位論文口試</a:t>
            </a:r>
          </a:p>
          <a:p>
            <a:pPr algn="ctr">
              <a:defRPr sz="1400" b="1">
                <a:solidFill>
                  <a:srgbClr val="D95319"/>
                </a:solidFill>
                <a:latin typeface="Arial"/>
              </a:defRPr>
            </a:pPr>
            <a:r>
              <a:t>Thesis for Master of Science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1.  </a:t>
            </a:r>
            <a:r>
              <a:rPr sz="1800" b="1">
                <a:solidFill>
                  <a:srgbClr val="1E1E1E"/>
                </a:solidFill>
                <a:latin typeface="Arial"/>
              </a:rPr>
              <a:t>Background &amp; Motivation</a:t>
            </a:r>
            <a:r>
              <a:rPr sz="1800">
                <a:solidFill>
                  <a:srgbClr val="1E1E1E"/>
                </a:solidFill>
                <a:latin typeface="Arial"/>
              </a:rPr>
              <a:t>: The Reactive Gap &amp; Multi-Modal Fusion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2.  </a:t>
            </a:r>
            <a:r>
              <a:rPr sz="1800" b="1">
                <a:solidFill>
                  <a:srgbClr val="1E1E1E"/>
                </a:solidFill>
                <a:latin typeface="Arial"/>
              </a:rPr>
              <a:t>Proposed System Architecture</a:t>
            </a:r>
            <a:r>
              <a:rPr sz="1800">
                <a:solidFill>
                  <a:srgbClr val="1E1E1E"/>
                </a:solidFill>
                <a:latin typeface="Arial"/>
              </a:rPr>
              <a:t>: Tiered Real-Time Pipeline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3.  </a:t>
            </a:r>
            <a:r>
              <a:rPr sz="1800" b="1">
                <a:solidFill>
                  <a:srgbClr val="1E1E1E"/>
                </a:solidFill>
                <a:latin typeface="Arial"/>
              </a:rPr>
              <a:t>Part A</a:t>
            </a:r>
            <a:r>
              <a:rPr sz="1800">
                <a:solidFill>
                  <a:srgbClr val="1E1E1E"/>
                </a:solidFill>
                <a:latin typeface="Arial"/>
              </a:rPr>
              <a:t>: Signal Discovery &amp; SNR-based ROI-Switching Attention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4.  </a:t>
            </a:r>
            <a:r>
              <a:rPr sz="1800" b="1">
                <a:solidFill>
                  <a:srgbClr val="1E1E1E"/>
                </a:solidFill>
                <a:latin typeface="Arial"/>
              </a:rPr>
              <a:t>Part B</a:t>
            </a:r>
            <a:r>
              <a:rPr sz="1800">
                <a:solidFill>
                  <a:srgbClr val="1E1E1E"/>
                </a:solidFill>
                <a:latin typeface="Arial"/>
              </a:rPr>
              <a:t>: Feature Refinement &amp; Physiological Estimation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5.  </a:t>
            </a:r>
            <a:r>
              <a:rPr sz="1800" b="1">
                <a:solidFill>
                  <a:srgbClr val="1E1E1E"/>
                </a:solidFill>
                <a:latin typeface="Arial"/>
              </a:rPr>
              <a:t>Part C</a:t>
            </a:r>
            <a:r>
              <a:rPr sz="1800">
                <a:solidFill>
                  <a:srgbClr val="1E1E1E"/>
                </a:solidFill>
                <a:latin typeface="Arial"/>
              </a:rPr>
              <a:t>: Temporal Fusion with Multi-Head Attention (MHA)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6.  </a:t>
            </a:r>
            <a:r>
              <a:rPr sz="1800" b="1">
                <a:solidFill>
                  <a:srgbClr val="1E1E1E"/>
                </a:solidFill>
                <a:latin typeface="Arial"/>
              </a:rPr>
              <a:t>Experimental Setup &amp; Results</a:t>
            </a:r>
            <a:r>
              <a:rPr sz="1800">
                <a:solidFill>
                  <a:srgbClr val="1E1E1E"/>
                </a:solidFill>
                <a:latin typeface="Arial"/>
              </a:rPr>
              <a:t>: Ablation Studies, SOTA Comparison, XAI Projects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>
                <a:solidFill>
                  <a:srgbClr val="1E1E1E"/>
                </a:solidFill>
                <a:latin typeface="Arial"/>
              </a:rPr>
              <a:t>7.  </a:t>
            </a:r>
            <a:r>
              <a:rPr sz="1800" b="1">
                <a:solidFill>
                  <a:srgbClr val="1E1E1E"/>
                </a:solidFill>
                <a:latin typeface="Arial"/>
              </a:rPr>
              <a:t>Conclusion &amp; Future Work</a:t>
            </a:r>
            <a:r>
              <a:rPr sz="1800">
                <a:solidFill>
                  <a:srgbClr val="1E1E1E"/>
                </a:solidFill>
                <a:latin typeface="Arial"/>
              </a:rPr>
              <a:t>: Key Contributions and Edge Deployment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Background &amp; Motivation: The Reactive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[2] WHO, "Global status report on road safety 2023," 2023.   [3] R. Zhao et al., "Driver Fatigue Detection Based on BiLSTM-At and Multi-Source Fusion," J. Adv. Transp.,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Driver Drowsiness &amp; Distraction</a:t>
            </a:r>
            <a:r>
              <a:rPr sz="1800">
                <a:solidFill>
                  <a:srgbClr val="1E1E1E"/>
                </a:solidFill>
                <a:latin typeface="Arial"/>
              </a:rPr>
              <a:t>: Leading contributors to traffic accidents globally [2].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Reactive Gap of Ocular Systems</a:t>
            </a:r>
            <a:r>
              <a:rPr sz="1800">
                <a:solidFill>
                  <a:srgbClr val="1E1E1E"/>
                </a:solidFill>
                <a:latin typeface="Arial"/>
              </a:rPr>
              <a:t>: PERCLOS (EAR) and yawning (MAR) only manifest </a:t>
            </a:r>
            <a:r>
              <a:rPr sz="1800" b="1">
                <a:solidFill>
                  <a:srgbClr val="D95319"/>
                </a:solidFill>
                <a:latin typeface="Arial"/>
              </a:rPr>
              <a:t>after</a:t>
            </a:r>
            <a:r>
              <a:rPr sz="1800">
                <a:solidFill>
                  <a:srgbClr val="1E1E1E"/>
                </a:solidFill>
                <a:latin typeface="Arial"/>
              </a:rPr>
              <a:t> significant physiological decline has occurred [3].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Environmental Lighting Vulnerability</a:t>
            </a:r>
            <a:r>
              <a:rPr sz="1800">
                <a:solidFill>
                  <a:srgbClr val="1E1E1E"/>
                </a:solidFill>
                <a:latin typeface="Arial"/>
              </a:rPr>
              <a:t>: Ambient glare, darkness, sunglasses, and masks cause traditional vision landmarks to lose tracking or fail completely.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Proposed Solution</a:t>
            </a:r>
            <a:r>
              <a:rPr sz="1800">
                <a:solidFill>
                  <a:srgbClr val="1E1E1E"/>
                </a:solidFill>
                <a:latin typeface="Arial"/>
              </a:rPr>
              <a:t>: Fusing </a:t>
            </a:r>
            <a:r>
              <a:rPr sz="1800" b="1">
                <a:solidFill>
                  <a:srgbClr val="D95319"/>
                </a:solidFill>
                <a:latin typeface="Arial"/>
              </a:rPr>
              <a:t>internal</a:t>
            </a:r>
            <a:r>
              <a:rPr sz="1800">
                <a:solidFill>
                  <a:srgbClr val="1E1E1E"/>
                </a:solidFill>
                <a:latin typeface="Arial"/>
              </a:rPr>
              <a:t> physiological indicators (rPPG, HRV Delta) with </a:t>
            </a:r>
            <a:r>
              <a:rPr sz="1800" b="1">
                <a:solidFill>
                  <a:srgbClr val="D95319"/>
                </a:solidFill>
                <a:latin typeface="Arial"/>
              </a:rPr>
              <a:t>external</a:t>
            </a:r>
            <a:r>
              <a:rPr sz="1800">
                <a:solidFill>
                  <a:srgbClr val="1E1E1E"/>
                </a:solidFill>
                <a:latin typeface="Arial"/>
              </a:rPr>
              <a:t> behavioral cues to predict fatigue </a:t>
            </a:r>
            <a:r>
              <a:rPr sz="1800" b="1">
                <a:solidFill>
                  <a:srgbClr val="D95319"/>
                </a:solidFill>
                <a:latin typeface="Arial"/>
              </a:rPr>
              <a:t>before</a:t>
            </a:r>
            <a:r>
              <a:rPr sz="1800">
                <a:solidFill>
                  <a:srgbClr val="1E1E1E"/>
                </a:solidFill>
                <a:latin typeface="Arial"/>
              </a:rPr>
              <a:t> physical onset.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41148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The Research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E1E1E"/>
                </a:solidFill>
                <a:latin typeface="Arial"/>
              </a:rPr>
              <a:t>Establish a </a:t>
            </a:r>
            <a:r>
              <a:rPr sz="1300" b="1">
                <a:solidFill>
                  <a:srgbClr val="D95319"/>
                </a:solidFill>
                <a:latin typeface="Arial"/>
              </a:rPr>
              <a:t>fail-operational</a:t>
            </a:r>
            <a:r>
              <a:rPr sz="1300">
                <a:solidFill>
                  <a:srgbClr val="1E1E1E"/>
                </a:solidFill>
                <a:latin typeface="Arial"/>
              </a:rPr>
              <a:t> Driver Monitoring System (DMS) that maintains high diagnostic precision by dynamically balancing physiological and behavioral modalities under adverse lighting or sensor obstructions.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Theoretical Foundation: Optical Physics of rPPG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[1] W. Verkruysse et al., "Remote plethysmography using ambient light," Optics Express, 2008.   [4] A. Revanur et al., "The First Vision For Vitals (V4V) Challenge," in Proc. ICCV Workshops, 2021.   [5] S. J. Delpy et al., "Estimation of optical pathlength through tissue," Phys. Med. Biol., 1988.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943600" cy="42816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Remote Photoplethysmography (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rPPG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)</a:t>
            </a:r>
            <a:r>
              <a:rPr sz="1600" dirty="0">
                <a:solidFill>
                  <a:srgbClr val="1E1E1E"/>
                </a:solidFill>
                <a:latin typeface="Arial"/>
              </a:rPr>
              <a:t>: Extracts cardiac pulse from standard RGB cameras by capturing skin light reflection changes [1].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Dichromatic Reflection Model (DRM)</a:t>
            </a:r>
            <a:r>
              <a:rPr sz="1600" dirty="0">
                <a:solidFill>
                  <a:srgbClr val="1E1E1E"/>
                </a:solidFill>
                <a:latin typeface="Arial"/>
              </a:rPr>
              <a:t>: Shafer (1985) [4] defines skin radiance:</a:t>
            </a:r>
            <a:endParaRPr lang="en-US" sz="1600" dirty="0">
              <a:solidFill>
                <a:srgbClr val="1E1E1E"/>
              </a:solidFill>
              <a:latin typeface="Arial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n-US" sz="1600" dirty="0"/>
              <a:t>𝐿(𝑡, 𝜆) = 𝐼(𝑡) ⋅ (𝑚𝑠(𝑡) ⋅ 𝐶𝑠(𝜆) + 𝑚𝑏(𝑡) ⋅ 𝐶𝑏(𝜆))</a:t>
            </a:r>
            <a:endParaRPr sz="16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Specular Reflection </a:t>
            </a:r>
            <a:endParaRPr lang="en-US" sz="14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Body (Diffuse) Reflection </a:t>
            </a:r>
            <a:endParaRPr lang="en-US" sz="14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Modified Beer-Lambert Law (MBLL)</a:t>
            </a:r>
            <a:r>
              <a:rPr sz="1600" dirty="0">
                <a:solidFill>
                  <a:srgbClr val="1E1E1E"/>
                </a:solidFill>
                <a:latin typeface="Arial"/>
              </a:rPr>
              <a:t>: [5]: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dirty="0">
                <a:solidFill>
                  <a:srgbClr val="505050"/>
                </a:solidFill>
                <a:latin typeface="Arial"/>
              </a:rPr>
              <a:t>Blood volume changes (</a:t>
            </a:r>
            <a:r>
              <a:rPr sz="1400" b="1" dirty="0" err="1">
                <a:solidFill>
                  <a:srgbClr val="D95319"/>
                </a:solidFill>
                <a:latin typeface="Arial"/>
              </a:rPr>
              <a:t>Δc</a:t>
            </a:r>
            <a:r>
              <a:rPr sz="1400" dirty="0">
                <a:solidFill>
                  <a:srgbClr val="505050"/>
                </a:solidFill>
                <a:latin typeface="Arial"/>
              </a:rPr>
              <a:t>) during cardiac cycles modulate light absorption (AC signal).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Green Channel Selection</a:t>
            </a:r>
            <a:r>
              <a:rPr sz="1600" dirty="0">
                <a:solidFill>
                  <a:srgbClr val="1E1E1E"/>
                </a:solidFill>
                <a:latin typeface="Arial"/>
              </a:rPr>
              <a:t>: Strongest hemoglobin absorption peak (~530-570nm) and highest spatial resolution.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1: Optical Geometry of DRM skin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Theoretical Foundation: Evolution of rPPG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[1] W. Verkruysse et al., "Remote plethysmography using ambient light," Optics Express, 2008.   [6] M. Poh et al., "Non-contact, automated cardiac pulse measurements," Optics Express, 2010.   [7] G. de Haan and V. Jeanne, "Robust pulse rate from chrominance-based rPPG," IEEE Trans. Biomed. Eng., 2013.   [8] W. Wang et al., "Algorithmic Principles of Remote PPG," IEEE Trans. Biomed. Eng.,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726" y="1097280"/>
            <a:ext cx="11457769" cy="4507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Heuristic Phase (GREEN)</a:t>
            </a:r>
            <a:r>
              <a:rPr sz="1700" dirty="0">
                <a:solidFill>
                  <a:srgbClr val="1E1E1E"/>
                </a:solidFill>
                <a:latin typeface="Arial"/>
              </a:rPr>
              <a:t>: </a:t>
            </a:r>
            <a:r>
              <a:rPr sz="1700" dirty="0" err="1">
                <a:solidFill>
                  <a:srgbClr val="1E1E1E"/>
                </a:solidFill>
                <a:latin typeface="Arial"/>
              </a:rPr>
              <a:t>Verkruysse</a:t>
            </a:r>
            <a:r>
              <a:rPr sz="1700" dirty="0">
                <a:solidFill>
                  <a:srgbClr val="1E1E1E"/>
                </a:solidFill>
                <a:latin typeface="Arial"/>
              </a:rPr>
              <a:t> et al. (2008) [1] proved physiological signals reside in ambient reflected light.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Relies on the </a:t>
            </a:r>
            <a:r>
              <a:rPr sz="1700" b="1" dirty="0">
                <a:solidFill>
                  <a:srgbClr val="505050"/>
                </a:solidFill>
                <a:latin typeface="Arial"/>
              </a:rPr>
              <a:t>Green channel</a:t>
            </a:r>
            <a:r>
              <a:rPr sz="1700" dirty="0">
                <a:solidFill>
                  <a:srgbClr val="505050"/>
                </a:solidFill>
                <a:latin typeface="Arial"/>
              </a:rPr>
              <a:t> since hemoglobin absorption of green light (~530-570nm) yields the highest AC/DC SNR.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Critical drawback: Extremely vulnerable to illumination noise and head motion artifacts.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Statistical Phase (ICA/PCA)</a:t>
            </a:r>
            <a:r>
              <a:rPr sz="1700" dirty="0">
                <a:solidFill>
                  <a:srgbClr val="1E1E1E"/>
                </a:solidFill>
                <a:latin typeface="Arial"/>
              </a:rPr>
              <a:t>: Poh et al. (2010) [6] used Blind Source Separation (BSS).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Separates cardiac pulse from motion by decomposing RGB channels into independent source signals.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Critical drawback: Highly complex computation and 'physics-blind'; fails under dynamic cabin shadow shifts.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7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700" b="1" dirty="0">
                <a:solidFill>
                  <a:srgbClr val="1E1E1E"/>
                </a:solidFill>
                <a:latin typeface="Arial"/>
              </a:rPr>
              <a:t>Model-Based Projection Phase (CHROM/POS)</a:t>
            </a:r>
            <a:r>
              <a:rPr sz="1700" dirty="0">
                <a:solidFill>
                  <a:srgbClr val="1E1E1E"/>
                </a:solidFill>
                <a:latin typeface="Arial"/>
              </a:rPr>
              <a:t>: Explicit optical physics modeling.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de Haan &amp; Jeanne (2013) [7] (CHROM) &amp; Wang et al. (2017) [8] (POS).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Projects RGB vectors onto a plane orthogonal to the skin-tone vector, canceling specular motion noise.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7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700" dirty="0">
                <a:solidFill>
                  <a:srgbClr val="505050"/>
                </a:solidFill>
                <a:latin typeface="Arial"/>
              </a:rPr>
              <a:t>POS represents the hand-crafted SOTA, offering mathematical robustness against extreme driving rotations.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Theoretical Foundation: Physiological Markers (HRV)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[9] J. Kim, "Sustainable Real-Time Gaze Monitoring with YOLOX-based Attention," Exp. Syst. Appl., 2025.   [20] Task Force of the European Society of Cardiology and the North American Society of Pacing and Electrophysiology, "Heart rate variability: standards of measurement, physiological interpretation and clinical use," Circulation, 1996.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943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Autonomic Nervous System (ANS)</a:t>
            </a:r>
            <a:r>
              <a:rPr sz="1600">
                <a:solidFill>
                  <a:srgbClr val="1E1E1E"/>
                </a:solidFill>
                <a:latin typeface="Arial"/>
              </a:rPr>
              <a:t>: Heart Rate Variability (HRV) acts as a proxy for sympathovagal balance.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The Sympathovagal Shift</a:t>
            </a:r>
            <a:r>
              <a:rPr sz="1600">
                <a:solidFill>
                  <a:srgbClr val="1E1E1E"/>
                </a:solidFill>
                <a:latin typeface="Arial"/>
              </a:rPr>
              <a:t> during fatigue: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D95319"/>
                </a:solidFill>
                <a:latin typeface="Arial"/>
              </a:rPr>
              <a:t>▷  </a:t>
            </a:r>
            <a:r>
              <a:rPr sz="1400" b="1">
                <a:solidFill>
                  <a:srgbClr val="505050"/>
                </a:solidFill>
                <a:latin typeface="Arial"/>
              </a:rPr>
              <a:t>Alert State</a:t>
            </a:r>
            <a:r>
              <a:rPr sz="1400">
                <a:solidFill>
                  <a:srgbClr val="505050"/>
                </a:solidFill>
                <a:latin typeface="Arial"/>
              </a:rPr>
              <a:t>: </a:t>
            </a:r>
            <a:r>
              <a:rPr sz="1400" b="1">
                <a:solidFill>
                  <a:srgbClr val="D95319"/>
                </a:solidFill>
                <a:latin typeface="Arial"/>
              </a:rPr>
              <a:t>Sympathetic dominance</a:t>
            </a:r>
            <a:r>
              <a:rPr sz="1400">
                <a:solidFill>
                  <a:srgbClr val="505050"/>
                </a:solidFill>
                <a:latin typeface="Arial"/>
              </a:rPr>
              <a:t> → Low HRV and higher heart rate.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D95319"/>
                </a:solidFill>
                <a:latin typeface="Arial"/>
              </a:rPr>
              <a:t>▷  </a:t>
            </a:r>
            <a:r>
              <a:rPr sz="1400" b="1">
                <a:solidFill>
                  <a:srgbClr val="505050"/>
                </a:solidFill>
                <a:latin typeface="Arial"/>
              </a:rPr>
              <a:t>Drowsy State</a:t>
            </a:r>
            <a:r>
              <a:rPr sz="1400">
                <a:solidFill>
                  <a:srgbClr val="505050"/>
                </a:solidFill>
                <a:latin typeface="Arial"/>
              </a:rPr>
              <a:t>: Increased </a:t>
            </a:r>
            <a:r>
              <a:rPr sz="1400" b="1">
                <a:solidFill>
                  <a:srgbClr val="D95319"/>
                </a:solidFill>
                <a:latin typeface="Arial"/>
              </a:rPr>
              <a:t>parasympathetic (vagal) activity</a:t>
            </a:r>
            <a:r>
              <a:rPr sz="1400">
                <a:solidFill>
                  <a:srgbClr val="505050"/>
                </a:solidFill>
                <a:latin typeface="Arial"/>
              </a:rPr>
              <a:t>, causing variable R-R intervals.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Predictive Potential</a:t>
            </a:r>
            <a:r>
              <a:rPr sz="1600">
                <a:solidFill>
                  <a:srgbClr val="1E1E1E"/>
                </a:solidFill>
                <a:latin typeface="Arial"/>
              </a:rPr>
              <a:t>: Autonomic fluctuations precede physical drowsiness, providing early warnings [9].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0C3B6E"/>
                </a:solidFill>
                <a:latin typeface="Arial"/>
              </a:rPr>
              <a:t>▶  </a:t>
            </a:r>
            <a:r>
              <a:rPr sz="1600" b="1">
                <a:solidFill>
                  <a:srgbClr val="1E1E1E"/>
                </a:solidFill>
                <a:latin typeface="Arial"/>
              </a:rPr>
              <a:t>HRV Delta (SDNN Slope)</a:t>
            </a:r>
            <a:r>
              <a:rPr sz="1600">
                <a:solidFill>
                  <a:srgbClr val="1E1E1E"/>
                </a:solidFill>
                <a:latin typeface="Arial"/>
              </a:rPr>
              <a:t>: Formulated as the 7th feature to capture the </a:t>
            </a:r>
            <a:r>
              <a:rPr sz="1600" b="1">
                <a:solidFill>
                  <a:srgbClr val="D95319"/>
                </a:solidFill>
                <a:latin typeface="Arial"/>
              </a:rPr>
              <a:t>temporal slope of physiological decline</a:t>
            </a:r>
            <a:r>
              <a:rPr sz="1600">
                <a:solidFill>
                  <a:srgbClr val="1E1E1E"/>
                </a:solidFill>
                <a:latin typeface="Arial"/>
              </a:rPr>
              <a:t>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2: Sympathovagal Balance during Fatigue Transition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2. Proposed System Architecture: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96202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[19] C. Lugaresi et al., "MediaPipe: A Framework for Building Perception Pipelines," arXiv:1906.08172, 2019.   [21] M. Abadi et al., "TensorFlow: A system for large-scale machine learning," in Proc. OSDI, 2016.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2" y="5449379"/>
            <a:ext cx="11277297" cy="771664"/>
          </a:xfrm>
          <a:prstGeom prst="rect">
            <a:avLst/>
          </a:prstGeom>
          <a:solidFill>
            <a:srgbClr val="F0F7FF"/>
          </a:solidFill>
          <a:ln w="19050"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3" y="5449379"/>
            <a:ext cx="11277295" cy="268744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1" y="5481271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Computational Deployment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816" y="5766296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dirty="0">
                <a:solidFill>
                  <a:srgbClr val="1E1E1E"/>
                </a:solidFill>
                <a:latin typeface="Arial"/>
              </a:rPr>
              <a:t>The multi-threaded system executes all core inference loops (Part A, B, C) on a 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standard CPU</a:t>
            </a:r>
            <a:r>
              <a:rPr sz="1300" dirty="0">
                <a:solidFill>
                  <a:srgbClr val="1E1E1E"/>
                </a:solidFill>
                <a:latin typeface="Arial"/>
              </a:rPr>
              <a:t> (tested on Intel Core i7-11800H) under 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31.2 </a:t>
            </a:r>
            <a:r>
              <a:rPr sz="1300" b="1" dirty="0" err="1">
                <a:solidFill>
                  <a:srgbClr val="1E1E1E"/>
                </a:solidFill>
                <a:latin typeface="Arial"/>
              </a:rPr>
              <a:t>ms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 per frame</a:t>
            </a:r>
            <a:r>
              <a:rPr sz="1300" dirty="0">
                <a:solidFill>
                  <a:srgbClr val="1E1E1E"/>
                </a:solidFill>
                <a:latin typeface="Arial"/>
              </a:rPr>
              <a:t>, maintaining a steady </a:t>
            </a:r>
            <a:r>
              <a:rPr sz="1300" b="1" dirty="0">
                <a:solidFill>
                  <a:srgbClr val="1E1E1E"/>
                </a:solidFill>
                <a:latin typeface="Arial"/>
              </a:rPr>
              <a:t>30 FPS real-time throughput</a:t>
            </a:r>
            <a:r>
              <a:rPr sz="1300" dirty="0">
                <a:solidFill>
                  <a:srgbClr val="1E1E1E"/>
                </a:solidFill>
                <a:latin typeface="Arial"/>
              </a:rPr>
              <a:t> without requiring GPU acceleration.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A167EB-EBEB-B482-74EB-FF5E3BEE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290" y="854940"/>
            <a:ext cx="8052027" cy="4580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7EEF-07DE-B41C-42C1-FD4AD7AD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BAC113-9490-6682-B0B2-37D2751CC4E5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8777-847A-D365-2B8E-42380DE37811}"/>
              </a:ext>
            </a:extLst>
          </p:cNvPr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Appendix C: DMS Fail-Operational HMI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3E15F-97DD-0019-391E-87159891302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1D86-C281-97BA-72CD-EB669EC2D6CA}"/>
              </a:ext>
            </a:extLst>
          </p:cNvPr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B67F4-3013-5ED7-7554-2D1C5FB392E6}"/>
              </a:ext>
            </a:extLst>
          </p:cNvPr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A4D32-6303-FD09-2209-2E659CEF90CC}"/>
              </a:ext>
            </a:extLst>
          </p:cNvPr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28 / 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71C0A-35BB-253D-C66E-2C1BE22CC4D2}"/>
              </a:ext>
            </a:extLst>
          </p:cNvPr>
          <p:cNvSpPr txBox="1"/>
          <p:nvPr/>
        </p:nvSpPr>
        <p:spPr>
          <a:xfrm>
            <a:off x="457200" y="6172200"/>
            <a:ext cx="11277295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lang="en-US" dirty="0"/>
              <a:t>.   [19] C. </a:t>
            </a:r>
            <a:r>
              <a:rPr lang="en-US" dirty="0" err="1"/>
              <a:t>Lugaresi</a:t>
            </a:r>
            <a:r>
              <a:rPr lang="en-US" dirty="0"/>
              <a:t> et al., "</a:t>
            </a:r>
            <a:r>
              <a:rPr lang="en-US" dirty="0" err="1"/>
              <a:t>MediaPipe</a:t>
            </a:r>
            <a:r>
              <a:rPr lang="en-US" dirty="0"/>
              <a:t>: A Framework for Building Perception Pipelines," arXiv:1906.08172, 2019.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32EA95-60FA-E490-C0E0-91F83F2A8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357" y="1057915"/>
            <a:ext cx="9302906" cy="443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2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Part A: Signal Discovery &amp; ROI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dirty="0"/>
              <a:t>[8] W. Wang et al., "Algorithmic Principles of Remote PPG," IEEE Trans. Biomed. Eng., 2017.   [19] C. </a:t>
            </a:r>
            <a:r>
              <a:rPr dirty="0" err="1"/>
              <a:t>Lugaresi</a:t>
            </a:r>
            <a:r>
              <a:rPr dirty="0"/>
              <a:t> et al., "</a:t>
            </a:r>
            <a:r>
              <a:rPr dirty="0" err="1"/>
              <a:t>MediaPipe</a:t>
            </a:r>
            <a:r>
              <a:rPr dirty="0"/>
              <a:t>: A Framework for Building Perception Pipelines," arXiv:1906.08172, 2019.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1" y="1097280"/>
            <a:ext cx="5196468" cy="4564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 err="1">
                <a:solidFill>
                  <a:srgbClr val="1E1E1E"/>
                </a:solidFill>
                <a:latin typeface="Arial"/>
              </a:rPr>
              <a:t>MediaPipe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 Face Mesh</a:t>
            </a:r>
            <a:r>
              <a:rPr sz="1800" dirty="0">
                <a:solidFill>
                  <a:srgbClr val="1E1E1E"/>
                </a:solidFill>
                <a:latin typeface="Arial"/>
              </a:rPr>
              <a:t>: Tracks 468 3D landmarks for real-time face tracking [19].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dirty="0">
                <a:solidFill>
                  <a:srgbClr val="505050"/>
                </a:solidFill>
                <a:latin typeface="Arial"/>
              </a:rPr>
              <a:t>Chosen for optimized CPU inference speed, vital for achieving the 30 FPS target on standard edge computers.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Regions of Interest (ROIs)</a:t>
            </a:r>
            <a:r>
              <a:rPr sz="1800" dirty="0">
                <a:solidFill>
                  <a:srgbClr val="1E1E1E"/>
                </a:solidFill>
                <a:latin typeface="Arial"/>
              </a:rPr>
              <a:t>: Forehead (R_1), Left Cheek (R_2), and Right Cheek (R_3) </a:t>
            </a:r>
            <a:endParaRPr lang="en-US" sz="18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 err="1">
                <a:solidFill>
                  <a:srgbClr val="1E1E1E"/>
                </a:solidFill>
                <a:latin typeface="Arial"/>
              </a:rPr>
              <a:t>YCrCb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 Skin Masking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Applied to each ROI boundary to filter out non-skin pixels before averaging.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Plane-Orthogonal-to-Skin (POS) Algorithm</a:t>
            </a:r>
            <a:r>
              <a:rPr sz="1800" dirty="0">
                <a:solidFill>
                  <a:srgbClr val="1E1E1E"/>
                </a:solidFill>
                <a:latin typeface="Arial"/>
              </a:rPr>
              <a:t>: Wang et al. (2017) [8] projections are used to dynamically isolate pulsatile color changes from non-physiological specular noise.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05C1D7-9ED1-AFE6-1344-02477D32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15" y="1241857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Part A: SNR-based ROI-Switching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9 /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624399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rPr dirty="0"/>
              <a:t>Figure 4: SNR-based ROI-Switching Attention Logic Flow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D09993-AEC5-ADFC-0456-0BDEE73E9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6782"/>
            <a:ext cx="12192000" cy="51219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Part A: Behavioral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77295" cy="4416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Mouth Aspect Ratio (MAR)</a:t>
            </a:r>
            <a:r>
              <a:rPr sz="1800" dirty="0">
                <a:solidFill>
                  <a:srgbClr val="1E1E1E"/>
                </a:solidFill>
                <a:latin typeface="Arial"/>
              </a:rPr>
              <a:t>: Quantifies yawning frequency and duration: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dirty="0">
                <a:solidFill>
                  <a:srgbClr val="505050"/>
                </a:solidFill>
                <a:latin typeface="Arial"/>
              </a:rPr>
              <a:t> </a:t>
            </a: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dirty="0">
                <a:solidFill>
                  <a:srgbClr val="505050"/>
                </a:solidFill>
                <a:latin typeface="Arial"/>
              </a:rPr>
              <a:t>A yawn event is registered when MAR &gt; 0.5 for longer than 20 frames.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Pose Standard Deviation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Captures driver restlessness and drowsiness nodding: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</a:t>
            </a:r>
            <a:endParaRPr lang="en-US" sz="1500" b="1" dirty="0">
              <a:solidFill>
                <a:srgbClr val="D95319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dirty="0">
                <a:solidFill>
                  <a:srgbClr val="505050"/>
                </a:solidFill>
                <a:latin typeface="Arial"/>
              </a:rPr>
              <a:t> computed over a 256-frame rolling window.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Ocular EAR &amp; PERCLOS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Standard percentage of eye closure tracking.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Feature Normalization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Behavioral features are scaled to [0, 1]. Physiological features normalized according to biological ranges (e.g., HR from 45 to 160 BPM, SpO2 from 80% to 100%).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F39E7-088B-9395-C9CF-ECF1D5FC4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32" y="1455760"/>
            <a:ext cx="3843868" cy="10708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4EBBEA-98FF-14EE-8AD2-EAABB0EB3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95" y="3345274"/>
            <a:ext cx="2907289" cy="6591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71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4. Part B: Physiological Feature Refinement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[22] D. Kingma and J. Ba, "Adam: A method for stochastic optimization," in Proc. ICLR, 2015.   [24] Y. Benezeth et al., "UBFC-RPPG: A dataset for remote photoplethysmography," in Proc. FedCSIS,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9355"/>
            <a:ext cx="5943600" cy="13598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1D-CNN Refinement Architecture</a:t>
            </a:r>
            <a:r>
              <a:rPr sz="1600" dirty="0">
                <a:solidFill>
                  <a:srgbClr val="1E1E1E"/>
                </a:solidFill>
                <a:latin typeface="Arial"/>
              </a:rPr>
              <a:t>: </a:t>
            </a:r>
            <a:endParaRPr lang="en-US" sz="16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Training Setup</a:t>
            </a:r>
            <a:r>
              <a:rPr sz="1600" dirty="0">
                <a:solidFill>
                  <a:srgbClr val="1E1E1E"/>
                </a:solidFill>
                <a:latin typeface="Arial"/>
              </a:rPr>
              <a:t>: Optimi</a:t>
            </a:r>
            <a:r>
              <a:rPr lang="en-US" sz="1600" dirty="0">
                <a:solidFill>
                  <a:srgbClr val="1E1E1E"/>
                </a:solidFill>
                <a:latin typeface="Arial"/>
              </a:rPr>
              <a:t>z</a:t>
            </a:r>
            <a:r>
              <a:rPr sz="1600" dirty="0">
                <a:solidFill>
                  <a:srgbClr val="1E1E1E"/>
                </a:solidFill>
                <a:latin typeface="Arial"/>
              </a:rPr>
              <a:t>ed with Adam (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lr</a:t>
            </a:r>
            <a:r>
              <a:rPr sz="1600" dirty="0">
                <a:solidFill>
                  <a:srgbClr val="1E1E1E"/>
                </a:solidFill>
                <a:latin typeface="Arial"/>
              </a:rPr>
              <a:t> = 1 × 10⁻⁴) to minimize Mean Absolute Error (MAE) loss.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lang="en-US" sz="1600" b="1" dirty="0">
                <a:solidFill>
                  <a:srgbClr val="1E1E1E"/>
                </a:solidFill>
                <a:latin typeface="Arial"/>
              </a:rPr>
              <a:t>HR Model, PERCLOS Model, SpO2 Model</a:t>
            </a:r>
            <a:endParaRPr sz="1600" dirty="0">
              <a:solidFill>
                <a:srgbClr val="1E1E1E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943600" cy="1828800"/>
          </a:xfrm>
          <a:prstGeom prst="rect">
            <a:avLst/>
          </a:prstGeom>
          <a:solidFill>
            <a:srgbClr val="F0F7FF"/>
          </a:solidFill>
          <a:ln w="19050"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943600" cy="41148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Ratio-of-Ratios (R)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5669280" cy="1178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 dirty="0">
                <a:solidFill>
                  <a:srgbClr val="1E1E1E"/>
                </a:solidFill>
                <a:latin typeface="Arial"/>
              </a:rPr>
              <a:t>R</a:t>
            </a:r>
            <a:r>
              <a:rPr sz="1300" dirty="0">
                <a:solidFill>
                  <a:srgbClr val="1E1E1E"/>
                </a:solidFill>
                <a:latin typeface="Arial"/>
              </a:rPr>
              <a:t> = (AC/DC)red </a:t>
            </a:r>
            <a:r>
              <a:rPr lang="en-US" sz="1300" dirty="0">
                <a:solidFill>
                  <a:srgbClr val="1E1E1E"/>
                </a:solidFill>
                <a:latin typeface="Arial"/>
              </a:rPr>
              <a:t>channel</a:t>
            </a:r>
            <a:r>
              <a:rPr sz="1300" dirty="0">
                <a:solidFill>
                  <a:srgbClr val="1E1E1E"/>
                </a:solidFill>
                <a:latin typeface="Arial"/>
              </a:rPr>
              <a:t>/ (AC/DC)green </a:t>
            </a:r>
            <a:r>
              <a:rPr lang="en-US" sz="1300" dirty="0">
                <a:solidFill>
                  <a:srgbClr val="1E1E1E"/>
                </a:solidFill>
                <a:latin typeface="Arial"/>
              </a:rPr>
              <a:t>channel</a:t>
            </a:r>
            <a:r>
              <a:rPr sz="1300" dirty="0">
                <a:solidFill>
                  <a:srgbClr val="1E1E1E"/>
                </a:solidFill>
                <a:latin typeface="Arial"/>
              </a:rPr>
              <a:t>  </a:t>
            </a:r>
            <a:endParaRPr lang="en-US" sz="13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300" b="1" dirty="0">
                <a:solidFill>
                  <a:srgbClr val="1E1E1E"/>
                </a:solidFill>
                <a:latin typeface="Arial"/>
              </a:rPr>
              <a:t>SpO2</a:t>
            </a:r>
            <a:r>
              <a:rPr sz="1300" dirty="0">
                <a:solidFill>
                  <a:srgbClr val="1E1E1E"/>
                </a:solidFill>
                <a:latin typeface="Arial"/>
              </a:rPr>
              <a:t> = 123.0 - 25.0 × R  (coefficients calibrated empirically). </a:t>
            </a:r>
            <a:endParaRPr lang="en-US" sz="13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endParaRPr lang="en-US" sz="13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</a:pPr>
            <a:r>
              <a:rPr sz="1300" dirty="0">
                <a:solidFill>
                  <a:srgbClr val="1E1E1E"/>
                </a:solidFill>
                <a:latin typeface="Arial"/>
              </a:rPr>
              <a:t>The 1D-CNN refines this linear model to suppress non-linear lighting fluctuations.</a:t>
            </a:r>
          </a:p>
        </p:txBody>
      </p:sp>
      <p:pic>
        <p:nvPicPr>
          <p:cNvPr id="14" name="Picture 13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5: 1D-CNN Physiological Feature Refinement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4. Part B: DSP Pipeline for Signal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[17] S. Butterworth, "On the theory of filter amplifiers," Wireless Engineer, 1930.   [18] R. Hamming, "Digital Filters," Prentice-Hall, 1983.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Noise Isolation</a:t>
            </a:r>
            <a:r>
              <a:rPr sz="1800">
                <a:solidFill>
                  <a:srgbClr val="1E1E1E"/>
                </a:solidFill>
                <a:latin typeface="Arial"/>
              </a:rPr>
              <a:t>: Multi-stage digital signal filtering isolates the weak pulsatile AC signal from large ambient DC color offsets.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Detrending</a:t>
            </a:r>
            <a:r>
              <a:rPr sz="1800">
                <a:solidFill>
                  <a:srgbClr val="1E1E1E"/>
                </a:solidFill>
                <a:latin typeface="Arial"/>
              </a:rPr>
              <a:t>: Applied to remove low-frequency wander caused by slow head motions or ambient lighting changes.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Butterworth Bandpass Filter</a:t>
            </a:r>
            <a:r>
              <a:rPr sz="1800">
                <a:solidFill>
                  <a:srgbClr val="1E1E1E"/>
                </a:solidFill>
                <a:latin typeface="Arial"/>
              </a:rPr>
              <a:t>: 2nd-order, zero-phase bandpass filter: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Cutoff frequencies set to </a:t>
            </a:r>
            <a:r>
              <a:rPr sz="1500" b="1">
                <a:solidFill>
                  <a:srgbClr val="505050"/>
                </a:solidFill>
                <a:latin typeface="Arial"/>
              </a:rPr>
              <a:t>0.7 Hz (42 BPM) to 4.0 Hz (240 BPM)</a:t>
            </a:r>
            <a:r>
              <a:rPr sz="1500">
                <a:solidFill>
                  <a:srgbClr val="505050"/>
                </a:solidFill>
                <a:latin typeface="Arial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Maximally flat frequency response preserves biological gradients, preventing the distortion of sensitive HRV variables [17].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Hamming Windowing</a:t>
            </a:r>
            <a:r>
              <a:rPr sz="1800">
                <a:solidFill>
                  <a:srgbClr val="1E1E1E"/>
                </a:solidFill>
                <a:latin typeface="Arial"/>
              </a:rPr>
              <a:t>: Applied to 256-frame buffers to reduce spectral leakage during FFT analysis: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w(n)</a:t>
            </a:r>
            <a:r>
              <a:rPr sz="1500">
                <a:solidFill>
                  <a:srgbClr val="505050"/>
                </a:solidFill>
                <a:latin typeface="Arial"/>
              </a:rPr>
              <a:t> = 0.54 - 0.46 × cos( 2πn / (N-1) )  for high-precision Signal Quality Indices (SQI).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Part C: Temporal Fusion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263376" cy="4532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Feature Sequence Input</a:t>
            </a:r>
            <a:r>
              <a:rPr sz="1600" dirty="0">
                <a:solidFill>
                  <a:srgbClr val="1E1E1E"/>
                </a:solidFill>
                <a:latin typeface="Arial"/>
              </a:rPr>
              <a:t>: Fuses the 7-feature vector `[HR, PERCLOS, MAR, 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Pose_Var</a:t>
            </a:r>
            <a:r>
              <a:rPr sz="1600" dirty="0">
                <a:solidFill>
                  <a:srgbClr val="1E1E1E"/>
                </a:solidFill>
                <a:latin typeface="Arial"/>
              </a:rPr>
              <a:t>, SpO2, HRV,</a:t>
            </a:r>
            <a:r>
              <a:rPr lang="en-US" sz="1600" dirty="0">
                <a:solidFill>
                  <a:srgbClr val="1E1E1E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HRV_Delta</a:t>
            </a:r>
            <a:r>
              <a:rPr sz="1600" dirty="0">
                <a:solidFill>
                  <a:srgbClr val="1E1E1E"/>
                </a:solidFill>
                <a:latin typeface="Arial"/>
              </a:rPr>
              <a:t>]`</a:t>
            </a:r>
            <a:endParaRPr lang="en-US" sz="1600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endParaRPr lang="en-US" sz="1600" b="1" dirty="0">
              <a:solidFill>
                <a:srgbClr val="1E1E1E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Stacked Bidirectional LSTM (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BiLSTM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) Backbone</a:t>
            </a:r>
            <a:r>
              <a:rPr sz="1600" dirty="0">
                <a:solidFill>
                  <a:srgbClr val="1E1E1E"/>
                </a:solidFill>
                <a:latin typeface="Arial"/>
              </a:rPr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dirty="0">
                <a:solidFill>
                  <a:srgbClr val="505050"/>
                </a:solidFill>
                <a:latin typeface="Arial"/>
              </a:rPr>
              <a:t>Bidirectional tracking captures context from both the past and future relative to each frame.</a:t>
            </a:r>
            <a:endParaRPr lang="en-US" sz="14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4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Multi-Head Attention (MHA) Mechanism</a:t>
            </a:r>
            <a:r>
              <a:rPr sz="1600" dirty="0">
                <a:solidFill>
                  <a:srgbClr val="1E1E1E"/>
                </a:solidFill>
                <a:latin typeface="Arial"/>
              </a:rPr>
              <a:t>: 4 heads (</a:t>
            </a:r>
            <a:r>
              <a:rPr sz="1600" dirty="0" err="1">
                <a:solidFill>
                  <a:srgbClr val="1E1E1E"/>
                </a:solidFill>
                <a:latin typeface="Arial"/>
              </a:rPr>
              <a:t>key_dim</a:t>
            </a:r>
            <a:r>
              <a:rPr sz="1600" dirty="0">
                <a:solidFill>
                  <a:srgbClr val="1E1E1E"/>
                </a:solidFill>
                <a:latin typeface="Arial"/>
              </a:rPr>
              <a:t>=16) identify parallel feature subspace dependencies: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Attention(Q, K, V)</a:t>
            </a:r>
            <a:r>
              <a:rPr sz="1400" dirty="0">
                <a:solidFill>
                  <a:srgbClr val="505050"/>
                </a:solidFill>
                <a:latin typeface="Arial"/>
              </a:rPr>
              <a:t> = </a:t>
            </a:r>
            <a:r>
              <a:rPr sz="1400" dirty="0" err="1">
                <a:solidFill>
                  <a:srgbClr val="505050"/>
                </a:solidFill>
                <a:latin typeface="Arial"/>
              </a:rPr>
              <a:t>softmax</a:t>
            </a:r>
            <a:r>
              <a:rPr sz="1400" dirty="0">
                <a:solidFill>
                  <a:srgbClr val="505050"/>
                </a:solidFill>
                <a:latin typeface="Arial"/>
              </a:rPr>
              <a:t>( (Q × K^T) / sqrt(</a:t>
            </a:r>
            <a:r>
              <a:rPr sz="1400" dirty="0" err="1">
                <a:solidFill>
                  <a:srgbClr val="505050"/>
                </a:solidFill>
                <a:latin typeface="Arial"/>
              </a:rPr>
              <a:t>d_k</a:t>
            </a:r>
            <a:r>
              <a:rPr sz="1400" dirty="0">
                <a:solidFill>
                  <a:srgbClr val="505050"/>
                </a:solidFill>
                <a:latin typeface="Arial"/>
              </a:rPr>
              <a:t>) ) × V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400" dirty="0">
                <a:solidFill>
                  <a:srgbClr val="505050"/>
                </a:solidFill>
                <a:latin typeface="Arial"/>
              </a:rPr>
              <a:t>Transformer-style </a:t>
            </a:r>
            <a:r>
              <a:rPr sz="1400" b="1" dirty="0">
                <a:solidFill>
                  <a:srgbClr val="505050"/>
                </a:solidFill>
                <a:latin typeface="Arial"/>
              </a:rPr>
              <a:t>Residual Connection</a:t>
            </a:r>
            <a:r>
              <a:rPr sz="1400" dirty="0">
                <a:solidFill>
                  <a:srgbClr val="505050"/>
                </a:solidFill>
                <a:latin typeface="Arial"/>
              </a:rPr>
              <a:t> (x + MHA(x)) followed by Layer Normalization preserves gradient flow.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576" y="1188720"/>
            <a:ext cx="6471423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5577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t>Figure 3: Parallel Reasoning in Multi-Head Attention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07443D-F84D-7835-B53D-13EB9F156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577" y="4516233"/>
            <a:ext cx="2911648" cy="561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Part C: Driver State Alerts &amp; HMI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[27] T. Åkerstedt and M. Gillberg, "Subjective and objective sleepiness in the active individual," Int. J. Neurosci., 1990.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3904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Fatigue Probability (</a:t>
            </a:r>
            <a:r>
              <a:rPr sz="1800" b="1" dirty="0" err="1">
                <a:solidFill>
                  <a:srgbClr val="1E1E1E"/>
                </a:solidFill>
                <a:latin typeface="Arial"/>
              </a:rPr>
              <a:t>P_fatigue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)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Software output scaled in the range [0, 1].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Graduated Safety Intervention Protocol</a:t>
            </a:r>
            <a:r>
              <a:rPr sz="1800" dirty="0">
                <a:solidFill>
                  <a:srgbClr val="1E1E1E"/>
                </a:solidFill>
                <a:latin typeface="Arial"/>
              </a:rPr>
              <a:t> (mapped to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softmax</a:t>
            </a:r>
            <a:r>
              <a:rPr sz="1800" dirty="0">
                <a:solidFill>
                  <a:srgbClr val="1E1E1E"/>
                </a:solidFill>
                <a:latin typeface="Arial"/>
              </a:rPr>
              <a:t> confidence):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dirty="0">
                <a:solidFill>
                  <a:srgbClr val="D95319"/>
                </a:solidFill>
                <a:latin typeface="Arial"/>
              </a:rPr>
              <a:t>▷  </a:t>
            </a:r>
            <a:r>
              <a:rPr b="1" dirty="0">
                <a:solidFill>
                  <a:srgbClr val="505050"/>
                </a:solidFill>
                <a:latin typeface="Arial"/>
              </a:rPr>
              <a:t>Stage 1 (Normal Operations)</a:t>
            </a:r>
            <a:r>
              <a:rPr dirty="0">
                <a:solidFill>
                  <a:srgbClr val="505050"/>
                </a:solidFill>
                <a:latin typeface="Arial"/>
              </a:rPr>
              <a:t>: </a:t>
            </a:r>
            <a:r>
              <a:rPr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dirty="0">
                <a:solidFill>
                  <a:srgbClr val="505050"/>
                </a:solidFill>
                <a:latin typeface="Arial"/>
              </a:rPr>
              <a:t> &lt;= 0.5. </a:t>
            </a:r>
            <a:endParaRPr lang="en-US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dirty="0">
                <a:solidFill>
                  <a:srgbClr val="D95319"/>
                </a:solidFill>
                <a:latin typeface="Arial"/>
              </a:rPr>
              <a:t>▷  </a:t>
            </a:r>
            <a:r>
              <a:rPr b="1" dirty="0">
                <a:solidFill>
                  <a:srgbClr val="505050"/>
                </a:solidFill>
                <a:latin typeface="Arial"/>
              </a:rPr>
              <a:t>Stage 2 (Fatigue Warning)</a:t>
            </a:r>
            <a:r>
              <a:rPr dirty="0">
                <a:solidFill>
                  <a:srgbClr val="505050"/>
                </a:solidFill>
                <a:latin typeface="Arial"/>
              </a:rPr>
              <a:t>: 0.5 &lt; </a:t>
            </a:r>
            <a:r>
              <a:rPr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dirty="0">
                <a:solidFill>
                  <a:srgbClr val="505050"/>
                </a:solidFill>
                <a:latin typeface="Arial"/>
              </a:rPr>
              <a:t> &lt;= 0.8. </a:t>
            </a:r>
            <a:endParaRPr lang="en-US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dirty="0">
                <a:solidFill>
                  <a:srgbClr val="D95319"/>
                </a:solidFill>
                <a:latin typeface="Arial"/>
              </a:rPr>
              <a:t>▷  </a:t>
            </a:r>
            <a:r>
              <a:rPr b="1" dirty="0">
                <a:solidFill>
                  <a:srgbClr val="505050"/>
                </a:solidFill>
                <a:latin typeface="Arial"/>
              </a:rPr>
              <a:t>Stage 3 (Critical Alert)</a:t>
            </a:r>
            <a:r>
              <a:rPr dirty="0">
                <a:solidFill>
                  <a:srgbClr val="505050"/>
                </a:solidFill>
                <a:latin typeface="Arial"/>
              </a:rPr>
              <a:t>: </a:t>
            </a:r>
            <a:r>
              <a:rPr dirty="0" err="1">
                <a:solidFill>
                  <a:srgbClr val="505050"/>
                </a:solidFill>
                <a:latin typeface="Arial"/>
              </a:rPr>
              <a:t>P_fatigue</a:t>
            </a:r>
            <a:r>
              <a:rPr dirty="0">
                <a:solidFill>
                  <a:srgbClr val="505050"/>
                </a:solidFill>
                <a:latin typeface="Arial"/>
              </a:rPr>
              <a:t> &gt; 0.8. </a:t>
            </a:r>
            <a:endParaRPr lang="en-US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Orthogonal Distraction State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Actively triggered if Pose Standard Deviation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σ_pose</a:t>
            </a:r>
            <a:r>
              <a:rPr sz="1800" dirty="0">
                <a:solidFill>
                  <a:srgbClr val="1E1E1E"/>
                </a:solidFill>
                <a:latin typeface="Arial"/>
              </a:rPr>
              <a:t> &gt; 20° or gaze deviates, prompting immediate dashboard 'Focus' warnings.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Computational Optimization for CPU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[19] C. Lugaresi et al., "MediaPipe: A Framework for Building Perception Pipelines," arXiv:1906.08172, 2019.   [21] M. Abadi et al., "TensorFlow: A system for large-scale machine learning," in Proc. OSDI, 2016.   [23] J. Doe et al., "ME-rPPG: Memory-Efficient Remote Photoplethysmography," IEEE Trans. Multimedia,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Asynchronous Multi-Threading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Offloads heavy model inferences (1D-CNNs, MHA-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BiLSTM</a:t>
            </a:r>
            <a:r>
              <a:rPr sz="1800" dirty="0">
                <a:solidFill>
                  <a:srgbClr val="1E1E1E"/>
                </a:solidFill>
                <a:latin typeface="Arial"/>
              </a:rPr>
              <a:t>) to a dedicated `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AIBackgroundWorker</a:t>
            </a:r>
            <a:r>
              <a:rPr sz="1800" dirty="0">
                <a:solidFill>
                  <a:srgbClr val="1E1E1E"/>
                </a:solidFill>
                <a:latin typeface="Arial"/>
              </a:rPr>
              <a:t>` thread, preventing frame drops in the camera loop.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Modular State Management</a:t>
            </a:r>
            <a:r>
              <a:rPr sz="1800" dirty="0">
                <a:solidFill>
                  <a:srgbClr val="1E1E1E"/>
                </a:solidFill>
                <a:latin typeface="Arial"/>
              </a:rPr>
              <a:t>: Streamlined `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SystemCalibrator</a:t>
            </a:r>
            <a:r>
              <a:rPr sz="1800" dirty="0">
                <a:solidFill>
                  <a:srgbClr val="1E1E1E"/>
                </a:solidFill>
                <a:latin typeface="Arial"/>
              </a:rPr>
              <a:t>` and `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SignalProcessor</a:t>
            </a:r>
            <a:r>
              <a:rPr sz="1800" dirty="0">
                <a:solidFill>
                  <a:srgbClr val="1E1E1E"/>
                </a:solidFill>
                <a:latin typeface="Arial"/>
              </a:rPr>
              <a:t>` minimize dynamic buffer allocation overhead.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Feature Pruning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MediaPipe</a:t>
            </a:r>
            <a:r>
              <a:rPr sz="1800" dirty="0">
                <a:solidFill>
                  <a:srgbClr val="1E1E1E"/>
                </a:solidFill>
                <a:latin typeface="Arial"/>
              </a:rPr>
              <a:t> Face Mesh landmark tracking is restricted to eyes, lips, and ROI coordinates, minimizing the processing footprint.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9F0"/>
          </a:solidFill>
          <a:ln w="19050"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411480"/>
          </a:xfrm>
          <a:prstGeom prst="rect">
            <a:avLst/>
          </a:prstGeom>
          <a:solidFill>
            <a:srgbClr val="D95319"/>
          </a:solidFill>
          <a:ln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Edge Performance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E1E1E"/>
                </a:solidFill>
                <a:latin typeface="Arial"/>
              </a:rPr>
              <a:t>By optimizing the data interface (7 features) and executing modular processing, the end-to-end latency is restricted to </a:t>
            </a:r>
            <a:r>
              <a:rPr sz="1300" b="1">
                <a:solidFill>
                  <a:srgbClr val="1E1E1E"/>
                </a:solidFill>
                <a:latin typeface="Arial"/>
              </a:rPr>
              <a:t>31.2 ms per frame</a:t>
            </a:r>
            <a:r>
              <a:rPr sz="1300">
                <a:solidFill>
                  <a:srgbClr val="1E1E1E"/>
                </a:solidFill>
                <a:latin typeface="Arial"/>
              </a:rPr>
              <a:t>. This guarantees a stable </a:t>
            </a:r>
            <a:r>
              <a:rPr sz="1300" b="1">
                <a:solidFill>
                  <a:srgbClr val="1E1E1E"/>
                </a:solidFill>
                <a:latin typeface="Arial"/>
              </a:rPr>
              <a:t>30 FPS execution on standard edge CPUs</a:t>
            </a:r>
            <a:r>
              <a:rPr sz="1300">
                <a:solidFill>
                  <a:srgbClr val="1E1E1E"/>
                </a:solidFill>
                <a:latin typeface="Arial"/>
              </a:rPr>
              <a:t> (tested on Intel Core i7), making it highly portable for mass-market vehicle infotainment systems.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6. Experimental Setup and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421" y="6291016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dirty="0"/>
              <a:t>[24] Y. </a:t>
            </a:r>
            <a:r>
              <a:rPr dirty="0" err="1"/>
              <a:t>Benezeth</a:t>
            </a:r>
            <a:r>
              <a:rPr dirty="0"/>
              <a:t> et al., "UBFC-RPPG: A dataset for remote photoplethysmography," in Proc. </a:t>
            </a:r>
            <a:r>
              <a:rPr dirty="0" err="1"/>
              <a:t>FedCSIS</a:t>
            </a:r>
            <a:r>
              <a:rPr dirty="0"/>
              <a:t>, 2017.   [25] C. Weng et al., "Driver Drowsiness Detection via Learnable Deep Landmarks," IEEE Access, 2016.   [26] D. Powers, "Evaluation: From Precision, Recall and F-Measure to ROC," J. Mach. Learn. Technol., 2011.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13932"/>
            <a:ext cx="11277295" cy="5354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Evaluation Workstation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Intel Core i7-13620H CPU (2.40 GHz), 16 GB DDR5 RAM, Python 3.9, TensorFlow, and OpenCV.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Empirical Validation Datasets</a:t>
            </a:r>
            <a:r>
              <a:rPr sz="1800" dirty="0">
                <a:solidFill>
                  <a:srgbClr val="1E1E1E"/>
                </a:solidFill>
                <a:latin typeface="Arial"/>
              </a:rPr>
              <a:t>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b="1" dirty="0">
              <a:solidFill>
                <a:srgbClr val="D95319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Class Distribution &amp; Class Balancing</a:t>
            </a:r>
            <a:r>
              <a:rPr sz="1800" dirty="0">
                <a:solidFill>
                  <a:srgbClr val="1E1E1E"/>
                </a:solidFill>
                <a:latin typeface="Arial"/>
              </a:rPr>
              <a:t>: Database contains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54.5% Alert, 29.9% Drowsy, 15.6% Distracted</a:t>
            </a:r>
            <a:r>
              <a:rPr sz="1800" dirty="0">
                <a:solidFill>
                  <a:srgbClr val="1E1E1E"/>
                </a:solidFill>
                <a:latin typeface="Arial"/>
              </a:rPr>
              <a:t>. Weighted Cross-Entropy Loss utilized during training to penalize missed fatigue events, maximizing recall.</a:t>
            </a:r>
          </a:p>
        </p:txBody>
      </p:sp>
      <p:pic>
        <p:nvPicPr>
          <p:cNvPr id="10" name="Picture 9" descr="Different driving scenarios of NTHU dataset [32]. | Download Scientific  Diagram">
            <a:extLst>
              <a:ext uri="{FF2B5EF4-FFF2-40B4-BE49-F238E27FC236}">
                <a16:creationId xmlns:a16="http://schemas.microsoft.com/office/drawing/2014/main" id="{60C7205C-2277-8EC3-93E0-806F0B41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156" y="2111467"/>
            <a:ext cx="4135659" cy="2710768"/>
          </a:xfrm>
          <a:prstGeom prst="rect">
            <a:avLst/>
          </a:prstGeom>
        </p:spPr>
      </p:pic>
      <p:pic>
        <p:nvPicPr>
          <p:cNvPr id="11" name="Picture 10" descr="Experimental Setup (top) and sample images from the UBFC-RPPG database... |  Download Scientific Diagram">
            <a:extLst>
              <a:ext uri="{FF2B5EF4-FFF2-40B4-BE49-F238E27FC236}">
                <a16:creationId xmlns:a16="http://schemas.microsoft.com/office/drawing/2014/main" id="{31678281-8A36-90E6-9A1B-23ECCFA82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184" y="1999739"/>
            <a:ext cx="3047298" cy="29074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54BCD8-7879-4F9F-915F-04DE127406A3}"/>
              </a:ext>
            </a:extLst>
          </p:cNvPr>
          <p:cNvSpPr txBox="1"/>
          <p:nvPr/>
        </p:nvSpPr>
        <p:spPr>
          <a:xfrm>
            <a:off x="1828800" y="4908184"/>
            <a:ext cx="2441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05050"/>
                </a:solidFill>
                <a:latin typeface="Arial"/>
              </a:rPr>
              <a:t>UBFC-</a:t>
            </a:r>
            <a:r>
              <a:rPr lang="en-US" b="1" dirty="0" err="1">
                <a:solidFill>
                  <a:srgbClr val="505050"/>
                </a:solidFill>
                <a:latin typeface="Arial"/>
              </a:rPr>
              <a:t>rPPG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B2D58D-C892-1E68-FFEB-D3B3D4CA957D}"/>
              </a:ext>
            </a:extLst>
          </p:cNvPr>
          <p:cNvSpPr txBox="1"/>
          <p:nvPr/>
        </p:nvSpPr>
        <p:spPr>
          <a:xfrm>
            <a:off x="7589519" y="4845556"/>
            <a:ext cx="24288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D95319"/>
                </a:solidFill>
                <a:latin typeface="Arial"/>
              </a:rPr>
              <a:t> </a:t>
            </a:r>
            <a:r>
              <a:rPr lang="en-US" b="1" dirty="0">
                <a:solidFill>
                  <a:srgbClr val="505050"/>
                </a:solidFill>
                <a:latin typeface="Arial"/>
              </a:rPr>
              <a:t>NTHU-DDD Dataset</a:t>
            </a:r>
            <a:r>
              <a:rPr lang="en-US" dirty="0">
                <a:solidFill>
                  <a:srgbClr val="505050"/>
                </a:solidFill>
                <a:latin typeface="Arial"/>
              </a:rPr>
              <a:t>:</a:t>
            </a:r>
          </a:p>
          <a:p>
            <a:endParaRPr lang="en-US" dirty="0">
              <a:solidFill>
                <a:srgbClr val="505050"/>
              </a:solidFill>
              <a:latin typeface="Arial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2024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6. Experimental Results: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[9] J. Kim, "Sustainable Real-Time Gaze Monitoring with YOLOX-based Attention," Exp. Syst. Appl., 2025.   [14] A. Vaswani et al., "Attention is all you need," in Proc. NIPS, 2017.   [26] D. Powers, "Evaluation: From Precision, Recall and F-Measure to ROC," J. Mach. Learn. Technol., 2011.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 MAE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Relative Improvement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Behavioral Only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0.1450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Behavioral + rPPG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0.0821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 + HRV Delta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0.0410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Final (v3)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 + MHA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0.0332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74720"/>
            <a:ext cx="112772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Modality Fusion Advantage</a:t>
            </a:r>
            <a:r>
              <a:rPr sz="1800">
                <a:solidFill>
                  <a:srgbClr val="1E1E1E"/>
                </a:solidFill>
                <a:latin typeface="Arial"/>
              </a:rPr>
              <a:t>: Fusing physiological signals reduces validation error by </a:t>
            </a:r>
            <a:r>
              <a:rPr sz="1800" b="1">
                <a:solidFill>
                  <a:srgbClr val="1E1E1E"/>
                </a:solidFill>
                <a:latin typeface="Arial"/>
              </a:rPr>
              <a:t>77%</a:t>
            </a:r>
            <a:r>
              <a:rPr sz="1800">
                <a:solidFill>
                  <a:srgbClr val="1E1E1E"/>
                </a:solidFill>
                <a:latin typeface="Arial"/>
              </a:rPr>
              <a:t> over behavioral-only baselines (Validation MAE drops from 0.1450 to 0.0332).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Predictive Impact of HRV Delta</a:t>
            </a:r>
            <a:r>
              <a:rPr sz="1800">
                <a:solidFill>
                  <a:srgbClr val="1E1E1E"/>
                </a:solidFill>
                <a:latin typeface="Arial"/>
              </a:rPr>
              <a:t>: The addition of HRV Delta in Phase 2 yielded the largest single performance leap (</a:t>
            </a:r>
            <a:r>
              <a:rPr sz="1800" b="1">
                <a:solidFill>
                  <a:srgbClr val="1E1E1E"/>
                </a:solidFill>
                <a:latin typeface="Arial"/>
              </a:rPr>
              <a:t>51% relative error reduction</a:t>
            </a:r>
            <a:r>
              <a:rPr sz="1800">
                <a:solidFill>
                  <a:srgbClr val="1E1E1E"/>
                </a:solidFill>
                <a:latin typeface="Arial"/>
              </a:rPr>
              <a:t> from 0.0821 to 0.0410), validating that physiological trends are critical.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Experimental Results: SOTA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[12] L. Kong et al., "RPPMT-CNN-BiLSTM: A Multi-modal Fusion Framework for Fatigue Detection," Electronics, 2024.   [26] D. Powers, "Evaluation: From Precision, Recall and F-Measure to ROC," J. Mach. Learn. Technol., 2011.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77295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Research Work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Performance Target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Hardware Efficiency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Kong et al. (2024) [12]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CNN-BiLSTM (Behavioral + HR)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MAE ~0.045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GPU Required (Deep CNNs)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Proposed Work (v3)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MHA-BiLSTM (Behavioral + 7f Physiological)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MAE 0.0332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30 FPS on Standard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2926080"/>
            <a:ext cx="11277295" cy="213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Standard Information Retrieval Metrics</a:t>
            </a:r>
            <a:r>
              <a:rPr sz="1800" dirty="0">
                <a:solidFill>
                  <a:srgbClr val="1E1E1E"/>
                </a:solidFill>
                <a:latin typeface="Arial"/>
              </a:rPr>
              <a:t>: Measured using Powers (2011) criteria [26]: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Accuracy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70.53%</a:t>
            </a:r>
            <a:r>
              <a:rPr sz="1500" dirty="0">
                <a:solidFill>
                  <a:srgbClr val="505050"/>
                </a:solidFill>
                <a:latin typeface="Arial"/>
              </a:rPr>
              <a:t>  |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Precision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70.63%</a:t>
            </a:r>
            <a:r>
              <a:rPr sz="1500" dirty="0">
                <a:solidFill>
                  <a:srgbClr val="505050"/>
                </a:solidFill>
                <a:latin typeface="Arial"/>
              </a:rPr>
              <a:t>  |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F1-Score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0.8271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Recall</a:t>
            </a:r>
            <a:r>
              <a:rPr sz="1500" dirty="0">
                <a:solidFill>
                  <a:srgbClr val="505050"/>
                </a:solidFill>
                <a:latin typeface="Arial"/>
              </a:rPr>
              <a:t>: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99.78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Architectural Portability</a:t>
            </a:r>
            <a:r>
              <a:rPr sz="1800" dirty="0">
                <a:solidFill>
                  <a:srgbClr val="1E1E1E"/>
                </a:solidFill>
                <a:latin typeface="Arial"/>
              </a:rPr>
              <a:t>: Achieves superior precision compared to Kong et al. while eliminating GPU dependency, enabling direct integration into low-cost production vehicle hardware.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Explainable AI: Attention Heatmaps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19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Softmax-Normalized Attention Weights</a:t>
            </a:r>
            <a:r>
              <a:rPr sz="1800">
                <a:solidFill>
                  <a:srgbClr val="1E1E1E"/>
                </a:solidFill>
                <a:latin typeface="Arial"/>
              </a:rPr>
              <a:t>: Mean attention weights from the 4 heads project modality focus: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The model transitions from stochastic tracking to event-driven focus as fatigue levels increase.</a:t>
            </a:r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338328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29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C3B6E"/>
                </a:solidFill>
                <a:latin typeface="Arial"/>
              </a:defRPr>
            </a:pPr>
            <a:r>
              <a:t>Case 1: Alert State</a:t>
            </a:r>
          </a:p>
          <a:p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Stochastic distribution; monitors all channels equally.</a:t>
            </a:r>
          </a:p>
        </p:txBody>
      </p:sp>
      <p:pic>
        <p:nvPicPr>
          <p:cNvPr id="12" name="Picture 11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377440"/>
            <a:ext cx="338328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5029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C3B6E"/>
                </a:solidFill>
                <a:latin typeface="Arial"/>
              </a:defRPr>
            </a:pPr>
            <a:r>
              <a:t>Case 2: Fatigued State</a:t>
            </a:r>
          </a:p>
          <a:p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Clustered weights focus on negative HRV Delta slope.</a:t>
            </a:r>
          </a:p>
        </p:txBody>
      </p:sp>
      <p:pic>
        <p:nvPicPr>
          <p:cNvPr id="14" name="Picture 13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77440"/>
            <a:ext cx="3383280" cy="2560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502920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C3B6E"/>
                </a:solidFill>
                <a:latin typeface="Arial"/>
              </a:defRPr>
            </a:pPr>
            <a:r>
              <a:t>Case 3: Critical State</a:t>
            </a:r>
          </a:p>
          <a:p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Localized 'Impulse' weight matches PERCLOS event.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Explainable AI: Attention Head Specialization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80" y="1625481"/>
            <a:ext cx="4028564" cy="4168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Parallel Head Specialization</a:t>
            </a:r>
            <a:r>
              <a:rPr sz="1800" dirty="0">
                <a:solidFill>
                  <a:srgbClr val="1E1E1E"/>
                </a:solidFill>
                <a:latin typeface="Arial"/>
              </a:rPr>
              <a:t>: Multi-Head Attention [14] analyzes distinct feature subspaces: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1 (Geometric Transient</a:t>
            </a:r>
            <a:r>
              <a:rPr lang="en-US" altLang="zh-TW" sz="1500" b="1" dirty="0">
                <a:solidFill>
                  <a:srgbClr val="505050"/>
                </a:solidFill>
                <a:latin typeface="Arial"/>
              </a:rPr>
              <a:t>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2 (Physiological Gradient)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3 (Signal Quality Verification)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 dirty="0">
                <a:solidFill>
                  <a:srgbClr val="D95319"/>
                </a:solidFill>
                <a:latin typeface="Arial"/>
              </a:rPr>
              <a:t>▷  </a:t>
            </a:r>
            <a:r>
              <a:rPr sz="1500" b="1" dirty="0">
                <a:solidFill>
                  <a:srgbClr val="505050"/>
                </a:solidFill>
                <a:latin typeface="Arial"/>
              </a:rPr>
              <a:t>Head 4 (Global State Monitoring)</a:t>
            </a:r>
            <a:endParaRPr lang="en-US" sz="1500" b="1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1500" dirty="0">
              <a:solidFill>
                <a:srgbClr val="505050"/>
              </a:solidFill>
              <a:latin typeface="Arial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 dirty="0">
                <a:solidFill>
                  <a:srgbClr val="0C3B6E"/>
                </a:solidFill>
                <a:latin typeface="Arial"/>
              </a:rPr>
              <a:t>▶  </a:t>
            </a:r>
            <a:r>
              <a:rPr sz="1800" b="1" dirty="0">
                <a:solidFill>
                  <a:srgbClr val="1E1E1E"/>
                </a:solidFill>
                <a:latin typeface="Arial"/>
              </a:rPr>
              <a:t>Fail-Operational Capability</a:t>
            </a:r>
            <a:r>
              <a:rPr sz="1800" dirty="0">
                <a:solidFill>
                  <a:srgbClr val="1E1E1E"/>
                </a:solidFill>
                <a:latin typeface="Arial"/>
              </a:rPr>
              <a:t>: If face turns and ocular landmarks degrade, the model dynamically redirects priority to clean </a:t>
            </a:r>
            <a:r>
              <a:rPr sz="1800" dirty="0" err="1">
                <a:solidFill>
                  <a:srgbClr val="1E1E1E"/>
                </a:solidFill>
                <a:latin typeface="Arial"/>
              </a:rPr>
              <a:t>rPPG</a:t>
            </a:r>
            <a:r>
              <a:rPr sz="1800" dirty="0">
                <a:solidFill>
                  <a:srgbClr val="1E1E1E"/>
                </a:solidFill>
                <a:latin typeface="Arial"/>
              </a:rPr>
              <a:t> streams.</a:t>
            </a:r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550" y="999149"/>
            <a:ext cx="6940145" cy="5287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53735" y="6348389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rPr dirty="0"/>
              <a:t>Figure 9: Attention Head Specialization during a Distraction Event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Qualitative Validation: End-to-End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560" y="63632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rPr dirty="0"/>
              <a:t>[14] A. Vaswani et al., "Attention is all you need," in Proc. NIPS, 2017.   [24] Y. </a:t>
            </a:r>
            <a:r>
              <a:rPr dirty="0" err="1"/>
              <a:t>Benezeth</a:t>
            </a:r>
            <a:r>
              <a:rPr dirty="0"/>
              <a:t> et al., "UBFC-RPPG: A dataset for remote photoplethysmography," in Proc. </a:t>
            </a:r>
            <a:r>
              <a:rPr dirty="0" err="1"/>
              <a:t>FedCSIS</a:t>
            </a:r>
            <a:r>
              <a:rPr dirty="0"/>
              <a:t>, 2017.</a:t>
            </a:r>
          </a:p>
        </p:txBody>
      </p:sp>
      <p:pic>
        <p:nvPicPr>
          <p:cNvPr id="10" name="Picture 9" descr="authentic_7f_Subject_7_Authentic_Full_Alert_20260521_1403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959" y="1003609"/>
            <a:ext cx="9448495" cy="52031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71958" y="6156978"/>
            <a:ext cx="94484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>
                <a:solidFill>
                  <a:srgbClr val="505050"/>
                </a:solidFill>
                <a:latin typeface="Arial"/>
              </a:defRPr>
            </a:pPr>
            <a:r>
              <a:rPr dirty="0"/>
              <a:t>Figure 4.6: Synchronized 7-Feature Multimodal Output and attention weights for Subject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Case Study: Boundary Conditions &amp;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[8] W. Wang et al., "Algorithmic Principles of Remote PPG," IEEE Trans. Biomed. Eng., 2017.   [24] Y. Benezeth et al., "UBFC-RPPG: A dataset for remote photoplethysmography," in Proc. FedCSIS,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Outlier Quantitative Analysis</a:t>
            </a:r>
            <a:r>
              <a:rPr sz="1800">
                <a:solidFill>
                  <a:srgbClr val="1E1E1E"/>
                </a:solidFill>
                <a:latin typeface="Arial"/>
              </a:rPr>
              <a:t>: Highlighted subjects with elevated MAE during universal validation runs to define boundary limits: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Subject 11 (HR MAE: 39.41 BPM)</a:t>
            </a:r>
            <a:r>
              <a:rPr sz="1500">
                <a:solidFill>
                  <a:srgbClr val="505050"/>
                </a:solidFill>
                <a:latin typeface="Arial"/>
              </a:rPr>
              <a:t>: Specular forehead saturation from directional lighting.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Violated Lambertian reflectance; subtle pulse signal lost in quantization noise.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Resilience</a:t>
            </a:r>
            <a:r>
              <a:rPr sz="1500">
                <a:solidFill>
                  <a:srgbClr val="505050"/>
                </a:solidFill>
                <a:latin typeface="Arial"/>
              </a:rPr>
              <a:t>: SNR-based attention successfully pivoted to cheeks, preserving SpO2 tracking (MAE: 9.00%).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Subject 20 (HR MAE: 56.87 BPM)</a:t>
            </a:r>
            <a:r>
              <a:rPr sz="1500">
                <a:solidFill>
                  <a:srgbClr val="505050"/>
                </a:solidFill>
                <a:latin typeface="Arial"/>
              </a:rPr>
              <a:t>: High-frequency motion artifacts.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>
                <a:solidFill>
                  <a:srgbClr val="505050"/>
                </a:solidFill>
                <a:latin typeface="Arial"/>
              </a:rPr>
              <a:t>Rapid head movements overlapped with the cardiac band (0.75 - 4.0 Hz), causing 'ghost' heart rate detections.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77295" cy="1828800"/>
          </a:xfrm>
          <a:prstGeom prst="rect">
            <a:avLst/>
          </a:prstGeom>
          <a:solidFill>
            <a:srgbClr val="FFF9F0"/>
          </a:solidFill>
          <a:ln w="19050"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77295" cy="411480"/>
          </a:xfrm>
          <a:prstGeom prst="rect">
            <a:avLst/>
          </a:prstGeom>
          <a:solidFill>
            <a:srgbClr val="D95319"/>
          </a:solidFill>
          <a:ln>
            <a:solidFill>
              <a:srgbClr val="D953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60520"/>
            <a:ext cx="11002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Defined Boundary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11002975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1E1E1E"/>
                </a:solidFill>
                <a:latin typeface="Arial"/>
              </a:rPr>
              <a:t>Camera-based physiological monitoring requires: (1) Availability of at least one unobstructed facial ROI, and (2) Stable ambient illumination. Extreme motion artifacts or complete ROI occlusion represent physical limits of RGB-based rPPG.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Universal Benchmark (N=50 Subjects)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[24] Y. Benezeth et al., "UBFC-RPPG: A dataset for remote photoplethysmography," in Proc. FedCSIS, 2017.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MAE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68th Percentile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HR MAE (BPM)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13.51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10.93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9.29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5.15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56.87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13.64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SpO2 MAE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14.83%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8.79%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2926080"/>
            <a:ext cx="1127729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Stable Saturation Tracking</a:t>
            </a:r>
            <a:r>
              <a:rPr sz="1800">
                <a:solidFill>
                  <a:srgbClr val="1E1E1E"/>
                </a:solidFill>
                <a:latin typeface="Arial"/>
              </a:rPr>
              <a:t>: SpO2 estimation shows remarkably low variance (σ = 2.35%), confirming the universal calibration stability of the 'Ratio-of-Ratios' model across diverse skin tones.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Heart Rate Precision</a:t>
            </a:r>
            <a:r>
              <a:rPr sz="1800">
                <a:solidFill>
                  <a:srgbClr val="1E1E1E"/>
                </a:solidFill>
                <a:latin typeface="Arial"/>
              </a:rPr>
              <a:t>: </a:t>
            </a:r>
            <a:r>
              <a:rPr sz="1800" b="1">
                <a:solidFill>
                  <a:srgbClr val="1E1E1E"/>
                </a:solidFill>
                <a:latin typeface="Arial"/>
              </a:rPr>
              <a:t>68% of the subjects achieved HR MAE &lt; 9.0 BPM</a:t>
            </a:r>
            <a:r>
              <a:rPr sz="1800">
                <a:solidFill>
                  <a:srgbClr val="1E1E1E"/>
                </a:solidFill>
                <a:latin typeface="Arial"/>
              </a:rPr>
              <a:t>. The dataset mean (13.51 BPM) is heavily skewed by a few extreme outliers (Subjects 11 and 20).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Cabin Validation</a:t>
            </a:r>
            <a:r>
              <a:rPr sz="1800">
                <a:solidFill>
                  <a:srgbClr val="1E1E1E"/>
                </a:solidFill>
                <a:latin typeface="Arial"/>
              </a:rPr>
              <a:t>: Validates the non-contact system across a large cohort under standard vehicle cabin lighting simulations.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7.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[14] A. Vaswani et al., "Attention is all you need," in Proc. NIPS, 2017.   [17] S. Butterworth, "On the theory of filter amplifiers," Wireless Engineer, 1930.   [19] C. Lugaresi et al., "MediaPipe: A Framework for Building Perception Pipelines," arXiv:1906.08172, 2019.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Developed Multi-Modal Driver Monitoring System</a:t>
            </a:r>
            <a:r>
              <a:rPr sz="1800">
                <a:solidFill>
                  <a:srgbClr val="1E1E1E"/>
                </a:solidFill>
                <a:latin typeface="Arial"/>
              </a:rPr>
              <a:t>: Fuses non-contact physiological indicators with visual behavioral landmarks: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Objective 1 (Resilient rPPG)</a:t>
            </a:r>
            <a:r>
              <a:rPr sz="1500">
                <a:solidFill>
                  <a:srgbClr val="505050"/>
                </a:solidFill>
                <a:latin typeface="Arial"/>
              </a:rPr>
              <a:t>: SNR-based ROI-Switching Attention resolved lighting shadows and occlusions in </a:t>
            </a:r>
            <a:r>
              <a:rPr sz="1500" b="1">
                <a:solidFill>
                  <a:srgbClr val="505050"/>
                </a:solidFill>
                <a:latin typeface="Arial"/>
              </a:rPr>
              <a:t>92%</a:t>
            </a:r>
            <a:r>
              <a:rPr sz="1500">
                <a:solidFill>
                  <a:srgbClr val="505050"/>
                </a:solidFill>
                <a:latin typeface="Arial"/>
              </a:rPr>
              <a:t> of cases.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Objective 2 (Early Warning)</a:t>
            </a:r>
            <a:r>
              <a:rPr sz="1500">
                <a:solidFill>
                  <a:srgbClr val="505050"/>
                </a:solidFill>
                <a:latin typeface="Arial"/>
              </a:rPr>
              <a:t>: Established HRV Delta as a predictive marker with a </a:t>
            </a:r>
            <a:r>
              <a:rPr sz="1500" b="1">
                <a:solidFill>
                  <a:srgbClr val="505050"/>
                </a:solidFill>
                <a:latin typeface="Arial"/>
              </a:rPr>
              <a:t>5-15s lead time</a:t>
            </a:r>
            <a:r>
              <a:rPr sz="1500">
                <a:solidFill>
                  <a:srgbClr val="505050"/>
                </a:solidFill>
                <a:latin typeface="Arial"/>
              </a:rPr>
              <a:t> before physical eye closures occur.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Objective 3 (Precise Fusion)</a:t>
            </a:r>
            <a:r>
              <a:rPr sz="1500">
                <a:solidFill>
                  <a:srgbClr val="505050"/>
                </a:solidFill>
                <a:latin typeface="Arial"/>
              </a:rPr>
              <a:t>: Multi-Head Attention BiLSTM model achieved a Validation MAE of </a:t>
            </a:r>
            <a:r>
              <a:rPr sz="1500" b="1">
                <a:solidFill>
                  <a:srgbClr val="505050"/>
                </a:solidFill>
                <a:latin typeface="Arial"/>
              </a:rPr>
              <a:t>0.0332</a:t>
            </a:r>
            <a:r>
              <a:rPr sz="1500">
                <a:solidFill>
                  <a:srgbClr val="505050"/>
                </a:solidFill>
                <a:latin typeface="Arial"/>
              </a:rPr>
              <a:t> (</a:t>
            </a:r>
            <a:r>
              <a:rPr sz="1500" b="1">
                <a:solidFill>
                  <a:srgbClr val="505050"/>
                </a:solidFill>
                <a:latin typeface="Arial"/>
              </a:rPr>
              <a:t>77% error reduction</a:t>
            </a:r>
            <a:r>
              <a:rPr sz="1500">
                <a:solidFill>
                  <a:srgbClr val="505050"/>
                </a:solidFill>
                <a:latin typeface="Arial"/>
              </a:rPr>
              <a:t> over behavioral baselines).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D95319"/>
                </a:solidFill>
                <a:latin typeface="Arial"/>
              </a:rPr>
              <a:t>▷  </a:t>
            </a:r>
            <a:r>
              <a:rPr sz="1500" b="1">
                <a:solidFill>
                  <a:srgbClr val="505050"/>
                </a:solidFill>
                <a:latin typeface="Arial"/>
              </a:rPr>
              <a:t>Objective 4 (Edge Optimization)</a:t>
            </a:r>
            <a:r>
              <a:rPr sz="1500">
                <a:solidFill>
                  <a:srgbClr val="505050"/>
                </a:solidFill>
                <a:latin typeface="Arial"/>
              </a:rPr>
              <a:t>: Multi-threaded pipeline runs under </a:t>
            </a:r>
            <a:r>
              <a:rPr sz="1500" b="1">
                <a:solidFill>
                  <a:srgbClr val="505050"/>
                </a:solidFill>
                <a:latin typeface="Arial"/>
              </a:rPr>
              <a:t>31.2 ms per frame (30 FPS)</a:t>
            </a:r>
            <a:r>
              <a:rPr sz="1500">
                <a:solidFill>
                  <a:srgbClr val="505050"/>
                </a:solidFill>
                <a:latin typeface="Arial"/>
              </a:rPr>
              <a:t> on standard CPUs without GPU dependencies.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Scholarly Summary</a:t>
            </a:r>
            <a:r>
              <a:rPr sz="1800">
                <a:solidFill>
                  <a:srgbClr val="1E1E1E"/>
                </a:solidFill>
                <a:latin typeface="Arial"/>
              </a:rPr>
              <a:t>: Fusing 'internal' physiological state with 'external' behavioral markers creates a redundant, fail-operational safety architecture suitable for active safety vehicles.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7.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[29] Qualcomm, "Snapdragon Ride Platform: Scalable and Open Automated Driving Solution," 2023.   [30] A. Gholami et al., "A Survey of Quantization Methods for Efficient Neural Network Inference," arXiv:2103.13630, 2021.   [31] Google, "XNNPACK: High-efficiency floating-point neural network inference operators," 2023.   [32] European Parliament, "Regulation (EU) 2016/679 (GDPR)," Official Journal of the EU, 2016.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7729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Near-Infrared (NIR) Band Expansion</a:t>
            </a:r>
            <a:r>
              <a:rPr sz="1800">
                <a:solidFill>
                  <a:srgbClr val="1E1E1E"/>
                </a:solidFill>
                <a:latin typeface="Arial"/>
              </a:rPr>
              <a:t>: Integrating 850nm or 940nm bandpass filters with active infrared lighting to enable 24-hour zero-lux operations.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Edge Hardware Optimization</a:t>
            </a:r>
            <a:r>
              <a:rPr sz="1800">
                <a:solidFill>
                  <a:srgbClr val="1E1E1E"/>
                </a:solidFill>
                <a:latin typeface="Arial"/>
              </a:rPr>
              <a:t>: Quantizing the models to INT8 precision using TensorFlow Lite for Qualcomm Snapdragon Ride platforms [30].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Privacy-Compliant Federated Learning</a:t>
            </a:r>
            <a:r>
              <a:rPr sz="1800">
                <a:solidFill>
                  <a:srgbClr val="1E1E1E"/>
                </a:solidFill>
                <a:latin typeface="Arial"/>
              </a:rPr>
              <a:t>: Adhering to GDPR standards [32] by executing decentralized local training to update weights without transmitting driver biometric profiles.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C3B6E"/>
                </a:solidFill>
                <a:latin typeface="Arial"/>
              </a:rPr>
              <a:t>▶  </a:t>
            </a:r>
            <a:r>
              <a:rPr sz="1800" b="1">
                <a:solidFill>
                  <a:srgbClr val="1E1E1E"/>
                </a:solidFill>
                <a:latin typeface="Arial"/>
              </a:rPr>
              <a:t>Integration with Level 2+ ADAS Control Loops</a:t>
            </a:r>
            <a:r>
              <a:rPr sz="1800">
                <a:solidFill>
                  <a:srgbClr val="1E1E1E"/>
                </a:solidFill>
                <a:latin typeface="Arial"/>
              </a:rPr>
              <a:t>: Directly coupling the fatigue probability output (P_fatigue) with vehicle steering and braking control units to enable automated lane-keeping and active deceleration.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Appendix C: DMS Fail-Operational HMI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787878"/>
                </a:solidFill>
                <a:latin typeface="Arial"/>
              </a:defRPr>
            </a:pPr>
            <a:r>
              <a:t>[15] S. Bobbia et al., "Unsupervised skin tissue segmentation for remote photoplethysmography," Pattern Recogn. Lett., 2017.   [16] H. Shao et al., "Remote Photoplethysmography in Real-World and Extreme Lighting Scenarios," in Proc. CVPR, 2025.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36009"/>
              </p:ext>
            </p:extLst>
          </p:nvPr>
        </p:nvGraphicFramePr>
        <p:xfrm>
          <a:off x="457200" y="1188720"/>
          <a:ext cx="11277295" cy="2051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Adverse Scenario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Vulnerable Feature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 Defense Mechanism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Alert Level &amp; Action</a:t>
                      </a:r>
                    </a:p>
                  </a:txBody>
                  <a:tcPr>
                    <a:solidFill>
                      <a:srgbClr val="0C3B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Driver wearing medical mask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dirty="0"/>
                        <a:t>Cheek ROIs (R_2, R_3)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dirty="0"/>
                        <a:t>ROI Switching Attention pivots to Forehead (R_1)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Stage 1 (Normal Operations)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Driver wearing sunglasses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Ocular EAR / PERCLOS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Attention weights shift to rPPG, SpO2, and HRV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Stage 2/3 (Physiological 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Extreme side shadow / glare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dirty="0"/>
                        <a:t>Single ROI signal (</a:t>
                      </a:r>
                      <a:r>
                        <a:rPr dirty="0" err="1"/>
                        <a:t>eg.</a:t>
                      </a:r>
                      <a:r>
                        <a:rPr dirty="0"/>
                        <a:t> R_3)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SNR Attention pivots to best region (Forehead/Cheek)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Active monitoring maintained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Complete cabin darkness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RGB skin color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t>System flags Low SNR; pivots to pose variance / infrared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95319"/>
                          </a:solidFill>
                          <a:latin typeface="Arial"/>
                        </a:defRPr>
                      </a:pPr>
                      <a:r>
                        <a:rPr dirty="0"/>
                        <a:t>Prompt 'Sensor Obstruction'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74720"/>
            <a:ext cx="1127729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C3B6E"/>
                </a:solidFill>
                <a:latin typeface="Arial"/>
              </a:rPr>
              <a:t>▶  </a:t>
            </a:r>
            <a:r>
              <a:rPr sz="1400" b="1">
                <a:solidFill>
                  <a:srgbClr val="1E1E1E"/>
                </a:solidFill>
                <a:latin typeface="Arial"/>
              </a:rPr>
              <a:t>Fail-Operational Redundancy</a:t>
            </a:r>
            <a:r>
              <a:rPr sz="1400">
                <a:solidFill>
                  <a:srgbClr val="1E1E1E"/>
                </a:solidFill>
                <a:latin typeface="Arial"/>
              </a:rPr>
              <a:t>: Multi-Head Attention acts as a dynamic router, automatically increasing weights of non-obstructed features to maintain DMS functionality during visual degradation.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0C3B6E"/>
                </a:solidFill>
                <a:latin typeface="Arial"/>
              </a:rPr>
              <a:t>▶  </a:t>
            </a:r>
            <a:r>
              <a:rPr sz="1400" b="1">
                <a:solidFill>
                  <a:srgbClr val="1E1E1E"/>
                </a:solidFill>
                <a:latin typeface="Arial"/>
              </a:rPr>
              <a:t>HMI Intervention</a:t>
            </a:r>
            <a:r>
              <a:rPr sz="1400">
                <a:solidFill>
                  <a:srgbClr val="1E1E1E"/>
                </a:solidFill>
                <a:latin typeface="Arial"/>
              </a:rPr>
              <a:t>: Safety action is based on feature reliability, ensuring high system trust and preventing nuisance warnings.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E9E5-8FF0-B4AA-6676-CA9C1FC2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1CC2DC-F215-3CDC-415F-5D469906FAA2}"/>
              </a:ext>
            </a:extLst>
          </p:cNvPr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C3B6E"/>
          </a:solidFill>
          <a:ln>
            <a:solidFill>
              <a:srgbClr val="0C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86936-9CB4-A2E2-8319-744AD4BD7B60}"/>
              </a:ext>
            </a:extLst>
          </p:cNvPr>
          <p:cNvSpPr txBox="1"/>
          <p:nvPr/>
        </p:nvSpPr>
        <p:spPr>
          <a:xfrm>
            <a:off x="457200" y="9144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Appendix </a:t>
            </a:r>
            <a:r>
              <a:rPr lang="en-US" dirty="0"/>
              <a:t>D</a:t>
            </a:r>
            <a:r>
              <a:rPr dirty="0"/>
              <a:t>: </a:t>
            </a:r>
            <a:r>
              <a:rPr lang="en-US" dirty="0"/>
              <a:t>Details for 1-D CNN and dataset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4DE7C-7965-D38B-6A16-90F4DACE00DD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C9B67-BDDD-64C9-A5B9-71E4C33213F2}"/>
              </a:ext>
            </a:extLst>
          </p:cNvPr>
          <p:cNvSpPr txBox="1"/>
          <p:nvPr/>
        </p:nvSpPr>
        <p:spPr>
          <a:xfrm>
            <a:off x="457200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S.-W. Chang (TTU)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A8C5C-E3DC-F1CB-0A65-E82FE482D652}"/>
              </a:ext>
            </a:extLst>
          </p:cNvPr>
          <p:cNvSpPr txBox="1"/>
          <p:nvPr/>
        </p:nvSpPr>
        <p:spPr>
          <a:xfrm>
            <a:off x="3200400" y="6565392"/>
            <a:ext cx="5790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Attention-Based Multi-Modal Driver Monitoring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3707F-7484-2345-E69D-ECE6D387ABDC}"/>
              </a:ext>
            </a:extLst>
          </p:cNvPr>
          <p:cNvSpPr txBox="1"/>
          <p:nvPr/>
        </p:nvSpPr>
        <p:spPr>
          <a:xfrm>
            <a:off x="8991295" y="65653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Arial"/>
              </a:defRPr>
            </a:pPr>
            <a:r>
              <a:t>Master's Defense  |  28 / 28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322B64-2803-AD25-F910-5DF95242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5387"/>
            <a:ext cx="12192000" cy="2930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C8BEAA-9960-7AB2-B146-874F77C8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89470"/>
            <a:ext cx="12192000" cy="15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80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5896</Words>
  <Application>Microsoft Office PowerPoint</Application>
  <PresentationFormat>Widescreen</PresentationFormat>
  <Paragraphs>450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張善為</cp:lastModifiedBy>
  <cp:revision>3</cp:revision>
  <cp:lastPrinted>2026-07-27T01:36:28Z</cp:lastPrinted>
  <dcterms:created xsi:type="dcterms:W3CDTF">2013-01-27T09:14:16Z</dcterms:created>
  <dcterms:modified xsi:type="dcterms:W3CDTF">2026-07-27T05:31:26Z</dcterms:modified>
  <cp:category/>
</cp:coreProperties>
</file>