
<file path=[Content_Types].xml><?xml version="1.0" encoding="utf-8"?>
<Types xmlns="http://schemas.openxmlformats.org/package/2006/content-types">
  <Default Extension="jpeg" ContentType="image/jpeg"/>
  <Default Extension="png" ContentType="image/png"/>
  <Default Extension="ppm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85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3" r:id="rId28"/>
    <p:sldId id="287" r:id="rId29"/>
  </p:sldIdLst>
  <p:sldSz cx="12192000" cy="6858000"/>
  <p:notesSz cx="9296400" cy="7010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7482" autoAdjust="0"/>
  </p:normalViewPr>
  <p:slideViewPr>
    <p:cSldViewPr snapToGrid="0" snapToObjects="1">
      <p:cViewPr varScale="1">
        <p:scale>
          <a:sx n="86" d="100"/>
          <a:sy n="86" d="100"/>
        </p:scale>
        <p:origin x="151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028440" cy="351737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265809" y="1"/>
            <a:ext cx="4028440" cy="351737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53100653-E858-45E0-BB40-0A573E8B963C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46350" y="876300"/>
            <a:ext cx="4203700" cy="2365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29640" y="3373754"/>
            <a:ext cx="7437120" cy="2760346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658664"/>
            <a:ext cx="4028440" cy="351736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265809" y="6658664"/>
            <a:ext cx="4028440" cy="351736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E7BA5C4A-B4E8-407F-BC49-0985E0FC4D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95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>
                  <a:lnSpc>
                    <a:spcPct val="120000"/>
                  </a:lnSpc>
                  <a:spcAft>
                    <a:spcPts val="611"/>
                  </a:spcAft>
                </a:pPr>
                <a:r>
                  <a:rPr lang="en-US" b="1" dirty="0">
                    <a:solidFill>
                      <a:srgbClr val="D95319"/>
                    </a:solidFill>
                    <a:latin typeface="Arial"/>
                  </a:rPr>
                  <a:t>▷  </a:t>
                </a:r>
                <a:r>
                  <a:rPr lang="en-US" b="1" dirty="0">
                    <a:solidFill>
                      <a:srgbClr val="505050"/>
                    </a:solidFill>
                    <a:latin typeface="Arial"/>
                  </a:rPr>
                  <a:t>Specular Reflection (C_s)</a:t>
                </a:r>
                <a:r>
                  <a:rPr lang="en-US" dirty="0">
                    <a:solidFill>
                      <a:srgbClr val="505050"/>
                    </a:solidFill>
                    <a:latin typeface="Arial"/>
                  </a:rPr>
                  <a:t>: Surface boundary reflection (achromatic noise) containing zero pulse data.</a:t>
                </a:r>
              </a:p>
              <a:p>
                <a:pPr>
                  <a:lnSpc>
                    <a:spcPct val="120000"/>
                  </a:lnSpc>
                  <a:spcAft>
                    <a:spcPts val="611"/>
                  </a:spcAft>
                </a:pPr>
                <a:r>
                  <a:rPr lang="en-US" b="1" dirty="0">
                    <a:solidFill>
                      <a:srgbClr val="D95319"/>
                    </a:solidFill>
                    <a:latin typeface="Arial"/>
                  </a:rPr>
                  <a:t>▷  </a:t>
                </a:r>
                <a:r>
                  <a:rPr lang="en-US" b="1" dirty="0">
                    <a:solidFill>
                      <a:srgbClr val="505050"/>
                    </a:solidFill>
                    <a:latin typeface="Arial"/>
                  </a:rPr>
                  <a:t>Body (Diffuse) Reflection (</a:t>
                </a:r>
                <a:r>
                  <a:rPr lang="en-US" b="1" dirty="0" err="1">
                    <a:solidFill>
                      <a:srgbClr val="505050"/>
                    </a:solidFill>
                    <a:latin typeface="Arial"/>
                  </a:rPr>
                  <a:t>C_b</a:t>
                </a:r>
                <a:r>
                  <a:rPr lang="en-US" b="1" dirty="0">
                    <a:solidFill>
                      <a:srgbClr val="505050"/>
                    </a:solidFill>
                    <a:latin typeface="Arial"/>
                  </a:rPr>
                  <a:t>)</a:t>
                </a:r>
                <a:r>
                  <a:rPr lang="en-US" dirty="0">
                    <a:solidFill>
                      <a:srgbClr val="505050"/>
                    </a:solidFill>
                    <a:latin typeface="Arial"/>
                  </a:rPr>
                  <a:t>: Light penetrates the epidermis, scatters in dermis, and carries the pulse.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d>
                  </m:oMath>
                </a14:m>
                <a:r>
                  <a:rPr lang="en-US" dirty="0"/>
                  <a:t>: The observed light intensity (or captured camera signal) at time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for wavelength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/>
                  <a:t>.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dirty="0"/>
                  <a:t>: The time-varying illumination intensity (changes in the environmental light source).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dirty="0"/>
                  <a:t>: The specular reflection modulation (the surface glare on the skin, which does </a:t>
                </a:r>
                <a:r>
                  <a:rPr lang="en-US" i="1" dirty="0"/>
                  <a:t>not</a:t>
                </a:r>
                <a:r>
                  <a:rPr lang="en-US" dirty="0"/>
                  <a:t> contain the pulse signal).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d>
                  </m:oMath>
                </a14:m>
                <a:r>
                  <a:rPr lang="en-US" dirty="0"/>
                  <a:t>: The color spectrum of the specular reflection (typically identical to the light source color).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dirty="0"/>
                  <a:t>: The diffuse/body reflection modulation (the light scattered beneath the skin, which contains the vital </a:t>
                </a:r>
                <a:r>
                  <a:rPr lang="en-US" b="1" dirty="0"/>
                  <a:t>blood volume pulse</a:t>
                </a:r>
                <a:r>
                  <a:rPr lang="en-US" dirty="0"/>
                  <a:t> signal).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d>
                  </m:oMath>
                </a14:m>
                <a:r>
                  <a:rPr lang="en-US" dirty="0"/>
                  <a:t>: The color spectrum of the diffuse reflection (the baseline skin tissue color).</a:t>
                </a:r>
              </a:p>
              <a:p>
                <a:pPr>
                  <a:lnSpc>
                    <a:spcPct val="120000"/>
                  </a:lnSpc>
                  <a:spcAft>
                    <a:spcPts val="611"/>
                  </a:spcAft>
                </a:pPr>
                <a:endParaRPr lang="en-US" dirty="0">
                  <a:solidFill>
                    <a:srgbClr val="505050"/>
                  </a:solidFill>
                  <a:latin typeface="Arial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en-US" sz="1200" b="1" dirty="0">
                    <a:solidFill>
                      <a:srgbClr val="D95319"/>
                    </a:solidFill>
                    <a:latin typeface="Arial"/>
                  </a:rPr>
                  <a:t>▷  </a:t>
                </a:r>
                <a:r>
                  <a:rPr lang="en-US" sz="1200" b="1" dirty="0">
                    <a:solidFill>
                      <a:srgbClr val="505050"/>
                    </a:solidFill>
                    <a:latin typeface="Arial"/>
                  </a:rPr>
                  <a:t>Specular Reflection (C_s)</a:t>
                </a:r>
                <a:r>
                  <a:rPr lang="en-US" sz="1200" dirty="0">
                    <a:solidFill>
                      <a:srgbClr val="505050"/>
                    </a:solidFill>
                    <a:latin typeface="Arial"/>
                  </a:rPr>
                  <a:t>: Surface boundary reflection (achromatic noise) containing zero pulse data.</a:t>
                </a:r>
              </a:p>
              <a:p>
                <a:pPr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en-US" sz="1200" b="1" dirty="0">
                    <a:solidFill>
                      <a:srgbClr val="D95319"/>
                    </a:solidFill>
                    <a:latin typeface="Arial"/>
                  </a:rPr>
                  <a:t>▷  </a:t>
                </a:r>
                <a:r>
                  <a:rPr lang="en-US" sz="1200" b="1" dirty="0">
                    <a:solidFill>
                      <a:srgbClr val="505050"/>
                    </a:solidFill>
                    <a:latin typeface="Arial"/>
                  </a:rPr>
                  <a:t>Body (Diffuse) Reflection (</a:t>
                </a:r>
                <a:r>
                  <a:rPr lang="en-US" sz="1200" b="1" dirty="0" err="1">
                    <a:solidFill>
                      <a:srgbClr val="505050"/>
                    </a:solidFill>
                    <a:latin typeface="Arial"/>
                  </a:rPr>
                  <a:t>C_b</a:t>
                </a:r>
                <a:r>
                  <a:rPr lang="en-US" sz="1200" b="1" dirty="0">
                    <a:solidFill>
                      <a:srgbClr val="505050"/>
                    </a:solidFill>
                    <a:latin typeface="Arial"/>
                  </a:rPr>
                  <a:t>)</a:t>
                </a:r>
                <a:r>
                  <a:rPr lang="en-US" sz="1200" dirty="0">
                    <a:solidFill>
                      <a:srgbClr val="505050"/>
                    </a:solidFill>
                    <a:latin typeface="Arial"/>
                  </a:rPr>
                  <a:t>: Light penetrates the epidermis, scatters in dermis, and carries the pulse.</a:t>
                </a:r>
              </a:p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𝐿(𝑡,𝜆)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: The observed light intensity (or captured camera signal) at time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𝑡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for wavelength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𝜆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</a:p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𝐼(𝑡)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: The time-varying illumination intensity (changes in the environmental light source).</a:t>
                </a:r>
              </a:p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𝑚_𝑠 (𝑡)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: The specular reflection modulation (the surface glare on the skin, which does </a:t>
                </a:r>
                <a:r>
                  <a:rPr lang="en-US" sz="1200" i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not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contain the pulse signal).</a:t>
                </a:r>
              </a:p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𝐶_𝑠 (𝜆)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: The color spectrum of the specular reflection (typically identical to the light source color).</a:t>
                </a:r>
              </a:p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𝑚_𝑏 (𝑡)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: The diffuse/body reflection modulation (the light scattered beneath the skin, which contains the vital </a:t>
                </a: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blood volume pulse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signal).</a:t>
                </a:r>
              </a:p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𝐶_𝑏 (𝜆)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: The color spectrum of the diffuse reflection (the baseline skin tissue color).</a:t>
                </a:r>
              </a:p>
              <a:p>
                <a:pPr>
                  <a:lnSpc>
                    <a:spcPct val="120000"/>
                  </a:lnSpc>
                  <a:spcAft>
                    <a:spcPts val="600"/>
                  </a:spcAft>
                </a:pPr>
                <a:endParaRPr lang="en-US" sz="1200" dirty="0">
                  <a:solidFill>
                    <a:srgbClr val="505050"/>
                  </a:solidFill>
                  <a:latin typeface="Arial"/>
                </a:endParaRPr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BA5C4A-B4E8-407F-BC49-0985E0FC4D6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773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0000"/>
              </a:lnSpc>
              <a:spcAft>
                <a:spcPts val="815"/>
              </a:spcAft>
            </a:pPr>
            <a:r>
              <a:rPr lang="en-US" sz="1400" b="1" dirty="0">
                <a:solidFill>
                  <a:srgbClr val="0C3B6E"/>
                </a:solidFill>
                <a:latin typeface="Arial"/>
              </a:rPr>
              <a:t>▶  </a:t>
            </a:r>
            <a:r>
              <a:rPr lang="en-US" sz="1400" b="1" dirty="0">
                <a:solidFill>
                  <a:srgbClr val="1E1E1E"/>
                </a:solidFill>
                <a:latin typeface="Arial"/>
              </a:rPr>
              <a:t>Tiered Multi-Modal Fusion Pipeline</a:t>
            </a:r>
            <a:r>
              <a:rPr lang="en-US" sz="1400" dirty="0">
                <a:solidFill>
                  <a:srgbClr val="1E1E1E"/>
                </a:solidFill>
                <a:latin typeface="Arial"/>
              </a:rPr>
              <a:t>: Integrates physiological and behavioral processing:</a:t>
            </a:r>
          </a:p>
          <a:p>
            <a:pPr>
              <a:lnSpc>
                <a:spcPct val="120000"/>
              </a:lnSpc>
              <a:spcAft>
                <a:spcPts val="611"/>
              </a:spcAft>
            </a:pPr>
            <a:r>
              <a:rPr lang="en-US" b="1" dirty="0">
                <a:solidFill>
                  <a:srgbClr val="D95319"/>
                </a:solidFill>
                <a:latin typeface="Arial"/>
              </a:rPr>
              <a:t>▷  </a:t>
            </a:r>
            <a:r>
              <a:rPr lang="en-US" b="1" dirty="0">
                <a:solidFill>
                  <a:srgbClr val="505050"/>
                </a:solidFill>
                <a:latin typeface="Arial"/>
              </a:rPr>
              <a:t>Part A: Signal Discovery</a:t>
            </a:r>
            <a:r>
              <a:rPr lang="en-US" dirty="0">
                <a:solidFill>
                  <a:srgbClr val="505050"/>
                </a:solidFill>
                <a:latin typeface="Arial"/>
              </a:rPr>
              <a:t>: Face land-marking (</a:t>
            </a:r>
            <a:r>
              <a:rPr lang="en-US" dirty="0" err="1">
                <a:solidFill>
                  <a:srgbClr val="505050"/>
                </a:solidFill>
                <a:latin typeface="Arial"/>
              </a:rPr>
              <a:t>MediaPipe</a:t>
            </a:r>
            <a:r>
              <a:rPr lang="en-US" dirty="0">
                <a:solidFill>
                  <a:srgbClr val="505050"/>
                </a:solidFill>
                <a:latin typeface="Arial"/>
              </a:rPr>
              <a:t>), ROI extraction, and </a:t>
            </a:r>
            <a:r>
              <a:rPr lang="en-US" dirty="0" err="1">
                <a:solidFill>
                  <a:srgbClr val="505050"/>
                </a:solidFill>
                <a:latin typeface="Arial"/>
              </a:rPr>
              <a:t>YCrCb</a:t>
            </a:r>
            <a:r>
              <a:rPr lang="en-US" dirty="0">
                <a:solidFill>
                  <a:srgbClr val="505050"/>
                </a:solidFill>
                <a:latin typeface="Arial"/>
              </a:rPr>
              <a:t> chrominance masking.</a:t>
            </a:r>
          </a:p>
          <a:p>
            <a:pPr>
              <a:lnSpc>
                <a:spcPct val="120000"/>
              </a:lnSpc>
              <a:spcAft>
                <a:spcPts val="611"/>
              </a:spcAft>
            </a:pPr>
            <a:r>
              <a:rPr lang="en-US" b="1" dirty="0">
                <a:solidFill>
                  <a:srgbClr val="D95319"/>
                </a:solidFill>
                <a:latin typeface="Arial"/>
              </a:rPr>
              <a:t>▷  </a:t>
            </a:r>
            <a:r>
              <a:rPr lang="en-US" b="1" dirty="0">
                <a:solidFill>
                  <a:srgbClr val="505050"/>
                </a:solidFill>
                <a:latin typeface="Arial"/>
              </a:rPr>
              <a:t>Part B: Feature Refinement</a:t>
            </a:r>
            <a:r>
              <a:rPr lang="en-US" dirty="0">
                <a:solidFill>
                  <a:srgbClr val="505050"/>
                </a:solidFill>
                <a:latin typeface="Arial"/>
              </a:rPr>
              <a:t>: POS projection, digital Butterworth filtering, and 1D-CNN feature extraction.</a:t>
            </a:r>
          </a:p>
          <a:p>
            <a:pPr>
              <a:lnSpc>
                <a:spcPct val="120000"/>
              </a:lnSpc>
              <a:spcAft>
                <a:spcPts val="611"/>
              </a:spcAft>
            </a:pPr>
            <a:r>
              <a:rPr lang="en-US" b="1" dirty="0">
                <a:solidFill>
                  <a:srgbClr val="D95319"/>
                </a:solidFill>
                <a:latin typeface="Arial"/>
              </a:rPr>
              <a:t>▷  </a:t>
            </a:r>
            <a:r>
              <a:rPr lang="en-US" b="1" dirty="0">
                <a:solidFill>
                  <a:srgbClr val="505050"/>
                </a:solidFill>
                <a:latin typeface="Arial"/>
              </a:rPr>
              <a:t>Part C: Temporal Fusion</a:t>
            </a:r>
            <a:r>
              <a:rPr lang="en-US" dirty="0">
                <a:solidFill>
                  <a:srgbClr val="505050"/>
                </a:solidFill>
                <a:latin typeface="Arial"/>
              </a:rPr>
              <a:t>: Multi-Head Attention (MHA) + </a:t>
            </a:r>
            <a:r>
              <a:rPr lang="en-US" dirty="0" err="1">
                <a:solidFill>
                  <a:srgbClr val="505050"/>
                </a:solidFill>
                <a:latin typeface="Arial"/>
              </a:rPr>
              <a:t>BiLSTM</a:t>
            </a:r>
            <a:r>
              <a:rPr lang="en-US" dirty="0">
                <a:solidFill>
                  <a:srgbClr val="505050"/>
                </a:solidFill>
                <a:latin typeface="Arial"/>
              </a:rPr>
              <a:t> network for continuous state classification.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BA5C4A-B4E8-407F-BC49-0985E0FC4D6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3662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Google </a:t>
            </a:r>
            <a:r>
              <a:rPr lang="en-US" dirty="0" err="1"/>
              <a:t>MediaPipe</a:t>
            </a:r>
            <a:r>
              <a:rPr lang="en-US" dirty="0"/>
              <a:t> Face Mesh , 468 3D Landmarks (X,Y,Z),</a:t>
            </a:r>
            <a:r>
              <a:rPr lang="fr-FR" dirty="0"/>
              <a:t> Ultra-Fast (~6-8 ms on CPU), Near Zero (Temporal </a:t>
            </a:r>
            <a:r>
              <a:rPr lang="fr-FR" dirty="0" err="1"/>
              <a:t>Tracking</a:t>
            </a:r>
            <a:r>
              <a:rPr lang="fr-FR" dirty="0"/>
              <a:t>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BA5C4A-B4E8-407F-BC49-0985E0FC4D6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4021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0000"/>
              </a:lnSpc>
              <a:spcAft>
                <a:spcPts val="815"/>
              </a:spcAft>
            </a:pPr>
            <a:r>
              <a:rPr lang="en-US" sz="1400" b="1" dirty="0">
                <a:solidFill>
                  <a:srgbClr val="0C3B6E"/>
                </a:solidFill>
                <a:latin typeface="Arial"/>
              </a:rPr>
              <a:t>▶  </a:t>
            </a:r>
            <a:r>
              <a:rPr lang="en-US" sz="1400" b="1" dirty="0" err="1">
                <a:solidFill>
                  <a:srgbClr val="1E1E1E"/>
                </a:solidFill>
                <a:latin typeface="Arial"/>
              </a:rPr>
              <a:t>MediaPipe</a:t>
            </a:r>
            <a:r>
              <a:rPr lang="en-US" sz="1400" b="1" dirty="0">
                <a:solidFill>
                  <a:srgbClr val="1E1E1E"/>
                </a:solidFill>
                <a:latin typeface="Arial"/>
              </a:rPr>
              <a:t> Face Mesh</a:t>
            </a:r>
            <a:r>
              <a:rPr lang="en-US" sz="1400" dirty="0">
                <a:solidFill>
                  <a:srgbClr val="1E1E1E"/>
                </a:solidFill>
                <a:latin typeface="Arial"/>
              </a:rPr>
              <a:t>: Tracks 468 3D landmarks for real-time face tracking [19].</a:t>
            </a:r>
          </a:p>
          <a:p>
            <a:pPr>
              <a:lnSpc>
                <a:spcPct val="120000"/>
              </a:lnSpc>
              <a:spcAft>
                <a:spcPts val="611"/>
              </a:spcAft>
            </a:pPr>
            <a:r>
              <a:rPr lang="en-US" b="1" dirty="0">
                <a:solidFill>
                  <a:srgbClr val="D95319"/>
                </a:solidFill>
                <a:latin typeface="Arial"/>
              </a:rPr>
              <a:t>▷  </a:t>
            </a:r>
            <a:r>
              <a:rPr lang="en-US" dirty="0">
                <a:solidFill>
                  <a:srgbClr val="505050"/>
                </a:solidFill>
                <a:latin typeface="Arial"/>
              </a:rPr>
              <a:t>Chosen for optimized CPU inference speed, vital for achieving the 30 FPS target on standard edge computers.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BA5C4A-B4E8-407F-BC49-0985E0FC4D6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3917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0000"/>
              </a:lnSpc>
              <a:spcAft>
                <a:spcPts val="815"/>
              </a:spcAft>
            </a:pPr>
            <a:r>
              <a:rPr lang="en-US" b="1" dirty="0">
                <a:solidFill>
                  <a:srgbClr val="0C3B6E"/>
                </a:solidFill>
                <a:latin typeface="Arial"/>
              </a:rPr>
              <a:t>▶  </a:t>
            </a:r>
            <a:r>
              <a:rPr lang="en-US" b="1" dirty="0">
                <a:solidFill>
                  <a:srgbClr val="1E1E1E"/>
                </a:solidFill>
                <a:latin typeface="Arial"/>
              </a:rPr>
              <a:t>Lighting Glare &amp; Shadow Artifacts</a:t>
            </a:r>
            <a:r>
              <a:rPr lang="en-US" dirty="0">
                <a:solidFill>
                  <a:srgbClr val="1E1E1E"/>
                </a:solidFill>
                <a:latin typeface="Arial"/>
              </a:rPr>
              <a:t>: Non-uniform lighting makes fixed ROIs highly unreliable.</a:t>
            </a:r>
          </a:p>
          <a:p>
            <a:pPr>
              <a:lnSpc>
                <a:spcPct val="120000"/>
              </a:lnSpc>
              <a:spcAft>
                <a:spcPts val="815"/>
              </a:spcAft>
            </a:pPr>
            <a:r>
              <a:rPr lang="en-US" b="1" dirty="0">
                <a:solidFill>
                  <a:srgbClr val="0C3B6E"/>
                </a:solidFill>
                <a:latin typeface="Arial"/>
              </a:rPr>
              <a:t>▶  </a:t>
            </a:r>
            <a:r>
              <a:rPr lang="en-US" b="1" dirty="0">
                <a:solidFill>
                  <a:srgbClr val="1E1E1E"/>
                </a:solidFill>
                <a:latin typeface="Arial"/>
              </a:rPr>
              <a:t>SNR-based Hard-Switching</a:t>
            </a:r>
            <a:r>
              <a:rPr lang="en-US" dirty="0">
                <a:solidFill>
                  <a:srgbClr val="1E1E1E"/>
                </a:solidFill>
                <a:latin typeface="Arial"/>
              </a:rPr>
              <a:t>: Evaluates the signal quality of all 3 ROIs over a rolling window (N = 256 frames).</a:t>
            </a:r>
          </a:p>
          <a:p>
            <a:pPr>
              <a:lnSpc>
                <a:spcPct val="120000"/>
              </a:lnSpc>
              <a:spcAft>
                <a:spcPts val="815"/>
              </a:spcAft>
            </a:pPr>
            <a:r>
              <a:rPr lang="en-US" b="1" dirty="0">
                <a:solidFill>
                  <a:srgbClr val="0C3B6E"/>
                </a:solidFill>
                <a:latin typeface="Arial"/>
              </a:rPr>
              <a:t>▶  </a:t>
            </a:r>
            <a:r>
              <a:rPr lang="en-US" b="1" dirty="0">
                <a:solidFill>
                  <a:srgbClr val="1E1E1E"/>
                </a:solidFill>
                <a:latin typeface="Arial"/>
              </a:rPr>
              <a:t>FFT-based Signal-to-Noise Ratio (SNR)</a:t>
            </a:r>
            <a:r>
              <a:rPr lang="en-US" dirty="0">
                <a:solidFill>
                  <a:srgbClr val="1E1E1E"/>
                </a:solidFill>
                <a:latin typeface="Arial"/>
              </a:rPr>
              <a:t> inside the cardiac band (0.75 Hz - 3.0 Hz):</a:t>
            </a:r>
          </a:p>
          <a:p>
            <a:pPr>
              <a:lnSpc>
                <a:spcPct val="120000"/>
              </a:lnSpc>
              <a:spcAft>
                <a:spcPts val="611"/>
              </a:spcAft>
            </a:pPr>
            <a:r>
              <a:rPr lang="en-US" sz="1100" b="1" dirty="0">
                <a:solidFill>
                  <a:srgbClr val="D95319"/>
                </a:solidFill>
                <a:latin typeface="Arial"/>
              </a:rPr>
              <a:t>▷  </a:t>
            </a:r>
            <a:r>
              <a:rPr lang="en-US" sz="1100" b="1" dirty="0" err="1">
                <a:solidFill>
                  <a:srgbClr val="505050"/>
                </a:solidFill>
                <a:latin typeface="Arial"/>
              </a:rPr>
              <a:t>SNR_dB</a:t>
            </a:r>
            <a:r>
              <a:rPr lang="en-US" sz="1100" dirty="0">
                <a:solidFill>
                  <a:srgbClr val="505050"/>
                </a:solidFill>
                <a:latin typeface="Arial"/>
              </a:rPr>
              <a:t> = 10 × log10( </a:t>
            </a:r>
            <a:r>
              <a:rPr lang="en-US" sz="1100" dirty="0" err="1">
                <a:solidFill>
                  <a:srgbClr val="505050"/>
                </a:solidFill>
                <a:latin typeface="Arial"/>
              </a:rPr>
              <a:t>P_pulse</a:t>
            </a:r>
            <a:r>
              <a:rPr lang="en-US" sz="1100" dirty="0">
                <a:solidFill>
                  <a:srgbClr val="505050"/>
                </a:solidFill>
                <a:latin typeface="Arial"/>
              </a:rPr>
              <a:t> / (</a:t>
            </a:r>
            <a:r>
              <a:rPr lang="en-US" sz="1100" dirty="0" err="1">
                <a:solidFill>
                  <a:srgbClr val="505050"/>
                </a:solidFill>
                <a:latin typeface="Arial"/>
              </a:rPr>
              <a:t>P_total</a:t>
            </a:r>
            <a:r>
              <a:rPr lang="en-US" sz="1100" dirty="0">
                <a:solidFill>
                  <a:srgbClr val="505050"/>
                </a:solidFill>
                <a:latin typeface="Arial"/>
              </a:rPr>
              <a:t> - </a:t>
            </a:r>
            <a:r>
              <a:rPr lang="en-US" sz="1100" dirty="0" err="1">
                <a:solidFill>
                  <a:srgbClr val="505050"/>
                </a:solidFill>
                <a:latin typeface="Arial"/>
              </a:rPr>
              <a:t>P_pulse</a:t>
            </a:r>
            <a:r>
              <a:rPr lang="en-US" sz="1100" dirty="0">
                <a:solidFill>
                  <a:srgbClr val="505050"/>
                </a:solidFill>
                <a:latin typeface="Arial"/>
              </a:rPr>
              <a:t>) )</a:t>
            </a:r>
          </a:p>
          <a:p>
            <a:pPr>
              <a:lnSpc>
                <a:spcPct val="120000"/>
              </a:lnSpc>
              <a:spcAft>
                <a:spcPts val="815"/>
              </a:spcAft>
            </a:pPr>
            <a:r>
              <a:rPr lang="en-US" b="1" dirty="0">
                <a:solidFill>
                  <a:srgbClr val="0C3B6E"/>
                </a:solidFill>
                <a:latin typeface="Arial"/>
              </a:rPr>
              <a:t>▶  </a:t>
            </a:r>
            <a:r>
              <a:rPr lang="en-US" b="1" dirty="0">
                <a:solidFill>
                  <a:srgbClr val="1E1E1E"/>
                </a:solidFill>
                <a:latin typeface="Arial"/>
              </a:rPr>
              <a:t>Dynamic Region Pivoting</a:t>
            </a:r>
            <a:r>
              <a:rPr lang="en-US" dirty="0">
                <a:solidFill>
                  <a:srgbClr val="1E1E1E"/>
                </a:solidFill>
                <a:latin typeface="Arial"/>
              </a:rPr>
              <a:t>: System dynamically switches to and selects the single ROI with the highest </a:t>
            </a:r>
            <a:r>
              <a:rPr lang="en-US" dirty="0" err="1">
                <a:solidFill>
                  <a:srgbClr val="1E1E1E"/>
                </a:solidFill>
                <a:latin typeface="Arial"/>
              </a:rPr>
              <a:t>SNR_dB</a:t>
            </a:r>
            <a:r>
              <a:rPr lang="en-US" dirty="0">
                <a:solidFill>
                  <a:srgbClr val="1E1E1E"/>
                </a:solidFill>
                <a:latin typeface="Arial"/>
              </a:rPr>
              <a:t> for final </a:t>
            </a:r>
          </a:p>
          <a:p>
            <a:pPr defTabSz="931774">
              <a:lnSpc>
                <a:spcPct val="120000"/>
              </a:lnSpc>
              <a:spcAft>
                <a:spcPts val="815"/>
              </a:spcAft>
              <a:defRPr/>
            </a:pPr>
            <a:endParaRPr lang="en-US" dirty="0"/>
          </a:p>
          <a:p>
            <a:pPr defTabSz="931774">
              <a:lnSpc>
                <a:spcPct val="120000"/>
              </a:lnSpc>
              <a:spcAft>
                <a:spcPts val="815"/>
              </a:spcAft>
              <a:defRPr/>
            </a:pPr>
            <a:r>
              <a:rPr lang="en-US" dirty="0"/>
              <a:t>Key Innovation vs. Soft-Weighting Baselines</a:t>
            </a:r>
            <a:endParaRPr lang="en-US" dirty="0">
              <a:solidFill>
                <a:srgbClr val="1E1E1E"/>
              </a:solidFill>
              <a:latin typeface="Arial"/>
            </a:endParaRPr>
          </a:p>
          <a:p>
            <a:pPr defTabSz="931774">
              <a:lnSpc>
                <a:spcPct val="120000"/>
              </a:lnSpc>
              <a:spcAft>
                <a:spcPts val="815"/>
              </a:spcAft>
              <a:defRPr/>
            </a:pPr>
            <a:r>
              <a:rPr lang="en-US" dirty="0">
                <a:solidFill>
                  <a:srgbClr val="1E1E1E"/>
                </a:solidFill>
                <a:latin typeface="Arial"/>
              </a:rPr>
              <a:t>Traditional methods average multiple regions [15], which allows noise from shadowed areas to propagate. </a:t>
            </a:r>
          </a:p>
          <a:p>
            <a:pPr defTabSz="931774">
              <a:lnSpc>
                <a:spcPct val="120000"/>
              </a:lnSpc>
              <a:spcAft>
                <a:spcPts val="815"/>
              </a:spcAft>
              <a:defRPr/>
            </a:pPr>
            <a:r>
              <a:rPr lang="en-US" dirty="0">
                <a:solidFill>
                  <a:srgbClr val="1E1E1E"/>
                </a:solidFill>
                <a:latin typeface="Arial"/>
              </a:rPr>
              <a:t>Our hard-switching mechanism completely discards degraded regions, saving computational power and isolating the clean pulse.</a:t>
            </a:r>
          </a:p>
          <a:p>
            <a:pPr defTabSz="931774">
              <a:lnSpc>
                <a:spcPct val="120000"/>
              </a:lnSpc>
              <a:spcAft>
                <a:spcPts val="815"/>
              </a:spcAft>
              <a:defRPr/>
            </a:pPr>
            <a:r>
              <a:rPr lang="en-US" dirty="0"/>
              <a:t>[15] S. </a:t>
            </a:r>
            <a:r>
              <a:rPr lang="en-US" dirty="0" err="1"/>
              <a:t>Bobbia</a:t>
            </a:r>
            <a:r>
              <a:rPr lang="en-US" dirty="0"/>
              <a:t> et al., "Unsupervised skin tissue segmentation for remote photoplethysmography," Pattern </a:t>
            </a:r>
            <a:r>
              <a:rPr lang="en-US" dirty="0" err="1"/>
              <a:t>Recogn</a:t>
            </a:r>
            <a:r>
              <a:rPr lang="en-US" dirty="0"/>
              <a:t>. Lett., 2071.</a:t>
            </a:r>
          </a:p>
          <a:p>
            <a:pPr defTabSz="931774">
              <a:lnSpc>
                <a:spcPct val="120000"/>
              </a:lnSpc>
              <a:spcAft>
                <a:spcPts val="815"/>
              </a:spcAft>
              <a:defRPr/>
            </a:pPr>
            <a:endParaRPr lang="en-US" dirty="0">
              <a:solidFill>
                <a:srgbClr val="1E1E1E"/>
              </a:solidFill>
              <a:latin typeface="Arial"/>
            </a:endParaRPr>
          </a:p>
          <a:p>
            <a:pPr>
              <a:lnSpc>
                <a:spcPct val="120000"/>
              </a:lnSpc>
              <a:spcAft>
                <a:spcPts val="815"/>
              </a:spcAft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BA5C4A-B4E8-407F-BC49-0985E0FC4D6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0271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𝑝1 … 𝑝8, they represent the inner lip landmarks provided by </a:t>
            </a:r>
            <a:r>
              <a:rPr lang="en-US" dirty="0" err="1"/>
              <a:t>MediaPipe</a:t>
            </a:r>
            <a:r>
              <a:rPr lang="en-US" dirty="0"/>
              <a:t> Face Mesh. A sustained MAR above a threshold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By calculating the standard deviation over a 60-frame window, this single scalar quantifies both head nodding (drowsiness) and</a:t>
            </a:r>
          </a:p>
          <a:p>
            <a:r>
              <a:rPr lang="en-US" dirty="0"/>
              <a:t>  │ head turning (distraction), serving as the 4th feature in our 7-vector fusion model."*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BA5C4A-B4E8-407F-BC49-0985E0FC4D6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3056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 and DC for modified </a:t>
            </a:r>
            <a:r>
              <a:rPr lang="en-US" dirty="0" err="1"/>
              <a:t>beerlambert</a:t>
            </a:r>
            <a:r>
              <a:rPr lang="en-US" dirty="0"/>
              <a:t> law(MBLL)</a:t>
            </a:r>
          </a:p>
          <a:p>
            <a:r>
              <a:rPr lang="en-US" dirty="0"/>
              <a:t>DC =brightness , AC= standard deviation of detrend signals</a:t>
            </a:r>
          </a:p>
          <a:p>
            <a:endParaRPr lang="en-US" dirty="0"/>
          </a:p>
          <a:p>
            <a:r>
              <a:rPr lang="en-US" dirty="0"/>
              <a:t> Oxygenated hemoglobin (</a:t>
            </a:r>
            <a:r>
              <a:rPr lang="en-US" dirty="0" err="1"/>
              <a:t>HbO</a:t>
            </a:r>
            <a:r>
              <a:rPr lang="en-US" dirty="0"/>
              <a:t>₂) and deoxygenated hemoglobin (Hb) absorb Red light (≈660 nm) and Blue/Green light (≈470 nm/530 nm) at drastically different rates</a:t>
            </a:r>
          </a:p>
          <a:p>
            <a:endParaRPr lang="en-US" dirty="0"/>
          </a:p>
          <a:p>
            <a:r>
              <a:rPr lang="en-US" dirty="0"/>
              <a:t> 1. High SpO₂ (Well-oxygenated): </a:t>
            </a:r>
            <a:r>
              <a:rPr lang="en-US" dirty="0" err="1"/>
              <a:t>HbO</a:t>
            </a:r>
            <a:r>
              <a:rPr lang="en-US" dirty="0"/>
              <a:t>₂ absorbs less Red light → Red AC fluctuation is lower relative to DC.</a:t>
            </a:r>
          </a:p>
          <a:p>
            <a:r>
              <a:rPr lang="en-US" dirty="0"/>
              <a:t> 2. Low SpO₂ (Hypoxia / Drowsiness): Hb absorbs more Red light → Red AC fluctuation increases relative to DC.</a:t>
            </a:r>
          </a:p>
          <a:p>
            <a:r>
              <a:rPr lang="en-US" dirty="0"/>
              <a:t> By taking the Ratio of Ratios (R) between the Red and Blue/Green channels, we isolate arterial oxygen saturation: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BA5C4A-B4E8-407F-BC49-0985E0FC4D6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0064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31774">
              <a:defRPr/>
            </a:pPr>
            <a:r>
              <a:rPr lang="en-US" b="1" dirty="0">
                <a:solidFill>
                  <a:srgbClr val="D95319"/>
                </a:solidFill>
                <a:latin typeface="Arial"/>
              </a:rPr>
              <a:t> "HRV measures the static beat-to-beat variability (SDNN), which varies between individuals."</a:t>
            </a:r>
          </a:p>
          <a:p>
            <a:pPr defTabSz="931774">
              <a:defRPr/>
            </a:pPr>
            <a:r>
              <a:rPr lang="en-US" b="1" dirty="0">
                <a:solidFill>
                  <a:srgbClr val="D95319"/>
                </a:solidFill>
                <a:latin typeface="Arial"/>
              </a:rPr>
              <a:t>  2. "HRV Delta measures the rate of change (Δ HRV), canceling out individual baseline differences."</a:t>
            </a:r>
          </a:p>
          <a:p>
            <a:pPr defTabSz="931774">
              <a:defRPr/>
            </a:pPr>
            <a:r>
              <a:rPr lang="en-US" b="1" dirty="0">
                <a:solidFill>
                  <a:srgbClr val="D95319"/>
                </a:solidFill>
                <a:latin typeface="Arial"/>
              </a:rPr>
              <a:t>  3. "HRV Delta detects parasympathetic nervous system shifts minutes before eyes close, acting as our primary predictive indicator (ρ = +0.84)."</a:t>
            </a:r>
          </a:p>
          <a:p>
            <a:pPr defTabSz="931774">
              <a:defRPr/>
            </a:pPr>
            <a:endParaRPr lang="en-US" b="1" dirty="0">
              <a:solidFill>
                <a:srgbClr val="D95319"/>
              </a:solidFill>
              <a:latin typeface="Arial"/>
            </a:endParaRPr>
          </a:p>
          <a:p>
            <a:pPr defTabSz="931774">
              <a:defRPr/>
            </a:pPr>
            <a:r>
              <a:rPr lang="en-US" b="1" dirty="0">
                <a:solidFill>
                  <a:srgbClr val="D95319"/>
                </a:solidFill>
                <a:latin typeface="Arial"/>
              </a:rPr>
              <a:t>▷  </a:t>
            </a:r>
            <a:r>
              <a:rPr lang="en-US" dirty="0">
                <a:solidFill>
                  <a:srgbClr val="505050"/>
                </a:solidFill>
                <a:latin typeface="Arial"/>
              </a:rPr>
              <a:t>Layer 1: 64 hidden units, Layer 2: 32 hidden units (both return sequences). </a:t>
            </a:r>
            <a:r>
              <a:rPr lang="en-US" dirty="0">
                <a:solidFill>
                  <a:srgbClr val="1E1E1E"/>
                </a:solidFill>
                <a:latin typeface="Arial"/>
              </a:rPr>
              <a:t>over a temporal context window of </a:t>
            </a:r>
            <a:r>
              <a:rPr lang="en-US" b="1" dirty="0">
                <a:solidFill>
                  <a:srgbClr val="1E1E1E"/>
                </a:solidFill>
                <a:latin typeface="Arial"/>
              </a:rPr>
              <a:t>T = 60 frames (2.0 seconds)</a:t>
            </a:r>
            <a:r>
              <a:rPr lang="en-US" dirty="0">
                <a:solidFill>
                  <a:srgbClr val="1E1E1E"/>
                </a:solidFill>
                <a:latin typeface="Arial"/>
              </a:rPr>
              <a:t>.</a:t>
            </a:r>
          </a:p>
          <a:p>
            <a:endParaRPr lang="en-US" dirty="0"/>
          </a:p>
          <a:p>
            <a:r>
              <a:rPr lang="en-US" dirty="0"/>
              <a:t>The skip connection allows gradients to flow directly during backpropagation, preventing vanishing gradients and ensuring that the original temporal features extracted by the </a:t>
            </a:r>
            <a:r>
              <a:rPr lang="en-US" dirty="0" err="1"/>
              <a:t>BiLSTM</a:t>
            </a:r>
            <a:r>
              <a:rPr lang="en-US" dirty="0"/>
              <a:t> are preserved alongside the attention weights."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BA5C4A-B4E8-407F-BC49-0985E0FC4D6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1083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0000"/>
              </a:lnSpc>
              <a:spcAft>
                <a:spcPts val="611"/>
              </a:spcAft>
            </a:pPr>
            <a:r>
              <a:rPr lang="en-US" b="1" dirty="0">
                <a:solidFill>
                  <a:srgbClr val="D95319"/>
                </a:solidFill>
                <a:latin typeface="Arial"/>
              </a:rPr>
              <a:t>▷  </a:t>
            </a:r>
            <a:r>
              <a:rPr lang="en-US" b="1" dirty="0">
                <a:solidFill>
                  <a:srgbClr val="505050"/>
                </a:solidFill>
                <a:latin typeface="Arial"/>
              </a:rPr>
              <a:t>Stage 1 (Normal Operations)</a:t>
            </a:r>
            <a:r>
              <a:rPr lang="en-US" dirty="0">
                <a:solidFill>
                  <a:srgbClr val="505050"/>
                </a:solidFill>
                <a:latin typeface="Arial"/>
              </a:rPr>
              <a:t>: </a:t>
            </a:r>
            <a:r>
              <a:rPr lang="en-US" dirty="0" err="1">
                <a:solidFill>
                  <a:srgbClr val="505050"/>
                </a:solidFill>
                <a:latin typeface="Arial"/>
              </a:rPr>
              <a:t>P_fatigue</a:t>
            </a:r>
            <a:r>
              <a:rPr lang="en-US" dirty="0">
                <a:solidFill>
                  <a:srgbClr val="505050"/>
                </a:solidFill>
                <a:latin typeface="Arial"/>
              </a:rPr>
              <a:t> &lt;= 0.5. Stable physiology and regular blink patterns. Passive monitoring, no HMI warning.</a:t>
            </a:r>
          </a:p>
          <a:p>
            <a:pPr>
              <a:lnSpc>
                <a:spcPct val="120000"/>
              </a:lnSpc>
              <a:spcAft>
                <a:spcPts val="611"/>
              </a:spcAft>
            </a:pPr>
            <a:r>
              <a:rPr lang="en-US" b="1" dirty="0">
                <a:solidFill>
                  <a:srgbClr val="D95319"/>
                </a:solidFill>
                <a:latin typeface="Arial"/>
              </a:rPr>
              <a:t>▷  </a:t>
            </a:r>
            <a:r>
              <a:rPr lang="en-US" b="1" dirty="0">
                <a:solidFill>
                  <a:srgbClr val="505050"/>
                </a:solidFill>
                <a:latin typeface="Arial"/>
              </a:rPr>
              <a:t>Stage 2 (Fatigue Warning)</a:t>
            </a:r>
            <a:r>
              <a:rPr lang="en-US" dirty="0">
                <a:solidFill>
                  <a:srgbClr val="505050"/>
                </a:solidFill>
                <a:latin typeface="Arial"/>
              </a:rPr>
              <a:t>: 0.5 &lt; </a:t>
            </a:r>
            <a:r>
              <a:rPr lang="en-US" dirty="0" err="1">
                <a:solidFill>
                  <a:srgbClr val="505050"/>
                </a:solidFill>
                <a:latin typeface="Arial"/>
              </a:rPr>
              <a:t>P_fatigue</a:t>
            </a:r>
            <a:r>
              <a:rPr lang="en-US" dirty="0">
                <a:solidFill>
                  <a:srgbClr val="505050"/>
                </a:solidFill>
                <a:latin typeface="Arial"/>
              </a:rPr>
              <a:t> &lt;= 0.8. Gradual drop in HRV Delta triggers localized haptic seat feedback and dashboard alerts.</a:t>
            </a:r>
          </a:p>
          <a:p>
            <a:pPr>
              <a:lnSpc>
                <a:spcPct val="120000"/>
              </a:lnSpc>
              <a:spcAft>
                <a:spcPts val="611"/>
              </a:spcAft>
            </a:pPr>
            <a:r>
              <a:rPr lang="en-US" b="1" dirty="0">
                <a:solidFill>
                  <a:srgbClr val="D95319"/>
                </a:solidFill>
                <a:latin typeface="Arial"/>
              </a:rPr>
              <a:t>▷  </a:t>
            </a:r>
            <a:r>
              <a:rPr lang="en-US" b="1" dirty="0">
                <a:solidFill>
                  <a:srgbClr val="505050"/>
                </a:solidFill>
                <a:latin typeface="Arial"/>
              </a:rPr>
              <a:t>Stage 3 (Critical Alert)</a:t>
            </a:r>
            <a:r>
              <a:rPr lang="en-US" dirty="0">
                <a:solidFill>
                  <a:srgbClr val="505050"/>
                </a:solidFill>
                <a:latin typeface="Arial"/>
              </a:rPr>
              <a:t>: </a:t>
            </a:r>
            <a:r>
              <a:rPr lang="en-US" dirty="0" err="1">
                <a:solidFill>
                  <a:srgbClr val="505050"/>
                </a:solidFill>
                <a:latin typeface="Arial"/>
              </a:rPr>
              <a:t>P_fatigue</a:t>
            </a:r>
            <a:r>
              <a:rPr lang="en-US" dirty="0">
                <a:solidFill>
                  <a:srgbClr val="505050"/>
                </a:solidFill>
                <a:latin typeface="Arial"/>
              </a:rPr>
              <a:t> &gt; 0.8. Impending micro-sleep triggers high-decibel auditory alarms and integrates with ADAS for automatic braking.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BA5C4A-B4E8-407F-BC49-0985E0FC4D6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5280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guarantee real-time performance on standard CPUs without a GPU, we implemented Asynchronous Multi-Threading. The main thread handles 30 FPS video capture, </a:t>
            </a:r>
            <a:r>
              <a:rPr lang="en-US" dirty="0" err="1"/>
              <a:t>MediaPipe</a:t>
            </a:r>
            <a:r>
              <a:rPr lang="en-US" dirty="0"/>
              <a:t> facial landmarking, and dashboard rendering. Heavy deep learning inferences—specifically the 1D-CNN feature enhancement and 4-Head MHA-</a:t>
            </a:r>
            <a:r>
              <a:rPr lang="en-US" dirty="0" err="1"/>
              <a:t>BiLSTM</a:t>
            </a:r>
            <a:r>
              <a:rPr lang="en-US" dirty="0"/>
              <a:t> fusion—are offloaded to a background </a:t>
            </a:r>
            <a:r>
              <a:rPr lang="en-US" dirty="0" err="1"/>
              <a:t>AIBackgroundWorker</a:t>
            </a:r>
            <a:r>
              <a:rPr lang="en-US" dirty="0"/>
              <a:t> thread. Using a single-item queue (</a:t>
            </a:r>
            <a:r>
              <a:rPr lang="en-US" dirty="0" err="1"/>
              <a:t>maxsize</a:t>
            </a:r>
            <a:r>
              <a:rPr lang="en-US" dirty="0"/>
              <a:t>=1), unprocessed intermediate frames are dropped rather than buffered, completely preventing video lag or frame dropping in the driver camera feed.“</a:t>
            </a:r>
          </a:p>
          <a:p>
            <a:endParaRPr lang="en-US" dirty="0"/>
          </a:p>
          <a:p>
            <a:r>
              <a:rPr lang="en-US" dirty="0"/>
              <a:t>• Queue Management (</a:t>
            </a:r>
            <a:r>
              <a:rPr lang="en-US" dirty="0" err="1"/>
              <a:t>maxsize</a:t>
            </a:r>
            <a:r>
              <a:rPr lang="en-US" dirty="0"/>
              <a:t>=1):</a:t>
            </a:r>
          </a:p>
          <a:p>
            <a:r>
              <a:rPr lang="en-US" dirty="0"/>
              <a:t>  In main.py, </a:t>
            </a:r>
            <a:r>
              <a:rPr lang="en-US" dirty="0" err="1"/>
              <a:t>input_queue</a:t>
            </a:r>
            <a:r>
              <a:rPr lang="en-US" dirty="0"/>
              <a:t> = Queue(</a:t>
            </a:r>
            <a:r>
              <a:rPr lang="en-US" dirty="0" err="1"/>
              <a:t>maxsize</a:t>
            </a:r>
            <a:r>
              <a:rPr lang="en-US" dirty="0"/>
              <a:t>=1). If the worker thread is busy computing, the main thread skips putting</a:t>
            </a:r>
          </a:p>
          <a:p>
            <a:r>
              <a:rPr lang="en-US" dirty="0"/>
              <a:t>  new frames into the queue, ensuring the system never accumulates a frame buffer lag over hours of driving.</a:t>
            </a:r>
          </a:p>
          <a:p>
            <a:r>
              <a:rPr lang="en-US" dirty="0"/>
              <a:t>  • Explicit CPU Device Allocation:</a:t>
            </a:r>
          </a:p>
          <a:p>
            <a:r>
              <a:rPr lang="en-US" dirty="0"/>
              <a:t>  In main.py, with </a:t>
            </a:r>
            <a:r>
              <a:rPr lang="en-US" dirty="0" err="1"/>
              <a:t>tf.device</a:t>
            </a:r>
            <a:r>
              <a:rPr lang="en-US" dirty="0"/>
              <a:t>('/cpu:0'): locks inference execution to dedicated CPU threads, preventing GPU context-</a:t>
            </a:r>
          </a:p>
          <a:p>
            <a:r>
              <a:rPr lang="en-US" dirty="0"/>
              <a:t>  switching overhead and reducing CPU utilization to &lt;12%.</a:t>
            </a:r>
          </a:p>
          <a:p>
            <a:r>
              <a:rPr lang="en-US" dirty="0"/>
              <a:t>  • Thread Safety (</a:t>
            </a:r>
            <a:r>
              <a:rPr lang="en-US" dirty="0" err="1"/>
              <a:t>task_done</a:t>
            </a:r>
            <a:r>
              <a:rPr lang="en-US" dirty="0"/>
              <a:t>()):</a:t>
            </a:r>
          </a:p>
          <a:p>
            <a:r>
              <a:rPr lang="en-US" dirty="0"/>
              <a:t>  Results are passed back safely to </a:t>
            </a:r>
            <a:r>
              <a:rPr lang="en-US" dirty="0" err="1"/>
              <a:t>dash_data</a:t>
            </a:r>
            <a:r>
              <a:rPr lang="en-US" dirty="0"/>
              <a:t> using atomic dictionary updates (</a:t>
            </a:r>
            <a:r>
              <a:rPr lang="en-US" dirty="0" err="1"/>
              <a:t>worker.results.update</a:t>
            </a:r>
            <a:r>
              <a:rPr lang="en-US" dirty="0"/>
              <a:t>(...)), ensuring</a:t>
            </a:r>
          </a:p>
          <a:p>
            <a:r>
              <a:rPr lang="en-US" dirty="0"/>
              <a:t>  zero UI screen flicker.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BA5C4A-B4E8-407F-BC49-0985E0FC4D6D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787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31774"/>
            <a:r>
              <a:rPr lang="en-US" b="1" dirty="0">
                <a:solidFill>
                  <a:srgbClr val="D95319"/>
                </a:solidFill>
                <a:latin typeface="Arial"/>
              </a:rPr>
              <a:t>▷  </a:t>
            </a:r>
            <a:r>
              <a:rPr lang="en-US" b="1" dirty="0">
                <a:solidFill>
                  <a:srgbClr val="505050"/>
                </a:solidFill>
                <a:latin typeface="Arial"/>
              </a:rPr>
              <a:t>NTHU-DDD Dataset</a:t>
            </a:r>
            <a:r>
              <a:rPr lang="en-US" dirty="0">
                <a:solidFill>
                  <a:srgbClr val="505050"/>
                </a:solidFill>
                <a:latin typeface="Arial"/>
              </a:rPr>
              <a:t>: 13,299 sequences covering diverse lighting conditions, facial occlusions, and head movements, used for fusion network training</a:t>
            </a:r>
          </a:p>
          <a:p>
            <a:pPr defTabSz="931774"/>
            <a:r>
              <a:rPr lang="en-US" b="1" dirty="0">
                <a:solidFill>
                  <a:srgbClr val="D95319"/>
                </a:solidFill>
                <a:latin typeface="Arial"/>
              </a:rPr>
              <a:t>▷  </a:t>
            </a:r>
            <a:r>
              <a:rPr lang="en-US" b="1" dirty="0">
                <a:solidFill>
                  <a:srgbClr val="505050"/>
                </a:solidFill>
                <a:latin typeface="Arial"/>
              </a:rPr>
              <a:t>UBFC-</a:t>
            </a:r>
            <a:r>
              <a:rPr lang="en-US" b="1" dirty="0" err="1">
                <a:solidFill>
                  <a:srgbClr val="505050"/>
                </a:solidFill>
                <a:latin typeface="Arial"/>
              </a:rPr>
              <a:t>rPPG</a:t>
            </a:r>
            <a:r>
              <a:rPr lang="en-US" b="1" dirty="0">
                <a:solidFill>
                  <a:srgbClr val="505050"/>
                </a:solidFill>
                <a:latin typeface="Arial"/>
              </a:rPr>
              <a:t> Dataset</a:t>
            </a:r>
            <a:r>
              <a:rPr lang="en-US" dirty="0">
                <a:solidFill>
                  <a:srgbClr val="505050"/>
                </a:solidFill>
                <a:latin typeface="Arial"/>
              </a:rPr>
              <a:t>: N=50 subjects with synchronized contact oximeter ground-truth readings, used for validating non-contact physiological extraction [24].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BA5C4A-B4E8-407F-BC49-0985E0FC4D6D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8501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505050"/>
                </a:solidFill>
                <a:latin typeface="Arial"/>
              </a:rPr>
              <a:t>Recall</a:t>
            </a:r>
            <a:r>
              <a:rPr lang="en-US" dirty="0">
                <a:solidFill>
                  <a:srgbClr val="505050"/>
                </a:solidFill>
                <a:latin typeface="Arial"/>
              </a:rPr>
              <a:t>: </a:t>
            </a:r>
            <a:r>
              <a:rPr lang="en-US" b="1" dirty="0">
                <a:solidFill>
                  <a:srgbClr val="505050"/>
                </a:solidFill>
                <a:latin typeface="Arial"/>
              </a:rPr>
              <a:t>99.78%</a:t>
            </a:r>
            <a:r>
              <a:rPr lang="en-US" dirty="0">
                <a:solidFill>
                  <a:srgbClr val="505050"/>
                </a:solidFill>
                <a:latin typeface="Arial"/>
              </a:rPr>
              <a:t>  (Critical for safety: guarantees that potential micro-sleeps are almost never missed).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BA5C4A-B4E8-407F-BC49-0985E0FC4D6D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4175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0000"/>
              </a:lnSpc>
              <a:spcAft>
                <a:spcPts val="611"/>
              </a:spcAft>
            </a:pPr>
            <a:r>
              <a:rPr lang="en-US" b="1" dirty="0">
                <a:solidFill>
                  <a:srgbClr val="D95319"/>
                </a:solidFill>
                <a:latin typeface="Arial"/>
              </a:rPr>
              <a:t>▷  </a:t>
            </a:r>
            <a:r>
              <a:rPr lang="en-US" b="1" dirty="0">
                <a:solidFill>
                  <a:srgbClr val="505050"/>
                </a:solidFill>
                <a:latin typeface="Arial"/>
              </a:rPr>
              <a:t>Head 1 (Geometric Transient)</a:t>
            </a:r>
            <a:r>
              <a:rPr lang="en-US" dirty="0">
                <a:solidFill>
                  <a:srgbClr val="505050"/>
                </a:solidFill>
                <a:latin typeface="Arial"/>
              </a:rPr>
              <a:t>: Prioritizes the Pose Variance spike to catch rapid distraction movements.</a:t>
            </a:r>
          </a:p>
          <a:p>
            <a:pPr>
              <a:lnSpc>
                <a:spcPct val="120000"/>
              </a:lnSpc>
              <a:spcAft>
                <a:spcPts val="611"/>
              </a:spcAft>
            </a:pPr>
            <a:r>
              <a:rPr lang="en-US" b="1" dirty="0">
                <a:solidFill>
                  <a:srgbClr val="D95319"/>
                </a:solidFill>
                <a:latin typeface="Arial"/>
              </a:rPr>
              <a:t>▷  </a:t>
            </a:r>
            <a:r>
              <a:rPr lang="en-US" b="1" dirty="0">
                <a:solidFill>
                  <a:srgbClr val="505050"/>
                </a:solidFill>
                <a:latin typeface="Arial"/>
              </a:rPr>
              <a:t>Head 2 (Physiological Gradient)</a:t>
            </a:r>
            <a:r>
              <a:rPr lang="en-US" dirty="0">
                <a:solidFill>
                  <a:srgbClr val="505050"/>
                </a:solidFill>
                <a:latin typeface="Arial"/>
              </a:rPr>
              <a:t>: Tracks basal Heart Rate increase and autonomic nervous shifts.</a:t>
            </a:r>
          </a:p>
          <a:p>
            <a:pPr>
              <a:lnSpc>
                <a:spcPct val="120000"/>
              </a:lnSpc>
              <a:spcAft>
                <a:spcPts val="611"/>
              </a:spcAft>
            </a:pPr>
            <a:r>
              <a:rPr lang="en-US" b="1" dirty="0">
                <a:solidFill>
                  <a:srgbClr val="D95319"/>
                </a:solidFill>
                <a:latin typeface="Arial"/>
              </a:rPr>
              <a:t>▷  </a:t>
            </a:r>
            <a:r>
              <a:rPr lang="en-US" b="1" dirty="0">
                <a:solidFill>
                  <a:srgbClr val="505050"/>
                </a:solidFill>
                <a:latin typeface="Arial"/>
              </a:rPr>
              <a:t>Head 3 (Signal Quality Verification)</a:t>
            </a:r>
            <a:r>
              <a:rPr lang="en-US" dirty="0">
                <a:solidFill>
                  <a:srgbClr val="505050"/>
                </a:solidFill>
                <a:latin typeface="Arial"/>
              </a:rPr>
              <a:t>: Monitors ROI SNR to check </a:t>
            </a:r>
            <a:r>
              <a:rPr lang="en-US" dirty="0" err="1">
                <a:solidFill>
                  <a:srgbClr val="505050"/>
                </a:solidFill>
                <a:latin typeface="Arial"/>
              </a:rPr>
              <a:t>rPPG</a:t>
            </a:r>
            <a:r>
              <a:rPr lang="en-US" dirty="0">
                <a:solidFill>
                  <a:srgbClr val="505050"/>
                </a:solidFill>
                <a:latin typeface="Arial"/>
              </a:rPr>
              <a:t> signal validity.</a:t>
            </a:r>
          </a:p>
          <a:p>
            <a:pPr>
              <a:lnSpc>
                <a:spcPct val="120000"/>
              </a:lnSpc>
              <a:spcAft>
                <a:spcPts val="611"/>
              </a:spcAft>
            </a:pPr>
            <a:r>
              <a:rPr lang="en-US" b="1" dirty="0">
                <a:solidFill>
                  <a:srgbClr val="D95319"/>
                </a:solidFill>
                <a:latin typeface="Arial"/>
              </a:rPr>
              <a:t>▷  </a:t>
            </a:r>
            <a:r>
              <a:rPr lang="en-US" b="1" dirty="0">
                <a:solidFill>
                  <a:srgbClr val="505050"/>
                </a:solidFill>
                <a:latin typeface="Arial"/>
              </a:rPr>
              <a:t>Head 4 (Global State Monitoring)</a:t>
            </a:r>
            <a:r>
              <a:rPr lang="en-US" dirty="0">
                <a:solidFill>
                  <a:srgbClr val="505050"/>
                </a:solidFill>
                <a:latin typeface="Arial"/>
              </a:rPr>
              <a:t>: Maintains a diffuse baseline weighting for long-term consistency.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BA5C4A-B4E8-407F-BC49-0985E0FC4D6D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7338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0000"/>
              </a:lnSpc>
              <a:spcAft>
                <a:spcPts val="815"/>
              </a:spcAft>
            </a:pPr>
            <a:r>
              <a:rPr lang="en-US" b="1" dirty="0">
                <a:solidFill>
                  <a:srgbClr val="0C3B6E"/>
                </a:solidFill>
                <a:latin typeface="Arial"/>
              </a:rPr>
              <a:t>▶  </a:t>
            </a:r>
            <a:r>
              <a:rPr lang="en-US" b="1" dirty="0">
                <a:solidFill>
                  <a:srgbClr val="1E1E1E"/>
                </a:solidFill>
                <a:latin typeface="Arial"/>
              </a:rPr>
              <a:t>Modality Synchronization</a:t>
            </a:r>
            <a:r>
              <a:rPr lang="en-US" dirty="0">
                <a:solidFill>
                  <a:srgbClr val="1E1E1E"/>
                </a:solidFill>
                <a:latin typeface="Arial"/>
              </a:rPr>
              <a:t>: Confirms spatial and temporal alignment of all 7 modalities in the 60-frame (2.0s) buffer.</a:t>
            </a:r>
          </a:p>
          <a:p>
            <a:pPr>
              <a:lnSpc>
                <a:spcPct val="120000"/>
              </a:lnSpc>
              <a:spcAft>
                <a:spcPts val="815"/>
              </a:spcAft>
            </a:pPr>
            <a:r>
              <a:rPr lang="en-US" b="1" dirty="0">
                <a:solidFill>
                  <a:srgbClr val="0C3B6E"/>
                </a:solidFill>
                <a:latin typeface="Arial"/>
              </a:rPr>
              <a:t>▶  </a:t>
            </a:r>
            <a:r>
              <a:rPr lang="en-US" b="1" dirty="0">
                <a:solidFill>
                  <a:srgbClr val="1E1E1E"/>
                </a:solidFill>
                <a:latin typeface="Arial"/>
              </a:rPr>
              <a:t>Biometric Waveform Fidelity</a:t>
            </a:r>
            <a:r>
              <a:rPr lang="en-US" dirty="0">
                <a:solidFill>
                  <a:srgbClr val="1E1E1E"/>
                </a:solidFill>
                <a:latin typeface="Arial"/>
              </a:rPr>
              <a:t>: The extracted physiological </a:t>
            </a:r>
            <a:r>
              <a:rPr lang="en-US" dirty="0" err="1">
                <a:solidFill>
                  <a:srgbClr val="1E1E1E"/>
                </a:solidFill>
                <a:latin typeface="Arial"/>
              </a:rPr>
              <a:t>rPPG</a:t>
            </a:r>
            <a:r>
              <a:rPr lang="en-US" dirty="0">
                <a:solidFill>
                  <a:srgbClr val="1E1E1E"/>
                </a:solidFill>
                <a:latin typeface="Arial"/>
              </a:rPr>
              <a:t> streams maintain distinct shapes and baseline stability under standard laboratory conditions.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BA5C4A-B4E8-407F-BC49-0985E0FC4D6D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5943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pm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1371600"/>
            <a:ext cx="11277295" cy="2011680"/>
          </a:xfrm>
          <a:prstGeom prst="roundRect">
            <a:avLst/>
          </a:prstGeom>
          <a:solidFill>
            <a:srgbClr val="0C3B6E"/>
          </a:solidFill>
          <a:ln>
            <a:solidFill>
              <a:srgbClr val="0C3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182880" rIns="457200" bIns="182880" rtlCol="0" anchor="ctr"/>
          <a:lstStyle/>
          <a:p>
            <a:pPr algn="ctr">
              <a:spcAft>
                <a:spcPts val="1200"/>
              </a:spcAft>
              <a:defRPr sz="3200" b="1">
                <a:solidFill>
                  <a:srgbClr val="FFFFFF"/>
                </a:solidFill>
                <a:latin typeface="Arial"/>
              </a:defRPr>
            </a:pPr>
            <a:r>
              <a:t>基於注意力機制多模態融合之穩健駕駛狀態監控系統</a:t>
            </a:r>
          </a:p>
          <a:p>
            <a:pPr algn="ctr">
              <a:defRPr sz="2000" b="1">
                <a:solidFill>
                  <a:srgbClr val="B4D2F5"/>
                </a:solidFill>
                <a:latin typeface="Arial"/>
              </a:defRPr>
            </a:pPr>
            <a:r>
              <a:t>A Robust Driver State Monitoring System Utilizing Attention-Based Multi-Modal Fusion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77295" cy="56425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1E1E1E"/>
                </a:solidFill>
                <a:latin typeface="Arial"/>
              </a:defRPr>
            </a:pPr>
            <a:r>
              <a:rPr lang="zh-TW" altLang="en-US" dirty="0"/>
              <a:t>瑞柯產學合作案期中報告</a:t>
            </a:r>
            <a:endParaRPr dirty="0"/>
          </a:p>
          <a:p>
            <a:pPr algn="ctr">
              <a:defRPr sz="1400" b="1">
                <a:solidFill>
                  <a:srgbClr val="D95319"/>
                </a:solidFill>
                <a:latin typeface="Arial"/>
              </a:defRPr>
            </a:pPr>
            <a:r>
              <a:rPr lang="en-US" altLang="zh-TW" dirty="0"/>
              <a:t>Mid-term Report</a:t>
            </a:r>
            <a:r>
              <a:rPr dirty="0"/>
              <a:t>  | 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C3B6E"/>
          </a:solidFill>
          <a:ln>
            <a:solidFill>
              <a:srgbClr val="0C3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Outline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C3673"/>
          </a:solidFill>
          <a:ln>
            <a:solidFill>
              <a:srgbClr val="1C3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6539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S.-W. Chang (TTU)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6565392"/>
            <a:ext cx="57908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Attention-Based Multi-Modal Driver Monitoring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91295" y="6565392"/>
            <a:ext cx="274320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FFFFFF"/>
                </a:solidFill>
                <a:latin typeface="Arial"/>
              </a:defRPr>
            </a:pPr>
            <a:r>
              <a:rPr dirty="0"/>
              <a:t> 2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1277295" cy="29118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800" b="1" dirty="0">
                <a:solidFill>
                  <a:srgbClr val="0C3B6E"/>
                </a:solidFill>
                <a:latin typeface="Arial"/>
              </a:rPr>
              <a:t>▶  </a:t>
            </a:r>
            <a:r>
              <a:rPr sz="1800" dirty="0">
                <a:solidFill>
                  <a:srgbClr val="1E1E1E"/>
                </a:solidFill>
                <a:latin typeface="Arial"/>
              </a:rPr>
              <a:t>1.  </a:t>
            </a:r>
            <a:r>
              <a:rPr sz="1800" b="1" dirty="0">
                <a:solidFill>
                  <a:srgbClr val="1E1E1E"/>
                </a:solidFill>
                <a:latin typeface="Arial"/>
              </a:rPr>
              <a:t>Background &amp; Motivation</a:t>
            </a:r>
            <a:r>
              <a:rPr sz="1800" dirty="0">
                <a:solidFill>
                  <a:srgbClr val="1E1E1E"/>
                </a:solidFill>
                <a:latin typeface="Arial"/>
              </a:rPr>
              <a:t>: The Reactive Gap &amp; Multi-Modal Fusion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800" b="1" dirty="0">
                <a:solidFill>
                  <a:srgbClr val="0C3B6E"/>
                </a:solidFill>
                <a:latin typeface="Arial"/>
              </a:rPr>
              <a:t>▶  </a:t>
            </a:r>
            <a:r>
              <a:rPr sz="1800" dirty="0">
                <a:solidFill>
                  <a:srgbClr val="1E1E1E"/>
                </a:solidFill>
                <a:latin typeface="Arial"/>
              </a:rPr>
              <a:t>2.  </a:t>
            </a:r>
            <a:r>
              <a:rPr sz="1800" b="1" dirty="0">
                <a:solidFill>
                  <a:srgbClr val="1E1E1E"/>
                </a:solidFill>
                <a:latin typeface="Arial"/>
              </a:rPr>
              <a:t>Proposed System Architecture</a:t>
            </a:r>
            <a:r>
              <a:rPr sz="1800" dirty="0">
                <a:solidFill>
                  <a:srgbClr val="1E1E1E"/>
                </a:solidFill>
                <a:latin typeface="Arial"/>
              </a:rPr>
              <a:t>: Tiered Real-Time Pipeline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800" b="1" dirty="0">
                <a:solidFill>
                  <a:srgbClr val="0C3B6E"/>
                </a:solidFill>
                <a:latin typeface="Arial"/>
              </a:rPr>
              <a:t>▶  </a:t>
            </a:r>
            <a:r>
              <a:rPr sz="1800" dirty="0">
                <a:solidFill>
                  <a:srgbClr val="1E1E1E"/>
                </a:solidFill>
                <a:latin typeface="Arial"/>
              </a:rPr>
              <a:t>3.  </a:t>
            </a:r>
            <a:r>
              <a:rPr sz="1800" b="1" dirty="0">
                <a:solidFill>
                  <a:srgbClr val="1E1E1E"/>
                </a:solidFill>
                <a:latin typeface="Arial"/>
              </a:rPr>
              <a:t>Part A</a:t>
            </a:r>
            <a:r>
              <a:rPr sz="1800" dirty="0">
                <a:solidFill>
                  <a:srgbClr val="1E1E1E"/>
                </a:solidFill>
                <a:latin typeface="Arial"/>
              </a:rPr>
              <a:t>: Signal Discovery &amp; SNR-based ROI-Switching Attention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800" b="1" dirty="0">
                <a:solidFill>
                  <a:srgbClr val="0C3B6E"/>
                </a:solidFill>
                <a:latin typeface="Arial"/>
              </a:rPr>
              <a:t>▶  </a:t>
            </a:r>
            <a:r>
              <a:rPr sz="1800" dirty="0">
                <a:solidFill>
                  <a:srgbClr val="1E1E1E"/>
                </a:solidFill>
                <a:latin typeface="Arial"/>
              </a:rPr>
              <a:t>4.  </a:t>
            </a:r>
            <a:r>
              <a:rPr sz="1800" b="1" dirty="0">
                <a:solidFill>
                  <a:srgbClr val="1E1E1E"/>
                </a:solidFill>
                <a:latin typeface="Arial"/>
              </a:rPr>
              <a:t>Part B</a:t>
            </a:r>
            <a:r>
              <a:rPr sz="1800" dirty="0">
                <a:solidFill>
                  <a:srgbClr val="1E1E1E"/>
                </a:solidFill>
                <a:latin typeface="Arial"/>
              </a:rPr>
              <a:t>: Feature Refinement &amp; Physiological Estimation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800" b="1" dirty="0">
                <a:solidFill>
                  <a:srgbClr val="0C3B6E"/>
                </a:solidFill>
                <a:latin typeface="Arial"/>
              </a:rPr>
              <a:t>▶  </a:t>
            </a:r>
            <a:r>
              <a:rPr sz="1800" dirty="0">
                <a:solidFill>
                  <a:srgbClr val="1E1E1E"/>
                </a:solidFill>
                <a:latin typeface="Arial"/>
              </a:rPr>
              <a:t>5.  </a:t>
            </a:r>
            <a:r>
              <a:rPr sz="1800" b="1" dirty="0">
                <a:solidFill>
                  <a:srgbClr val="1E1E1E"/>
                </a:solidFill>
                <a:latin typeface="Arial"/>
              </a:rPr>
              <a:t>Part C</a:t>
            </a:r>
            <a:r>
              <a:rPr sz="1800" dirty="0">
                <a:solidFill>
                  <a:srgbClr val="1E1E1E"/>
                </a:solidFill>
                <a:latin typeface="Arial"/>
              </a:rPr>
              <a:t>: Temporal Fusion with Multi-Head Attention (MHA)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800" b="1" dirty="0">
                <a:solidFill>
                  <a:srgbClr val="0C3B6E"/>
                </a:solidFill>
                <a:latin typeface="Arial"/>
              </a:rPr>
              <a:t>▶  </a:t>
            </a:r>
            <a:r>
              <a:rPr sz="1800" dirty="0">
                <a:solidFill>
                  <a:srgbClr val="1E1E1E"/>
                </a:solidFill>
                <a:latin typeface="Arial"/>
              </a:rPr>
              <a:t>6.  </a:t>
            </a:r>
            <a:r>
              <a:rPr sz="1800" b="1" dirty="0">
                <a:solidFill>
                  <a:srgbClr val="1E1E1E"/>
                </a:solidFill>
                <a:latin typeface="Arial"/>
              </a:rPr>
              <a:t>Experimental Setup &amp; Results</a:t>
            </a:r>
            <a:r>
              <a:rPr sz="1800" dirty="0">
                <a:solidFill>
                  <a:srgbClr val="1E1E1E"/>
                </a:solidFill>
                <a:latin typeface="Arial"/>
              </a:rPr>
              <a:t>: </a:t>
            </a:r>
            <a:r>
              <a:rPr lang="en-US" sz="1800" dirty="0">
                <a:solidFill>
                  <a:srgbClr val="1E1E1E"/>
                </a:solidFill>
                <a:latin typeface="Arial"/>
              </a:rPr>
              <a:t>Dataset, </a:t>
            </a:r>
            <a:r>
              <a:rPr sz="1800" dirty="0">
                <a:solidFill>
                  <a:srgbClr val="1E1E1E"/>
                </a:solidFill>
                <a:latin typeface="Arial"/>
              </a:rPr>
              <a:t>Ablation Studies, SOTA Comparison, XAI Projects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800" b="1" dirty="0">
                <a:solidFill>
                  <a:srgbClr val="0C3B6E"/>
                </a:solidFill>
                <a:latin typeface="Arial"/>
              </a:rPr>
              <a:t>▶  </a:t>
            </a:r>
            <a:r>
              <a:rPr sz="1800" dirty="0">
                <a:solidFill>
                  <a:srgbClr val="1E1E1E"/>
                </a:solidFill>
                <a:latin typeface="Arial"/>
              </a:rPr>
              <a:t>7.  </a:t>
            </a:r>
            <a:r>
              <a:rPr sz="1800" b="1" dirty="0">
                <a:solidFill>
                  <a:srgbClr val="1E1E1E"/>
                </a:solidFill>
                <a:latin typeface="Arial"/>
              </a:rPr>
              <a:t>Conclusion &amp; Future Work</a:t>
            </a:r>
            <a:r>
              <a:rPr sz="1800" dirty="0">
                <a:solidFill>
                  <a:srgbClr val="1E1E1E"/>
                </a:solidFill>
                <a:latin typeface="Arial"/>
              </a:rPr>
              <a:t>: Key Contributions and Edge Deployment Roadmap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C3B6E"/>
          </a:solidFill>
          <a:ln>
            <a:solidFill>
              <a:srgbClr val="0C3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1. Background &amp; Motivation: The Reactive Gap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C3673"/>
          </a:solidFill>
          <a:ln>
            <a:solidFill>
              <a:srgbClr val="1C3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6539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S.-W. Chang (TTU)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6565392"/>
            <a:ext cx="57908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Attention-Based Multi-Modal Driver Monitoring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91295" y="6565392"/>
            <a:ext cx="274320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FFFFFF"/>
                </a:solidFill>
                <a:latin typeface="Arial"/>
              </a:defRPr>
            </a:pPr>
            <a:r>
              <a:rPr lang="en-US" altLang="zh-TW" dirty="0"/>
              <a:t>3/</a:t>
            </a:r>
            <a:r>
              <a:rPr dirty="0"/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72200"/>
            <a:ext cx="112772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787878"/>
                </a:solidFill>
                <a:latin typeface="Arial"/>
              </a:defRPr>
            </a:pPr>
            <a:r>
              <a:t>[2] WHO, "Global status report on road safety 2023," 2023.   [3] R. Zhao et al., "Driver Fatigue Detection Based on BiLSTM-At and Multi-Source Fusion," J. Adv. Transp., 2025.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11277295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800" b="1">
                <a:solidFill>
                  <a:srgbClr val="0C3B6E"/>
                </a:solidFill>
                <a:latin typeface="Arial"/>
              </a:rPr>
              <a:t>▶  </a:t>
            </a:r>
            <a:r>
              <a:rPr sz="1800" b="1">
                <a:solidFill>
                  <a:srgbClr val="1E1E1E"/>
                </a:solidFill>
                <a:latin typeface="Arial"/>
              </a:rPr>
              <a:t>Driver Drowsiness &amp; Distraction</a:t>
            </a:r>
            <a:r>
              <a:rPr sz="1800">
                <a:solidFill>
                  <a:srgbClr val="1E1E1E"/>
                </a:solidFill>
                <a:latin typeface="Arial"/>
              </a:rPr>
              <a:t>: Leading contributors to traffic accidents globally [2].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800" b="1">
                <a:solidFill>
                  <a:srgbClr val="0C3B6E"/>
                </a:solidFill>
                <a:latin typeface="Arial"/>
              </a:rPr>
              <a:t>▶  </a:t>
            </a:r>
            <a:r>
              <a:rPr sz="1800" b="1">
                <a:solidFill>
                  <a:srgbClr val="1E1E1E"/>
                </a:solidFill>
                <a:latin typeface="Arial"/>
              </a:rPr>
              <a:t>Reactive Gap of Ocular Systems</a:t>
            </a:r>
            <a:r>
              <a:rPr sz="1800">
                <a:solidFill>
                  <a:srgbClr val="1E1E1E"/>
                </a:solidFill>
                <a:latin typeface="Arial"/>
              </a:rPr>
              <a:t>: PERCLOS (EAR) and yawning (MAR) only manifest </a:t>
            </a:r>
            <a:r>
              <a:rPr sz="1800" b="1">
                <a:solidFill>
                  <a:srgbClr val="D95319"/>
                </a:solidFill>
                <a:latin typeface="Arial"/>
              </a:rPr>
              <a:t>after</a:t>
            </a:r>
            <a:r>
              <a:rPr sz="1800">
                <a:solidFill>
                  <a:srgbClr val="1E1E1E"/>
                </a:solidFill>
                <a:latin typeface="Arial"/>
              </a:rPr>
              <a:t> significant physiological decline has occurred [3].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800" b="1">
                <a:solidFill>
                  <a:srgbClr val="0C3B6E"/>
                </a:solidFill>
                <a:latin typeface="Arial"/>
              </a:rPr>
              <a:t>▶  </a:t>
            </a:r>
            <a:r>
              <a:rPr sz="1800" b="1">
                <a:solidFill>
                  <a:srgbClr val="1E1E1E"/>
                </a:solidFill>
                <a:latin typeface="Arial"/>
              </a:rPr>
              <a:t>Environmental Lighting Vulnerability</a:t>
            </a:r>
            <a:r>
              <a:rPr sz="1800">
                <a:solidFill>
                  <a:srgbClr val="1E1E1E"/>
                </a:solidFill>
                <a:latin typeface="Arial"/>
              </a:rPr>
              <a:t>: Ambient glare, darkness, sunglasses, and masks cause traditional vision landmarks to lose tracking or fail completely.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800" b="1">
                <a:solidFill>
                  <a:srgbClr val="0C3B6E"/>
                </a:solidFill>
                <a:latin typeface="Arial"/>
              </a:rPr>
              <a:t>▶  </a:t>
            </a:r>
            <a:r>
              <a:rPr sz="1800" b="1">
                <a:solidFill>
                  <a:srgbClr val="1E1E1E"/>
                </a:solidFill>
                <a:latin typeface="Arial"/>
              </a:rPr>
              <a:t>Proposed Solution</a:t>
            </a:r>
            <a:r>
              <a:rPr sz="1800">
                <a:solidFill>
                  <a:srgbClr val="1E1E1E"/>
                </a:solidFill>
                <a:latin typeface="Arial"/>
              </a:rPr>
              <a:t>: Fusing </a:t>
            </a:r>
            <a:r>
              <a:rPr sz="1800" b="1">
                <a:solidFill>
                  <a:srgbClr val="D95319"/>
                </a:solidFill>
                <a:latin typeface="Arial"/>
              </a:rPr>
              <a:t>internal</a:t>
            </a:r>
            <a:r>
              <a:rPr sz="1800">
                <a:solidFill>
                  <a:srgbClr val="1E1E1E"/>
                </a:solidFill>
                <a:latin typeface="Arial"/>
              </a:rPr>
              <a:t> physiological indicators (rPPG, HRV Delta) with </a:t>
            </a:r>
            <a:r>
              <a:rPr sz="1800" b="1">
                <a:solidFill>
                  <a:srgbClr val="D95319"/>
                </a:solidFill>
                <a:latin typeface="Arial"/>
              </a:rPr>
              <a:t>external</a:t>
            </a:r>
            <a:r>
              <a:rPr sz="1800">
                <a:solidFill>
                  <a:srgbClr val="1E1E1E"/>
                </a:solidFill>
                <a:latin typeface="Arial"/>
              </a:rPr>
              <a:t> behavioral cues to predict fatigue </a:t>
            </a:r>
            <a:r>
              <a:rPr sz="1800" b="1">
                <a:solidFill>
                  <a:srgbClr val="D95319"/>
                </a:solidFill>
                <a:latin typeface="Arial"/>
              </a:rPr>
              <a:t>before</a:t>
            </a:r>
            <a:r>
              <a:rPr sz="1800">
                <a:solidFill>
                  <a:srgbClr val="1E1E1E"/>
                </a:solidFill>
                <a:latin typeface="Arial"/>
              </a:rPr>
              <a:t> physical onset.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114800"/>
            <a:ext cx="11277295" cy="1828800"/>
          </a:xfrm>
          <a:prstGeom prst="rect">
            <a:avLst/>
          </a:prstGeom>
          <a:solidFill>
            <a:srgbClr val="F0F7FF"/>
          </a:solidFill>
          <a:ln w="19050">
            <a:solidFill>
              <a:srgbClr val="0C3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4114800"/>
            <a:ext cx="11277295" cy="411480"/>
          </a:xfrm>
          <a:prstGeom prst="rect">
            <a:avLst/>
          </a:prstGeom>
          <a:solidFill>
            <a:srgbClr val="0C3B6E"/>
          </a:solidFill>
          <a:ln>
            <a:solidFill>
              <a:srgbClr val="0C3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4160520"/>
            <a:ext cx="1100297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The Research Goal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617720"/>
            <a:ext cx="11002975" cy="1234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1E1E1E"/>
                </a:solidFill>
                <a:latin typeface="Arial"/>
              </a:rPr>
              <a:t>Establish a </a:t>
            </a:r>
            <a:r>
              <a:rPr sz="1300" b="1">
                <a:solidFill>
                  <a:srgbClr val="D95319"/>
                </a:solidFill>
                <a:latin typeface="Arial"/>
              </a:rPr>
              <a:t>fail-operational</a:t>
            </a:r>
            <a:r>
              <a:rPr sz="1300">
                <a:solidFill>
                  <a:srgbClr val="1E1E1E"/>
                </a:solidFill>
                <a:latin typeface="Arial"/>
              </a:rPr>
              <a:t> Driver Monitoring System (DMS) that maintains high diagnostic precision by dynamically balancing physiological and behavioral modalities under adverse lighting or sensor obstructions.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C3B6E"/>
          </a:solidFill>
          <a:ln>
            <a:solidFill>
              <a:srgbClr val="0C3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1. Theoretical Foundation: Optical Physics of rPPG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C3673"/>
          </a:solidFill>
          <a:ln>
            <a:solidFill>
              <a:srgbClr val="1C3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6539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S.-W. Chang (TTU)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6565392"/>
            <a:ext cx="57908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Attention-Based Multi-Modal Driver Monitoring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91295" y="6565392"/>
            <a:ext cx="274320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FFFFFF"/>
                </a:solidFill>
                <a:latin typeface="Arial"/>
              </a:defRPr>
            </a:pPr>
            <a:r>
              <a:rPr dirty="0"/>
              <a:t>4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72200"/>
            <a:ext cx="112772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787878"/>
                </a:solidFill>
                <a:latin typeface="Arial"/>
              </a:defRPr>
            </a:pPr>
            <a:r>
              <a:t>[1] W. Verkruysse et al., "Remote plethysmography using ambient light," Optics Express, 2008.   [4] A. Revanur et al., "The First Vision For Vitals (V4V) Challenge," in Proc. ICCV Workshops, 2021.   [5] S. J. Delpy et al., "Estimation of optical pathlength through tissue," Phys. Med. Biol., 1988.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943600" cy="428168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600" b="1" dirty="0">
                <a:solidFill>
                  <a:srgbClr val="0C3B6E"/>
                </a:solidFill>
                <a:latin typeface="Arial"/>
              </a:rPr>
              <a:t>▶  </a:t>
            </a:r>
            <a:r>
              <a:rPr sz="1600" b="1" dirty="0">
                <a:solidFill>
                  <a:srgbClr val="1E1E1E"/>
                </a:solidFill>
                <a:latin typeface="Arial"/>
              </a:rPr>
              <a:t>Remote Photoplethysmography (</a:t>
            </a:r>
            <a:r>
              <a:rPr sz="1600" b="1" dirty="0" err="1">
                <a:solidFill>
                  <a:srgbClr val="1E1E1E"/>
                </a:solidFill>
                <a:latin typeface="Arial"/>
              </a:rPr>
              <a:t>rPPG</a:t>
            </a:r>
            <a:r>
              <a:rPr sz="1600" b="1" dirty="0">
                <a:solidFill>
                  <a:srgbClr val="1E1E1E"/>
                </a:solidFill>
                <a:latin typeface="Arial"/>
              </a:rPr>
              <a:t>)</a:t>
            </a:r>
            <a:r>
              <a:rPr sz="1600" dirty="0">
                <a:solidFill>
                  <a:srgbClr val="1E1E1E"/>
                </a:solidFill>
                <a:latin typeface="Arial"/>
              </a:rPr>
              <a:t>: Extracts cardiac pulse from standard RGB cameras by capturing skin light reflection changes [1].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600" b="1" dirty="0">
                <a:solidFill>
                  <a:srgbClr val="0C3B6E"/>
                </a:solidFill>
                <a:latin typeface="Arial"/>
              </a:rPr>
              <a:t>▶  </a:t>
            </a:r>
            <a:r>
              <a:rPr sz="1600" b="1" dirty="0">
                <a:solidFill>
                  <a:srgbClr val="1E1E1E"/>
                </a:solidFill>
                <a:latin typeface="Arial"/>
              </a:rPr>
              <a:t>Dichromatic Reflection Model (DRM)</a:t>
            </a:r>
            <a:r>
              <a:rPr sz="1600" dirty="0">
                <a:solidFill>
                  <a:srgbClr val="1E1E1E"/>
                </a:solidFill>
                <a:latin typeface="Arial"/>
              </a:rPr>
              <a:t>: Shafer (1985) [4] defines skin radiance:</a:t>
            </a:r>
            <a:endParaRPr lang="en-US" sz="1600" dirty="0">
              <a:solidFill>
                <a:srgbClr val="1E1E1E"/>
              </a:solidFill>
              <a:latin typeface="Arial"/>
            </a:endParaRPr>
          </a:p>
          <a:p>
            <a:pPr algn="ctr">
              <a:lnSpc>
                <a:spcPct val="120000"/>
              </a:lnSpc>
              <a:spcAft>
                <a:spcPts val="800"/>
              </a:spcAft>
            </a:pPr>
            <a:r>
              <a:rPr lang="en-US" sz="1600" dirty="0"/>
              <a:t>𝐿(𝑡, 𝜆) = 𝐼(𝑡) ⋅ (𝑚𝑠(𝑡) ⋅ 𝐶𝑠(𝜆) + 𝑚𝑏(𝑡) ⋅ 𝐶𝑏(𝜆))</a:t>
            </a:r>
            <a:endParaRPr sz="1600" dirty="0">
              <a:solidFill>
                <a:srgbClr val="1E1E1E"/>
              </a:solidFill>
              <a:latin typeface="Arial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400" b="1" dirty="0">
                <a:solidFill>
                  <a:srgbClr val="D95319"/>
                </a:solidFill>
                <a:latin typeface="Arial"/>
              </a:rPr>
              <a:t>▷  </a:t>
            </a:r>
            <a:r>
              <a:rPr sz="1400" b="1" dirty="0">
                <a:solidFill>
                  <a:srgbClr val="505050"/>
                </a:solidFill>
                <a:latin typeface="Arial"/>
              </a:rPr>
              <a:t>Specular Reflection </a:t>
            </a:r>
            <a:endParaRPr lang="en-US" sz="1400" b="1" dirty="0">
              <a:solidFill>
                <a:srgbClr val="505050"/>
              </a:solidFill>
              <a:latin typeface="Arial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400" b="1" dirty="0">
                <a:solidFill>
                  <a:srgbClr val="D95319"/>
                </a:solidFill>
                <a:latin typeface="Arial"/>
              </a:rPr>
              <a:t>▷  </a:t>
            </a:r>
            <a:r>
              <a:rPr sz="1400" b="1" dirty="0">
                <a:solidFill>
                  <a:srgbClr val="505050"/>
                </a:solidFill>
                <a:latin typeface="Arial"/>
              </a:rPr>
              <a:t>Body (Diffuse) Reflection </a:t>
            </a:r>
            <a:endParaRPr lang="en-US" sz="1400" b="1" dirty="0">
              <a:solidFill>
                <a:srgbClr val="505050"/>
              </a:solidFill>
              <a:latin typeface="Arial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1" dirty="0">
                <a:solidFill>
                  <a:srgbClr val="0C3B6E"/>
                </a:solidFill>
                <a:latin typeface="Arial"/>
              </a:rPr>
              <a:t>▶  </a:t>
            </a:r>
            <a:r>
              <a:rPr sz="1600" b="1" dirty="0">
                <a:solidFill>
                  <a:srgbClr val="1E1E1E"/>
                </a:solidFill>
                <a:latin typeface="Arial"/>
              </a:rPr>
              <a:t>Modified Beer-Lambert Law (MBLL)</a:t>
            </a:r>
            <a:r>
              <a:rPr sz="1600" dirty="0">
                <a:solidFill>
                  <a:srgbClr val="1E1E1E"/>
                </a:solidFill>
                <a:latin typeface="Arial"/>
              </a:rPr>
              <a:t>: [5]: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400" b="1" dirty="0">
                <a:solidFill>
                  <a:srgbClr val="D95319"/>
                </a:solidFill>
                <a:latin typeface="Arial"/>
              </a:rPr>
              <a:t>▷  </a:t>
            </a:r>
            <a:r>
              <a:rPr sz="1400" dirty="0">
                <a:solidFill>
                  <a:srgbClr val="505050"/>
                </a:solidFill>
                <a:latin typeface="Arial"/>
              </a:rPr>
              <a:t>Blood volume changes (</a:t>
            </a:r>
            <a:r>
              <a:rPr sz="1400" b="1" dirty="0" err="1">
                <a:solidFill>
                  <a:srgbClr val="D95319"/>
                </a:solidFill>
                <a:latin typeface="Arial"/>
              </a:rPr>
              <a:t>Δc</a:t>
            </a:r>
            <a:r>
              <a:rPr sz="1400" dirty="0">
                <a:solidFill>
                  <a:srgbClr val="505050"/>
                </a:solidFill>
                <a:latin typeface="Arial"/>
              </a:rPr>
              <a:t>) during cardiac cycles modulate light absorption (AC signal).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600" b="1" dirty="0">
                <a:solidFill>
                  <a:srgbClr val="0C3B6E"/>
                </a:solidFill>
                <a:latin typeface="Arial"/>
              </a:rPr>
              <a:t>▶  </a:t>
            </a:r>
            <a:r>
              <a:rPr sz="1600" b="1" dirty="0">
                <a:solidFill>
                  <a:srgbClr val="1E1E1E"/>
                </a:solidFill>
                <a:latin typeface="Arial"/>
              </a:rPr>
              <a:t>Green Channel Selection</a:t>
            </a:r>
            <a:r>
              <a:rPr sz="1600" dirty="0">
                <a:solidFill>
                  <a:srgbClr val="1E1E1E"/>
                </a:solidFill>
                <a:latin typeface="Arial"/>
              </a:rPr>
              <a:t>: Strongest hemoglobin absorption peak (~530-570nm) and highest spatial resolution.</a:t>
            </a:r>
          </a:p>
        </p:txBody>
      </p:sp>
      <p:pic>
        <p:nvPicPr>
          <p:cNvPr id="10" name="Picture 9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188720"/>
            <a:ext cx="5029200" cy="43891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675120" y="557784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00">
                <a:solidFill>
                  <a:srgbClr val="505050"/>
                </a:solidFill>
                <a:latin typeface="Arial"/>
              </a:defRPr>
            </a:pPr>
            <a:r>
              <a:t>Figure 1: Optical Geometry of DRM skin layers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C3B6E"/>
          </a:solidFill>
          <a:ln>
            <a:solidFill>
              <a:srgbClr val="0C3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1. Theoretical Foundation: Evolution of rPPG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C3673"/>
          </a:solidFill>
          <a:ln>
            <a:solidFill>
              <a:srgbClr val="1C3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6539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S.-W. Chang (TTU)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6565392"/>
            <a:ext cx="57908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Attention-Based Multi-Modal Driver Monitoring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91295" y="6565392"/>
            <a:ext cx="274320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FFFFFF"/>
                </a:solidFill>
                <a:latin typeface="Arial"/>
              </a:defRPr>
            </a:pPr>
            <a:r>
              <a:rPr dirty="0"/>
              <a:t>  5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72200"/>
            <a:ext cx="112772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787878"/>
                </a:solidFill>
                <a:latin typeface="Arial"/>
              </a:defRPr>
            </a:pPr>
            <a:r>
              <a:t>[1] W. Verkruysse et al., "Remote plethysmography using ambient light," Optics Express, 2008.   [6] M. Poh et al., "Non-contact, automated cardiac pulse measurements," Optics Express, 2010.   [7] G. de Haan and V. Jeanne, "Robust pulse rate from chrominance-based rPPG," IEEE Trans. Biomed. Eng., 2013.   [8] W. Wang et al., "Algorithmic Principles of Remote PPG," IEEE Trans. Biomed. Eng., 2017.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6726" y="1097280"/>
            <a:ext cx="11457769" cy="45077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700" b="1" dirty="0">
                <a:solidFill>
                  <a:srgbClr val="0C3B6E"/>
                </a:solidFill>
                <a:latin typeface="Arial"/>
              </a:rPr>
              <a:t>▶  </a:t>
            </a:r>
            <a:r>
              <a:rPr sz="1700" b="1" dirty="0">
                <a:solidFill>
                  <a:srgbClr val="1E1E1E"/>
                </a:solidFill>
                <a:latin typeface="Arial"/>
              </a:rPr>
              <a:t>Heuristic Phase (GREEN)</a:t>
            </a:r>
            <a:r>
              <a:rPr sz="1700" dirty="0">
                <a:solidFill>
                  <a:srgbClr val="1E1E1E"/>
                </a:solidFill>
                <a:latin typeface="Arial"/>
              </a:rPr>
              <a:t>: </a:t>
            </a:r>
            <a:r>
              <a:rPr sz="1700" dirty="0" err="1">
                <a:solidFill>
                  <a:srgbClr val="1E1E1E"/>
                </a:solidFill>
                <a:latin typeface="Arial"/>
              </a:rPr>
              <a:t>Verkruysse</a:t>
            </a:r>
            <a:r>
              <a:rPr sz="1700" dirty="0">
                <a:solidFill>
                  <a:srgbClr val="1E1E1E"/>
                </a:solidFill>
                <a:latin typeface="Arial"/>
              </a:rPr>
              <a:t> et al. (2008) [1] proved physiological signals reside in ambient reflected light.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700" b="1" dirty="0">
                <a:solidFill>
                  <a:srgbClr val="D95319"/>
                </a:solidFill>
                <a:latin typeface="Arial"/>
              </a:rPr>
              <a:t>▷  </a:t>
            </a:r>
            <a:r>
              <a:rPr sz="1700" dirty="0">
                <a:solidFill>
                  <a:srgbClr val="505050"/>
                </a:solidFill>
                <a:latin typeface="Arial"/>
              </a:rPr>
              <a:t>Relies on the </a:t>
            </a:r>
            <a:r>
              <a:rPr sz="1700" b="1" dirty="0">
                <a:solidFill>
                  <a:srgbClr val="505050"/>
                </a:solidFill>
                <a:latin typeface="Arial"/>
              </a:rPr>
              <a:t>Green channel</a:t>
            </a:r>
            <a:r>
              <a:rPr sz="1700" dirty="0">
                <a:solidFill>
                  <a:srgbClr val="505050"/>
                </a:solidFill>
                <a:latin typeface="Arial"/>
              </a:rPr>
              <a:t> since hemoglobin absorption of green light (~530-570nm) yields the highest AC/DC SNR.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700" b="1" dirty="0">
                <a:solidFill>
                  <a:srgbClr val="D95319"/>
                </a:solidFill>
                <a:latin typeface="Arial"/>
              </a:rPr>
              <a:t>▷  </a:t>
            </a:r>
            <a:r>
              <a:rPr sz="1700" dirty="0">
                <a:solidFill>
                  <a:srgbClr val="505050"/>
                </a:solidFill>
                <a:latin typeface="Arial"/>
              </a:rPr>
              <a:t>Critical drawback: Extremely vulnerable to illumination noise and head motion artifacts.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700" b="1" dirty="0">
                <a:solidFill>
                  <a:srgbClr val="0C3B6E"/>
                </a:solidFill>
                <a:latin typeface="Arial"/>
              </a:rPr>
              <a:t>▶  </a:t>
            </a:r>
            <a:r>
              <a:rPr sz="1700" b="1" dirty="0">
                <a:solidFill>
                  <a:srgbClr val="1E1E1E"/>
                </a:solidFill>
                <a:latin typeface="Arial"/>
              </a:rPr>
              <a:t>Statistical Phase (ICA/PCA)</a:t>
            </a:r>
            <a:r>
              <a:rPr sz="1700" dirty="0">
                <a:solidFill>
                  <a:srgbClr val="1E1E1E"/>
                </a:solidFill>
                <a:latin typeface="Arial"/>
              </a:rPr>
              <a:t>: Poh et al. (2010) [6] used Blind Source Separation (BSS).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700" b="1" dirty="0">
                <a:solidFill>
                  <a:srgbClr val="D95319"/>
                </a:solidFill>
                <a:latin typeface="Arial"/>
              </a:rPr>
              <a:t>▷  </a:t>
            </a:r>
            <a:r>
              <a:rPr sz="1700" dirty="0">
                <a:solidFill>
                  <a:srgbClr val="505050"/>
                </a:solidFill>
                <a:latin typeface="Arial"/>
              </a:rPr>
              <a:t>Separates cardiac pulse from motion by decomposing RGB channels into independent source signals.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700" b="1" dirty="0">
                <a:solidFill>
                  <a:srgbClr val="D95319"/>
                </a:solidFill>
                <a:latin typeface="Arial"/>
              </a:rPr>
              <a:t>▷  </a:t>
            </a:r>
            <a:r>
              <a:rPr sz="1700" dirty="0">
                <a:solidFill>
                  <a:srgbClr val="505050"/>
                </a:solidFill>
                <a:latin typeface="Arial"/>
              </a:rPr>
              <a:t>Critical drawback: Highly complex computation and 'physics-blind'; fails under dynamic cabin shadow shifts.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700" b="1" dirty="0">
                <a:solidFill>
                  <a:srgbClr val="0C3B6E"/>
                </a:solidFill>
                <a:latin typeface="Arial"/>
              </a:rPr>
              <a:t>▶  </a:t>
            </a:r>
            <a:r>
              <a:rPr sz="1700" b="1" dirty="0">
                <a:solidFill>
                  <a:srgbClr val="1E1E1E"/>
                </a:solidFill>
                <a:latin typeface="Arial"/>
              </a:rPr>
              <a:t>Model-Based Projection Phase (CHROM/POS)</a:t>
            </a:r>
            <a:r>
              <a:rPr sz="1700" dirty="0">
                <a:solidFill>
                  <a:srgbClr val="1E1E1E"/>
                </a:solidFill>
                <a:latin typeface="Arial"/>
              </a:rPr>
              <a:t>: Explicit optical physics modeling.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700" b="1" dirty="0">
                <a:solidFill>
                  <a:srgbClr val="D95319"/>
                </a:solidFill>
                <a:latin typeface="Arial"/>
              </a:rPr>
              <a:t>▷  </a:t>
            </a:r>
            <a:r>
              <a:rPr sz="1700" dirty="0">
                <a:solidFill>
                  <a:srgbClr val="505050"/>
                </a:solidFill>
                <a:latin typeface="Arial"/>
              </a:rPr>
              <a:t>de Haan &amp; Jeanne (2013) [7] (CHROM) &amp; Wang et al. (2017) [8] (POS).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700" b="1" dirty="0">
                <a:solidFill>
                  <a:srgbClr val="D95319"/>
                </a:solidFill>
                <a:latin typeface="Arial"/>
              </a:rPr>
              <a:t>▷  </a:t>
            </a:r>
            <a:r>
              <a:rPr sz="1700" dirty="0">
                <a:solidFill>
                  <a:srgbClr val="505050"/>
                </a:solidFill>
                <a:latin typeface="Arial"/>
              </a:rPr>
              <a:t>Projects RGB vectors onto a plane orthogonal to the skin-tone vector, canceling specular motion noise.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700" b="1" dirty="0">
                <a:solidFill>
                  <a:srgbClr val="D95319"/>
                </a:solidFill>
                <a:latin typeface="Arial"/>
              </a:rPr>
              <a:t>▷  </a:t>
            </a:r>
            <a:r>
              <a:rPr sz="1700" dirty="0">
                <a:solidFill>
                  <a:srgbClr val="505050"/>
                </a:solidFill>
                <a:latin typeface="Arial"/>
              </a:rPr>
              <a:t>POS represents the hand-crafted SOTA, offering mathematical robustness against extreme driving rotations.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C3B6E"/>
          </a:solidFill>
          <a:ln>
            <a:solidFill>
              <a:srgbClr val="0C3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1. Theoretical Foundation: Physiological Markers (HRV)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C3673"/>
          </a:solidFill>
          <a:ln>
            <a:solidFill>
              <a:srgbClr val="1C3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6539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S.-W. Chang (TTU)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6565392"/>
            <a:ext cx="57908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Attention-Based Multi-Modal Driver Monitoring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91295" y="6565392"/>
            <a:ext cx="274320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FFFFFF"/>
                </a:solidFill>
                <a:latin typeface="Arial"/>
              </a:defRPr>
            </a:pPr>
            <a:r>
              <a:rPr dirty="0"/>
              <a:t> 6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72200"/>
            <a:ext cx="112772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787878"/>
                </a:solidFill>
                <a:latin typeface="Arial"/>
              </a:defRPr>
            </a:pPr>
            <a:r>
              <a:t>[9] J. Kim, "Sustainable Real-Time Gaze Monitoring with YOLOX-based Attention," Exp. Syst. Appl., 2025.   [20] Task Force of the European Society of Cardiology and the North American Society of Pacing and Electrophysiology, "Heart rate variability: standards of measurement, physiological interpretation and clinical use," Circulation, 1996.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943600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600" b="1">
                <a:solidFill>
                  <a:srgbClr val="0C3B6E"/>
                </a:solidFill>
                <a:latin typeface="Arial"/>
              </a:rPr>
              <a:t>▶  </a:t>
            </a:r>
            <a:r>
              <a:rPr sz="1600" b="1">
                <a:solidFill>
                  <a:srgbClr val="1E1E1E"/>
                </a:solidFill>
                <a:latin typeface="Arial"/>
              </a:rPr>
              <a:t>Autonomic Nervous System (ANS)</a:t>
            </a:r>
            <a:r>
              <a:rPr sz="1600">
                <a:solidFill>
                  <a:srgbClr val="1E1E1E"/>
                </a:solidFill>
                <a:latin typeface="Arial"/>
              </a:rPr>
              <a:t>: Heart Rate Variability (HRV) acts as a proxy for sympathovagal balance.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600" b="1">
                <a:solidFill>
                  <a:srgbClr val="0C3B6E"/>
                </a:solidFill>
                <a:latin typeface="Arial"/>
              </a:rPr>
              <a:t>▶  </a:t>
            </a:r>
            <a:r>
              <a:rPr sz="1600" b="1">
                <a:solidFill>
                  <a:srgbClr val="1E1E1E"/>
                </a:solidFill>
                <a:latin typeface="Arial"/>
              </a:rPr>
              <a:t>The Sympathovagal Shift</a:t>
            </a:r>
            <a:r>
              <a:rPr sz="1600">
                <a:solidFill>
                  <a:srgbClr val="1E1E1E"/>
                </a:solidFill>
                <a:latin typeface="Arial"/>
              </a:rPr>
              <a:t> during fatigue: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D95319"/>
                </a:solidFill>
                <a:latin typeface="Arial"/>
              </a:rPr>
              <a:t>▷  </a:t>
            </a:r>
            <a:r>
              <a:rPr sz="1400" b="1">
                <a:solidFill>
                  <a:srgbClr val="505050"/>
                </a:solidFill>
                <a:latin typeface="Arial"/>
              </a:rPr>
              <a:t>Alert State</a:t>
            </a:r>
            <a:r>
              <a:rPr sz="1400">
                <a:solidFill>
                  <a:srgbClr val="505050"/>
                </a:solidFill>
                <a:latin typeface="Arial"/>
              </a:rPr>
              <a:t>: </a:t>
            </a:r>
            <a:r>
              <a:rPr sz="1400" b="1">
                <a:solidFill>
                  <a:srgbClr val="D95319"/>
                </a:solidFill>
                <a:latin typeface="Arial"/>
              </a:rPr>
              <a:t>Sympathetic dominance</a:t>
            </a:r>
            <a:r>
              <a:rPr sz="1400">
                <a:solidFill>
                  <a:srgbClr val="505050"/>
                </a:solidFill>
                <a:latin typeface="Arial"/>
              </a:rPr>
              <a:t> → Low HRV and higher heart rate.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D95319"/>
                </a:solidFill>
                <a:latin typeface="Arial"/>
              </a:rPr>
              <a:t>▷  </a:t>
            </a:r>
            <a:r>
              <a:rPr sz="1400" b="1">
                <a:solidFill>
                  <a:srgbClr val="505050"/>
                </a:solidFill>
                <a:latin typeface="Arial"/>
              </a:rPr>
              <a:t>Drowsy State</a:t>
            </a:r>
            <a:r>
              <a:rPr sz="1400">
                <a:solidFill>
                  <a:srgbClr val="505050"/>
                </a:solidFill>
                <a:latin typeface="Arial"/>
              </a:rPr>
              <a:t>: Increased </a:t>
            </a:r>
            <a:r>
              <a:rPr sz="1400" b="1">
                <a:solidFill>
                  <a:srgbClr val="D95319"/>
                </a:solidFill>
                <a:latin typeface="Arial"/>
              </a:rPr>
              <a:t>parasympathetic (vagal) activity</a:t>
            </a:r>
            <a:r>
              <a:rPr sz="1400">
                <a:solidFill>
                  <a:srgbClr val="505050"/>
                </a:solidFill>
                <a:latin typeface="Arial"/>
              </a:rPr>
              <a:t>, causing variable R-R intervals.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600" b="1">
                <a:solidFill>
                  <a:srgbClr val="0C3B6E"/>
                </a:solidFill>
                <a:latin typeface="Arial"/>
              </a:rPr>
              <a:t>▶  </a:t>
            </a:r>
            <a:r>
              <a:rPr sz="1600" b="1">
                <a:solidFill>
                  <a:srgbClr val="1E1E1E"/>
                </a:solidFill>
                <a:latin typeface="Arial"/>
              </a:rPr>
              <a:t>Predictive Potential</a:t>
            </a:r>
            <a:r>
              <a:rPr sz="1600">
                <a:solidFill>
                  <a:srgbClr val="1E1E1E"/>
                </a:solidFill>
                <a:latin typeface="Arial"/>
              </a:rPr>
              <a:t>: Autonomic fluctuations precede physical drowsiness, providing early warnings [9].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600" b="1">
                <a:solidFill>
                  <a:srgbClr val="0C3B6E"/>
                </a:solidFill>
                <a:latin typeface="Arial"/>
              </a:rPr>
              <a:t>▶  </a:t>
            </a:r>
            <a:r>
              <a:rPr sz="1600" b="1">
                <a:solidFill>
                  <a:srgbClr val="1E1E1E"/>
                </a:solidFill>
                <a:latin typeface="Arial"/>
              </a:rPr>
              <a:t>HRV Delta (SDNN Slope)</a:t>
            </a:r>
            <a:r>
              <a:rPr sz="1600">
                <a:solidFill>
                  <a:srgbClr val="1E1E1E"/>
                </a:solidFill>
                <a:latin typeface="Arial"/>
              </a:rPr>
              <a:t>: Formulated as the 7th feature to capture the </a:t>
            </a:r>
            <a:r>
              <a:rPr sz="1600" b="1">
                <a:solidFill>
                  <a:srgbClr val="D95319"/>
                </a:solidFill>
                <a:latin typeface="Arial"/>
              </a:rPr>
              <a:t>temporal slope of physiological decline</a:t>
            </a:r>
            <a:r>
              <a:rPr sz="1600">
                <a:solidFill>
                  <a:srgbClr val="1E1E1E"/>
                </a:solidFill>
                <a:latin typeface="Arial"/>
              </a:rPr>
              <a:t>.</a:t>
            </a:r>
          </a:p>
        </p:txBody>
      </p:sp>
      <p:pic>
        <p:nvPicPr>
          <p:cNvPr id="10" name="Picture 9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188720"/>
            <a:ext cx="5029200" cy="43891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675120" y="557784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00">
                <a:solidFill>
                  <a:srgbClr val="505050"/>
                </a:solidFill>
                <a:latin typeface="Arial"/>
              </a:defRPr>
            </a:pPr>
            <a:r>
              <a:t>Figure 2: Sympathovagal Balance during Fatigue Transition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C3B6E"/>
          </a:solidFill>
          <a:ln>
            <a:solidFill>
              <a:srgbClr val="0C3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2. Proposed System Architecture: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C3673"/>
          </a:solidFill>
          <a:ln>
            <a:solidFill>
              <a:srgbClr val="1C3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6539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S.-W. Chang (TTU)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6565392"/>
            <a:ext cx="57908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Attention-Based Multi-Modal Driver Monitoring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91295" y="6565392"/>
            <a:ext cx="274320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FFFFFF"/>
                </a:solidFill>
                <a:latin typeface="Arial"/>
              </a:defRPr>
            </a:pPr>
            <a:r>
              <a:rPr dirty="0"/>
              <a:t>7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96202"/>
            <a:ext cx="112772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787878"/>
                </a:solidFill>
                <a:latin typeface="Arial"/>
              </a:defRPr>
            </a:pPr>
            <a:r>
              <a:t>[19] C. Lugaresi et al., "MediaPipe: A Framework for Building Perception Pipelines," arXiv:1906.08172, 2019.   [21] M. Abadi et al., "TensorFlow: A system for large-scale machine learning," in Proc. OSDI, 2016.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2" y="5449379"/>
            <a:ext cx="11277297" cy="771664"/>
          </a:xfrm>
          <a:prstGeom prst="rect">
            <a:avLst/>
          </a:prstGeom>
          <a:solidFill>
            <a:srgbClr val="F0F7FF"/>
          </a:solidFill>
          <a:ln w="19050">
            <a:solidFill>
              <a:srgbClr val="0C3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0043" y="5449379"/>
            <a:ext cx="11277295" cy="268744"/>
          </a:xfrm>
          <a:prstGeom prst="rect">
            <a:avLst/>
          </a:prstGeom>
          <a:solidFill>
            <a:srgbClr val="0C3B6E"/>
          </a:solidFill>
          <a:ln>
            <a:solidFill>
              <a:srgbClr val="0C3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1" y="5481271"/>
            <a:ext cx="1100297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rPr dirty="0"/>
              <a:t>Computational Deployment Target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3816" y="5766296"/>
            <a:ext cx="11002975" cy="1234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 dirty="0">
                <a:solidFill>
                  <a:srgbClr val="1E1E1E"/>
                </a:solidFill>
                <a:latin typeface="Arial"/>
              </a:rPr>
              <a:t>The multi-threaded system executes all core inference loops (Part A, B, C) on a </a:t>
            </a:r>
            <a:r>
              <a:rPr sz="1300" b="1" dirty="0">
                <a:solidFill>
                  <a:srgbClr val="1E1E1E"/>
                </a:solidFill>
                <a:latin typeface="Arial"/>
              </a:rPr>
              <a:t>standard CPU</a:t>
            </a:r>
            <a:r>
              <a:rPr sz="1300" dirty="0">
                <a:solidFill>
                  <a:srgbClr val="1E1E1E"/>
                </a:solidFill>
                <a:latin typeface="Arial"/>
              </a:rPr>
              <a:t> (tested on Intel Core i7-11800H) under </a:t>
            </a:r>
            <a:r>
              <a:rPr sz="1300" b="1" dirty="0">
                <a:solidFill>
                  <a:srgbClr val="1E1E1E"/>
                </a:solidFill>
                <a:latin typeface="Arial"/>
              </a:rPr>
              <a:t>31.2 </a:t>
            </a:r>
            <a:r>
              <a:rPr sz="1300" b="1" dirty="0" err="1">
                <a:solidFill>
                  <a:srgbClr val="1E1E1E"/>
                </a:solidFill>
                <a:latin typeface="Arial"/>
              </a:rPr>
              <a:t>ms</a:t>
            </a:r>
            <a:r>
              <a:rPr sz="1300" b="1" dirty="0">
                <a:solidFill>
                  <a:srgbClr val="1E1E1E"/>
                </a:solidFill>
                <a:latin typeface="Arial"/>
              </a:rPr>
              <a:t> per frame</a:t>
            </a:r>
            <a:r>
              <a:rPr sz="1300" dirty="0">
                <a:solidFill>
                  <a:srgbClr val="1E1E1E"/>
                </a:solidFill>
                <a:latin typeface="Arial"/>
              </a:rPr>
              <a:t>, maintaining a steady </a:t>
            </a:r>
            <a:r>
              <a:rPr sz="1300" b="1" dirty="0">
                <a:solidFill>
                  <a:srgbClr val="1E1E1E"/>
                </a:solidFill>
                <a:latin typeface="Arial"/>
              </a:rPr>
              <a:t>30 FPS real-time throughput</a:t>
            </a:r>
            <a:r>
              <a:rPr sz="1300" dirty="0">
                <a:solidFill>
                  <a:srgbClr val="1E1E1E"/>
                </a:solidFill>
                <a:latin typeface="Arial"/>
              </a:rPr>
              <a:t> without requiring GPU acceleration.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BA167EB-EBEB-B482-74EB-FF5E3BEEAC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5290" y="854940"/>
            <a:ext cx="8052027" cy="458029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5F7EEF-07DE-B41C-42C1-FD4AD7ADE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5BAC113-9490-6682-B0B2-37D2751CC4E5}"/>
              </a:ext>
            </a:extLst>
          </p:cNvPr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C3B6E"/>
          </a:solidFill>
          <a:ln>
            <a:solidFill>
              <a:srgbClr val="0C3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938777-847A-D365-2B8E-42380DE37811}"/>
              </a:ext>
            </a:extLst>
          </p:cNvPr>
          <p:cNvSpPr txBox="1"/>
          <p:nvPr/>
        </p:nvSpPr>
        <p:spPr>
          <a:xfrm>
            <a:off x="457200" y="91440"/>
            <a:ext cx="11277295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rPr dirty="0"/>
              <a:t>Appendix:</a:t>
            </a:r>
            <a:r>
              <a:rPr lang="en-US" dirty="0"/>
              <a:t> </a:t>
            </a:r>
            <a:r>
              <a:rPr lang="en-US" dirty="0" err="1"/>
              <a:t>Mediapipe</a:t>
            </a:r>
            <a:r>
              <a:rPr lang="en-US" dirty="0"/>
              <a:t> framework</a:t>
            </a:r>
            <a:endParaRPr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3E3E15F-97DD-0019-391E-871598913023}"/>
              </a:ext>
            </a:extLst>
          </p:cNvPr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C3673"/>
          </a:solidFill>
          <a:ln>
            <a:solidFill>
              <a:srgbClr val="1C3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041D86-C281-97BA-72CD-EB669EC2D6CA}"/>
              </a:ext>
            </a:extLst>
          </p:cNvPr>
          <p:cNvSpPr txBox="1"/>
          <p:nvPr/>
        </p:nvSpPr>
        <p:spPr>
          <a:xfrm>
            <a:off x="457200" y="656539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S.-W. Chang (TTU)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B67F4-3013-5ED7-7554-2D1C5FB392E6}"/>
              </a:ext>
            </a:extLst>
          </p:cNvPr>
          <p:cNvSpPr txBox="1"/>
          <p:nvPr/>
        </p:nvSpPr>
        <p:spPr>
          <a:xfrm>
            <a:off x="3200400" y="6565392"/>
            <a:ext cx="57908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Attention-Based Multi-Modal Driver Monitoring System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371C0A-35BB-253D-C66E-2C1BE22CC4D2}"/>
              </a:ext>
            </a:extLst>
          </p:cNvPr>
          <p:cNvSpPr txBox="1"/>
          <p:nvPr/>
        </p:nvSpPr>
        <p:spPr>
          <a:xfrm>
            <a:off x="457200" y="6172200"/>
            <a:ext cx="11277295" cy="1308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787878"/>
                </a:solidFill>
                <a:latin typeface="Arial"/>
              </a:defRPr>
            </a:pPr>
            <a:r>
              <a:rPr lang="en-US" dirty="0"/>
              <a:t>.   [19] C. </a:t>
            </a:r>
            <a:r>
              <a:rPr lang="en-US" dirty="0" err="1"/>
              <a:t>Lugaresi</a:t>
            </a:r>
            <a:r>
              <a:rPr lang="en-US" dirty="0"/>
              <a:t> et al., "</a:t>
            </a:r>
            <a:r>
              <a:rPr lang="en-US" dirty="0" err="1"/>
              <a:t>MediaPipe</a:t>
            </a:r>
            <a:r>
              <a:rPr lang="en-US" dirty="0"/>
              <a:t>: A Framework for Building Perception Pipelines," arXiv:1906.08172, 2019.</a:t>
            </a:r>
            <a:endParaRPr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D32EA95-60FA-E490-C0E0-91F83F2A89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5357" y="1057915"/>
            <a:ext cx="9302906" cy="4437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2261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C3B6E"/>
          </a:solidFill>
          <a:ln>
            <a:solidFill>
              <a:srgbClr val="0C3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3. Part A: Signal Discovery &amp; ROI Tracking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C3673"/>
          </a:solidFill>
          <a:ln>
            <a:solidFill>
              <a:srgbClr val="1C3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6539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S.-W. Chang (TTU)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6565392"/>
            <a:ext cx="57908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Attention-Based Multi-Modal Driver Monitoring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91295" y="6565392"/>
            <a:ext cx="274320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FFFFFF"/>
                </a:solidFill>
                <a:latin typeface="Arial"/>
              </a:defRPr>
            </a:pPr>
            <a:r>
              <a:rPr dirty="0"/>
              <a:t>8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72200"/>
            <a:ext cx="112772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787878"/>
                </a:solidFill>
                <a:latin typeface="Arial"/>
              </a:defRPr>
            </a:pPr>
            <a:r>
              <a:rPr dirty="0"/>
              <a:t>[8] W. Wang et al., "Algorithmic Principles of Remote PPG," IEEE Trans. Biomed. Eng., 2017.   [19] C. </a:t>
            </a:r>
            <a:r>
              <a:rPr dirty="0" err="1"/>
              <a:t>Lugaresi</a:t>
            </a:r>
            <a:r>
              <a:rPr dirty="0"/>
              <a:t> et al., "</a:t>
            </a:r>
            <a:r>
              <a:rPr dirty="0" err="1"/>
              <a:t>MediaPipe</a:t>
            </a:r>
            <a:r>
              <a:rPr dirty="0"/>
              <a:t>: A Framework for Building Perception Pipelines," arXiv:1906.08172, 2019.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1" y="1097280"/>
            <a:ext cx="5196468" cy="4564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800" b="1" dirty="0">
                <a:solidFill>
                  <a:srgbClr val="0C3B6E"/>
                </a:solidFill>
                <a:latin typeface="Arial"/>
              </a:rPr>
              <a:t>▶  </a:t>
            </a:r>
            <a:r>
              <a:rPr sz="1800" b="1" dirty="0" err="1">
                <a:solidFill>
                  <a:srgbClr val="1E1E1E"/>
                </a:solidFill>
                <a:latin typeface="Arial"/>
              </a:rPr>
              <a:t>MediaPipe</a:t>
            </a:r>
            <a:r>
              <a:rPr sz="1800" b="1" dirty="0">
                <a:solidFill>
                  <a:srgbClr val="1E1E1E"/>
                </a:solidFill>
                <a:latin typeface="Arial"/>
              </a:rPr>
              <a:t> Face Mesh</a:t>
            </a:r>
            <a:r>
              <a:rPr sz="1800" dirty="0">
                <a:solidFill>
                  <a:srgbClr val="1E1E1E"/>
                </a:solidFill>
                <a:latin typeface="Arial"/>
              </a:rPr>
              <a:t>: Tracks 468 3D landmarks for real-time face tracking [19].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 b="1" dirty="0">
                <a:solidFill>
                  <a:srgbClr val="D95319"/>
                </a:solidFill>
                <a:latin typeface="Arial"/>
              </a:rPr>
              <a:t>▷  </a:t>
            </a:r>
            <a:r>
              <a:rPr sz="1500" dirty="0">
                <a:solidFill>
                  <a:srgbClr val="505050"/>
                </a:solidFill>
                <a:latin typeface="Arial"/>
              </a:rPr>
              <a:t>Chosen for optimized CPU inference speed, vital for achieving the 30 FPS target on standard edge computers.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800" b="1" dirty="0">
                <a:solidFill>
                  <a:srgbClr val="0C3B6E"/>
                </a:solidFill>
                <a:latin typeface="Arial"/>
              </a:rPr>
              <a:t>▶  </a:t>
            </a:r>
            <a:r>
              <a:rPr sz="1800" b="1" dirty="0">
                <a:solidFill>
                  <a:srgbClr val="1E1E1E"/>
                </a:solidFill>
                <a:latin typeface="Arial"/>
              </a:rPr>
              <a:t>Regions of Interest (ROIs)</a:t>
            </a:r>
            <a:r>
              <a:rPr sz="1800" dirty="0">
                <a:solidFill>
                  <a:srgbClr val="1E1E1E"/>
                </a:solidFill>
                <a:latin typeface="Arial"/>
              </a:rPr>
              <a:t>: Forehead (R_1), Left Cheek (R_2), and Right Cheek (R_3) </a:t>
            </a:r>
            <a:endParaRPr lang="en-US" sz="1800" dirty="0">
              <a:solidFill>
                <a:srgbClr val="1E1E1E"/>
              </a:solidFill>
              <a:latin typeface="Arial"/>
            </a:endParaRP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800" b="1" dirty="0">
                <a:solidFill>
                  <a:srgbClr val="0C3B6E"/>
                </a:solidFill>
                <a:latin typeface="Arial"/>
              </a:rPr>
              <a:t>▶  </a:t>
            </a:r>
            <a:r>
              <a:rPr sz="1800" b="1" dirty="0" err="1">
                <a:solidFill>
                  <a:srgbClr val="1E1E1E"/>
                </a:solidFill>
                <a:latin typeface="Arial"/>
              </a:rPr>
              <a:t>YCrCb</a:t>
            </a:r>
            <a:r>
              <a:rPr sz="1800" b="1" dirty="0">
                <a:solidFill>
                  <a:srgbClr val="1E1E1E"/>
                </a:solidFill>
                <a:latin typeface="Arial"/>
              </a:rPr>
              <a:t> Skin Masking</a:t>
            </a:r>
            <a:r>
              <a:rPr sz="1800" dirty="0">
                <a:solidFill>
                  <a:srgbClr val="1E1E1E"/>
                </a:solidFill>
                <a:latin typeface="Arial"/>
              </a:rPr>
              <a:t>: Applied to each ROI boundary to filter out non-skin pixels before averaging.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800" b="1" dirty="0">
                <a:solidFill>
                  <a:srgbClr val="0C3B6E"/>
                </a:solidFill>
                <a:latin typeface="Arial"/>
              </a:rPr>
              <a:t>▶  </a:t>
            </a:r>
            <a:r>
              <a:rPr sz="1800" b="1" dirty="0">
                <a:solidFill>
                  <a:srgbClr val="1E1E1E"/>
                </a:solidFill>
                <a:latin typeface="Arial"/>
              </a:rPr>
              <a:t>Plane-Orthogonal-to-Skin (POS) Algorithm</a:t>
            </a:r>
            <a:r>
              <a:rPr sz="1800" dirty="0">
                <a:solidFill>
                  <a:srgbClr val="1E1E1E"/>
                </a:solidFill>
                <a:latin typeface="Arial"/>
              </a:rPr>
              <a:t>: Wang et al. (2017) [8] projections are used to dynamically isolate pulsatile color changes from non-physiological specular noise.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405C1D7-9ED1-AFE6-1344-02477D32C9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415" y="1241857"/>
            <a:ext cx="597408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C3B6E"/>
          </a:solidFill>
          <a:ln>
            <a:solidFill>
              <a:srgbClr val="0C3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3. Part A: SNR-based ROI-Switching Attention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C3673"/>
          </a:solidFill>
          <a:ln>
            <a:solidFill>
              <a:srgbClr val="1C3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6539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S.-W. Chang (TTU)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6565392"/>
            <a:ext cx="57908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Attention-Based Multi-Modal Driver Monitoring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91295" y="6565392"/>
            <a:ext cx="274320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FFFFFF"/>
                </a:solidFill>
                <a:latin typeface="Arial"/>
              </a:defRPr>
            </a:pPr>
            <a:r>
              <a:rPr dirty="0"/>
              <a:t> 9 / 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6243998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00">
                <a:solidFill>
                  <a:srgbClr val="505050"/>
                </a:solidFill>
                <a:latin typeface="Arial"/>
              </a:defRPr>
            </a:pPr>
            <a:r>
              <a:rPr dirty="0"/>
              <a:t>Figure 4: SNR-based ROI-Switching Attention Logic Flow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DD09993-AEC5-ADFC-0456-0BDEE73E9F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86782"/>
            <a:ext cx="12192000" cy="512199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C3B6E"/>
          </a:solidFill>
          <a:ln>
            <a:solidFill>
              <a:srgbClr val="0C3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3. Part A: Behavioral Feature Extraction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C3673"/>
          </a:solidFill>
          <a:ln>
            <a:solidFill>
              <a:srgbClr val="1C3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6539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S.-W. Chang (TTU)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6565392"/>
            <a:ext cx="57908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Attention-Based Multi-Modal Driver Monitoring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91295" y="6565392"/>
            <a:ext cx="274320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FFFFFF"/>
                </a:solidFill>
                <a:latin typeface="Arial"/>
              </a:defRPr>
            </a:pPr>
            <a:r>
              <a:rPr dirty="0"/>
              <a:t>  10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1277295" cy="44168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800" b="1" dirty="0">
                <a:solidFill>
                  <a:srgbClr val="0C3B6E"/>
                </a:solidFill>
                <a:latin typeface="Arial"/>
              </a:rPr>
              <a:t>▶  </a:t>
            </a:r>
            <a:r>
              <a:rPr sz="1800" b="1" dirty="0">
                <a:solidFill>
                  <a:srgbClr val="1E1E1E"/>
                </a:solidFill>
                <a:latin typeface="Arial"/>
              </a:rPr>
              <a:t>Mouth Aspect Ratio (MAR)</a:t>
            </a:r>
            <a:r>
              <a:rPr sz="1800" dirty="0">
                <a:solidFill>
                  <a:srgbClr val="1E1E1E"/>
                </a:solidFill>
                <a:latin typeface="Arial"/>
              </a:rPr>
              <a:t>: Quantifies yawning frequency and duration: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 b="1" dirty="0">
                <a:solidFill>
                  <a:srgbClr val="D95319"/>
                </a:solidFill>
                <a:latin typeface="Arial"/>
              </a:rPr>
              <a:t>▷  </a:t>
            </a:r>
            <a:r>
              <a:rPr sz="1500" dirty="0">
                <a:solidFill>
                  <a:srgbClr val="505050"/>
                </a:solidFill>
                <a:latin typeface="Arial"/>
              </a:rPr>
              <a:t> </a:t>
            </a:r>
            <a:endParaRPr lang="en-US" sz="1500" dirty="0">
              <a:solidFill>
                <a:srgbClr val="505050"/>
              </a:solidFill>
              <a:latin typeface="Arial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endParaRPr lang="en-US" sz="1500" dirty="0">
              <a:solidFill>
                <a:srgbClr val="505050"/>
              </a:solidFill>
              <a:latin typeface="Arial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endParaRPr lang="en-US" sz="1500" dirty="0">
              <a:solidFill>
                <a:srgbClr val="505050"/>
              </a:solidFill>
              <a:latin typeface="Arial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 b="1" dirty="0">
                <a:solidFill>
                  <a:srgbClr val="D95319"/>
                </a:solidFill>
                <a:latin typeface="Arial"/>
              </a:rPr>
              <a:t>▷  </a:t>
            </a:r>
            <a:r>
              <a:rPr sz="1500" dirty="0">
                <a:solidFill>
                  <a:srgbClr val="505050"/>
                </a:solidFill>
                <a:latin typeface="Arial"/>
              </a:rPr>
              <a:t>A yawn event is registered when MAR &gt; 0.5 for longer than 20 frames.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800" b="1" dirty="0">
                <a:solidFill>
                  <a:srgbClr val="0C3B6E"/>
                </a:solidFill>
                <a:latin typeface="Arial"/>
              </a:rPr>
              <a:t>▶  </a:t>
            </a:r>
            <a:r>
              <a:rPr sz="1800" b="1" dirty="0">
                <a:solidFill>
                  <a:srgbClr val="1E1E1E"/>
                </a:solidFill>
                <a:latin typeface="Arial"/>
              </a:rPr>
              <a:t>Pose Standard Deviation</a:t>
            </a:r>
            <a:r>
              <a:rPr sz="1800" dirty="0">
                <a:solidFill>
                  <a:srgbClr val="1E1E1E"/>
                </a:solidFill>
                <a:latin typeface="Arial"/>
              </a:rPr>
              <a:t>: Captures driver restlessness and drowsiness nodding: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 b="1" dirty="0">
                <a:solidFill>
                  <a:srgbClr val="D95319"/>
                </a:solidFill>
                <a:latin typeface="Arial"/>
              </a:rPr>
              <a:t>▷</a:t>
            </a:r>
            <a:endParaRPr lang="en-US" sz="1500" b="1" dirty="0">
              <a:solidFill>
                <a:srgbClr val="D95319"/>
              </a:solidFill>
              <a:latin typeface="Arial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endParaRPr lang="en-US" sz="1500" dirty="0">
              <a:solidFill>
                <a:srgbClr val="505050"/>
              </a:solidFill>
              <a:latin typeface="Arial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 dirty="0">
                <a:solidFill>
                  <a:srgbClr val="505050"/>
                </a:solidFill>
                <a:latin typeface="Arial"/>
              </a:rPr>
              <a:t> computed over a 256-frame rolling window.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800" b="1" dirty="0">
                <a:solidFill>
                  <a:srgbClr val="0C3B6E"/>
                </a:solidFill>
                <a:latin typeface="Arial"/>
              </a:rPr>
              <a:t>▶  </a:t>
            </a:r>
            <a:r>
              <a:rPr sz="1800" b="1" dirty="0">
                <a:solidFill>
                  <a:srgbClr val="1E1E1E"/>
                </a:solidFill>
                <a:latin typeface="Arial"/>
              </a:rPr>
              <a:t>Ocular EAR &amp; PERCLOS</a:t>
            </a:r>
            <a:r>
              <a:rPr sz="1800" dirty="0">
                <a:solidFill>
                  <a:srgbClr val="1E1E1E"/>
                </a:solidFill>
                <a:latin typeface="Arial"/>
              </a:rPr>
              <a:t>: Standard percentage of eye closure tracking.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800" b="1" dirty="0">
                <a:solidFill>
                  <a:srgbClr val="0C3B6E"/>
                </a:solidFill>
                <a:latin typeface="Arial"/>
              </a:rPr>
              <a:t>▶  </a:t>
            </a:r>
            <a:r>
              <a:rPr sz="1800" b="1" dirty="0">
                <a:solidFill>
                  <a:srgbClr val="1E1E1E"/>
                </a:solidFill>
                <a:latin typeface="Arial"/>
              </a:rPr>
              <a:t>Feature Normalization</a:t>
            </a:r>
            <a:r>
              <a:rPr sz="1800" dirty="0">
                <a:solidFill>
                  <a:srgbClr val="1E1E1E"/>
                </a:solidFill>
                <a:latin typeface="Arial"/>
              </a:rPr>
              <a:t>: Behavioral features are scaled to [0, 1]. Physiological features normalized according to biological ranges (e.g., HR from 45 to 160 BPM, SpO2 from 80% to 100%).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56F39E7-088B-9395-C9CF-ECF1D5FC4C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332" y="1455760"/>
            <a:ext cx="3843868" cy="107087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44EBBEA-98FF-14EE-8AD2-EAABB0EB36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7195" y="3345274"/>
            <a:ext cx="2907289" cy="65914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C3B6E"/>
          </a:solidFill>
          <a:ln>
            <a:solidFill>
              <a:srgbClr val="0C3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97180"/>
            <a:ext cx="1127729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rPr dirty="0"/>
              <a:t>4. Part B: Physiological Feature Refinement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C3673"/>
          </a:solidFill>
          <a:ln>
            <a:solidFill>
              <a:srgbClr val="1C3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6539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S.-W. Chang (TTU)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6565392"/>
            <a:ext cx="57908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Attention-Based Multi-Modal Driver Monitoring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7231" y="6565392"/>
            <a:ext cx="274320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FFFFFF"/>
                </a:solidFill>
                <a:latin typeface="Arial"/>
              </a:defRPr>
            </a:pPr>
            <a:r>
              <a:rPr dirty="0"/>
              <a:t>  11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72200"/>
            <a:ext cx="112772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787878"/>
                </a:solidFill>
                <a:latin typeface="Arial"/>
              </a:defRPr>
            </a:pPr>
            <a:r>
              <a:t>[22] D. Kingma and J. Ba, "Adam: A method for stochastic optimization," in Proc. ICLR, 2015.   [24] Y. Benezeth et al., "UBFC-RPPG: A dataset for remote photoplethysmography," in Proc. FedCSIS, 2017.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99355"/>
            <a:ext cx="5943600" cy="13598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600" b="1" dirty="0">
                <a:solidFill>
                  <a:srgbClr val="0C3B6E"/>
                </a:solidFill>
                <a:latin typeface="Arial"/>
              </a:rPr>
              <a:t>▶  </a:t>
            </a:r>
            <a:r>
              <a:rPr sz="1600" b="1" dirty="0">
                <a:solidFill>
                  <a:srgbClr val="1E1E1E"/>
                </a:solidFill>
                <a:latin typeface="Arial"/>
              </a:rPr>
              <a:t>1D-CNN Refinement Architecture</a:t>
            </a:r>
            <a:r>
              <a:rPr sz="1600" dirty="0">
                <a:solidFill>
                  <a:srgbClr val="1E1E1E"/>
                </a:solidFill>
                <a:latin typeface="Arial"/>
              </a:rPr>
              <a:t>: </a:t>
            </a:r>
            <a:endParaRPr lang="en-US" sz="1600" dirty="0">
              <a:solidFill>
                <a:srgbClr val="1E1E1E"/>
              </a:solidFill>
              <a:latin typeface="Arial"/>
            </a:endParaRP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600" b="1" dirty="0">
                <a:solidFill>
                  <a:srgbClr val="0C3B6E"/>
                </a:solidFill>
                <a:latin typeface="Arial"/>
              </a:rPr>
              <a:t>▶  </a:t>
            </a:r>
            <a:r>
              <a:rPr sz="1600" b="1" dirty="0">
                <a:solidFill>
                  <a:srgbClr val="1E1E1E"/>
                </a:solidFill>
                <a:latin typeface="Arial"/>
              </a:rPr>
              <a:t>Training Setup</a:t>
            </a:r>
            <a:r>
              <a:rPr sz="1600" dirty="0">
                <a:solidFill>
                  <a:srgbClr val="1E1E1E"/>
                </a:solidFill>
                <a:latin typeface="Arial"/>
              </a:rPr>
              <a:t>: Optimi</a:t>
            </a:r>
            <a:r>
              <a:rPr lang="en-US" sz="1600" dirty="0">
                <a:solidFill>
                  <a:srgbClr val="1E1E1E"/>
                </a:solidFill>
                <a:latin typeface="Arial"/>
              </a:rPr>
              <a:t>z</a:t>
            </a:r>
            <a:r>
              <a:rPr sz="1600" dirty="0">
                <a:solidFill>
                  <a:srgbClr val="1E1E1E"/>
                </a:solidFill>
                <a:latin typeface="Arial"/>
              </a:rPr>
              <a:t>ed with Adam (</a:t>
            </a:r>
            <a:r>
              <a:rPr sz="1600" dirty="0" err="1">
                <a:solidFill>
                  <a:srgbClr val="1E1E1E"/>
                </a:solidFill>
                <a:latin typeface="Arial"/>
              </a:rPr>
              <a:t>lr</a:t>
            </a:r>
            <a:r>
              <a:rPr sz="1600" dirty="0">
                <a:solidFill>
                  <a:srgbClr val="1E1E1E"/>
                </a:solidFill>
                <a:latin typeface="Arial"/>
              </a:rPr>
              <a:t> = 1 × 10⁻⁴) to minimize Mean Absolute Error (MAE) loss.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600" b="1" dirty="0">
                <a:solidFill>
                  <a:srgbClr val="0C3B6E"/>
                </a:solidFill>
                <a:latin typeface="Arial"/>
              </a:rPr>
              <a:t>▶  </a:t>
            </a:r>
            <a:r>
              <a:rPr lang="en-US" sz="1600" b="1" dirty="0">
                <a:solidFill>
                  <a:srgbClr val="1E1E1E"/>
                </a:solidFill>
                <a:latin typeface="Arial"/>
              </a:rPr>
              <a:t>HR Model, PERCLOS Model, SpO2 Model</a:t>
            </a:r>
            <a:endParaRPr sz="1600" dirty="0">
              <a:solidFill>
                <a:srgbClr val="1E1E1E"/>
              </a:solidFill>
              <a:latin typeface="Arial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57200" y="4114800"/>
            <a:ext cx="5943600" cy="1828800"/>
          </a:xfrm>
          <a:prstGeom prst="rect">
            <a:avLst/>
          </a:prstGeom>
          <a:solidFill>
            <a:srgbClr val="F0F7FF"/>
          </a:solidFill>
          <a:ln w="19050">
            <a:solidFill>
              <a:srgbClr val="0C3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4114800"/>
            <a:ext cx="5943600" cy="411480"/>
          </a:xfrm>
          <a:prstGeom prst="rect">
            <a:avLst/>
          </a:prstGeom>
          <a:solidFill>
            <a:srgbClr val="0C3B6E"/>
          </a:solidFill>
          <a:ln>
            <a:solidFill>
              <a:srgbClr val="0C3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4160520"/>
            <a:ext cx="56692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Ratio-of-Ratios (R)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617720"/>
            <a:ext cx="5669280" cy="11782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 b="1" dirty="0">
                <a:solidFill>
                  <a:srgbClr val="1E1E1E"/>
                </a:solidFill>
                <a:latin typeface="Arial"/>
              </a:rPr>
              <a:t>R</a:t>
            </a:r>
            <a:r>
              <a:rPr sz="1300" dirty="0">
                <a:solidFill>
                  <a:srgbClr val="1E1E1E"/>
                </a:solidFill>
                <a:latin typeface="Arial"/>
              </a:rPr>
              <a:t> = (AC/DC)red </a:t>
            </a:r>
            <a:r>
              <a:rPr lang="en-US" sz="1300" dirty="0">
                <a:solidFill>
                  <a:srgbClr val="1E1E1E"/>
                </a:solidFill>
                <a:latin typeface="Arial"/>
              </a:rPr>
              <a:t>channel</a:t>
            </a:r>
            <a:r>
              <a:rPr sz="1300" dirty="0">
                <a:solidFill>
                  <a:srgbClr val="1E1E1E"/>
                </a:solidFill>
                <a:latin typeface="Arial"/>
              </a:rPr>
              <a:t>/ (AC/DC)green </a:t>
            </a:r>
            <a:r>
              <a:rPr lang="en-US" sz="1300" dirty="0">
                <a:solidFill>
                  <a:srgbClr val="1E1E1E"/>
                </a:solidFill>
                <a:latin typeface="Arial"/>
              </a:rPr>
              <a:t>channel</a:t>
            </a:r>
            <a:r>
              <a:rPr sz="1300" dirty="0">
                <a:solidFill>
                  <a:srgbClr val="1E1E1E"/>
                </a:solidFill>
                <a:latin typeface="Arial"/>
              </a:rPr>
              <a:t>  </a:t>
            </a:r>
            <a:endParaRPr lang="en-US" sz="1300" dirty="0">
              <a:solidFill>
                <a:srgbClr val="1E1E1E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sz="1300" b="1" dirty="0">
                <a:solidFill>
                  <a:srgbClr val="1E1E1E"/>
                </a:solidFill>
                <a:latin typeface="Arial"/>
              </a:rPr>
              <a:t>SpO2</a:t>
            </a:r>
            <a:r>
              <a:rPr sz="1300" dirty="0">
                <a:solidFill>
                  <a:srgbClr val="1E1E1E"/>
                </a:solidFill>
                <a:latin typeface="Arial"/>
              </a:rPr>
              <a:t> = 123.0 - 25.0 × R  (coefficients calibrated empirically). </a:t>
            </a:r>
            <a:endParaRPr lang="en-US" sz="1300" dirty="0">
              <a:solidFill>
                <a:srgbClr val="1E1E1E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endParaRPr lang="en-US" sz="1300" dirty="0">
              <a:solidFill>
                <a:srgbClr val="1E1E1E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sz="1300" dirty="0">
                <a:solidFill>
                  <a:srgbClr val="1E1E1E"/>
                </a:solidFill>
                <a:latin typeface="Arial"/>
              </a:rPr>
              <a:t>The 1D-CNN refines this linear model to suppress non-linear lighting fluctuations.</a:t>
            </a:r>
          </a:p>
        </p:txBody>
      </p:sp>
      <p:pic>
        <p:nvPicPr>
          <p:cNvPr id="14" name="Picture 13" descr="imag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188720"/>
            <a:ext cx="5029200" cy="43891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675120" y="557784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00">
                <a:solidFill>
                  <a:srgbClr val="505050"/>
                </a:solidFill>
                <a:latin typeface="Arial"/>
              </a:defRPr>
            </a:pPr>
            <a:r>
              <a:t>Figure 5: 1D-CNN Physiological Feature Refinement Pipeline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C3B6E"/>
          </a:solidFill>
          <a:ln>
            <a:solidFill>
              <a:srgbClr val="0C3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4. Part B: DSP Pipeline for Signal Quality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C3673"/>
          </a:solidFill>
          <a:ln>
            <a:solidFill>
              <a:srgbClr val="1C3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6539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S.-W. Chang (TTU)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6565392"/>
            <a:ext cx="57908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Attention-Based Multi-Modal Driver Monitoring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91295" y="6565392"/>
            <a:ext cx="274320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FFFFFF"/>
                </a:solidFill>
                <a:latin typeface="Arial"/>
              </a:defRPr>
            </a:pPr>
            <a:r>
              <a:rPr dirty="0"/>
              <a:t>12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72200"/>
            <a:ext cx="112772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787878"/>
                </a:solidFill>
                <a:latin typeface="Arial"/>
              </a:defRPr>
            </a:pPr>
            <a:r>
              <a:t>[17] S. Butterworth, "On the theory of filter amplifiers," Wireless Engineer, 1930.   [18] R. Hamming, "Digital Filters," Prentice-Hall, 1983.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11277295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800" b="1">
                <a:solidFill>
                  <a:srgbClr val="0C3B6E"/>
                </a:solidFill>
                <a:latin typeface="Arial"/>
              </a:rPr>
              <a:t>▶  </a:t>
            </a:r>
            <a:r>
              <a:rPr sz="1800" b="1">
                <a:solidFill>
                  <a:srgbClr val="1E1E1E"/>
                </a:solidFill>
                <a:latin typeface="Arial"/>
              </a:rPr>
              <a:t>Noise Isolation</a:t>
            </a:r>
            <a:r>
              <a:rPr sz="1800">
                <a:solidFill>
                  <a:srgbClr val="1E1E1E"/>
                </a:solidFill>
                <a:latin typeface="Arial"/>
              </a:rPr>
              <a:t>: Multi-stage digital signal filtering isolates the weak pulsatile AC signal from large ambient DC color offsets.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800" b="1">
                <a:solidFill>
                  <a:srgbClr val="0C3B6E"/>
                </a:solidFill>
                <a:latin typeface="Arial"/>
              </a:rPr>
              <a:t>▶  </a:t>
            </a:r>
            <a:r>
              <a:rPr sz="1800" b="1">
                <a:solidFill>
                  <a:srgbClr val="1E1E1E"/>
                </a:solidFill>
                <a:latin typeface="Arial"/>
              </a:rPr>
              <a:t>Detrending</a:t>
            </a:r>
            <a:r>
              <a:rPr sz="1800">
                <a:solidFill>
                  <a:srgbClr val="1E1E1E"/>
                </a:solidFill>
                <a:latin typeface="Arial"/>
              </a:rPr>
              <a:t>: Applied to remove low-frequency wander caused by slow head motions or ambient lighting changes.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800" b="1">
                <a:solidFill>
                  <a:srgbClr val="0C3B6E"/>
                </a:solidFill>
                <a:latin typeface="Arial"/>
              </a:rPr>
              <a:t>▶  </a:t>
            </a:r>
            <a:r>
              <a:rPr sz="1800" b="1">
                <a:solidFill>
                  <a:srgbClr val="1E1E1E"/>
                </a:solidFill>
                <a:latin typeface="Arial"/>
              </a:rPr>
              <a:t>Butterworth Bandpass Filter</a:t>
            </a:r>
            <a:r>
              <a:rPr sz="1800">
                <a:solidFill>
                  <a:srgbClr val="1E1E1E"/>
                </a:solidFill>
                <a:latin typeface="Arial"/>
              </a:rPr>
              <a:t>: 2nd-order, zero-phase bandpass filter: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 b="1">
                <a:solidFill>
                  <a:srgbClr val="D95319"/>
                </a:solidFill>
                <a:latin typeface="Arial"/>
              </a:rPr>
              <a:t>▷  </a:t>
            </a:r>
            <a:r>
              <a:rPr sz="1500">
                <a:solidFill>
                  <a:srgbClr val="505050"/>
                </a:solidFill>
                <a:latin typeface="Arial"/>
              </a:rPr>
              <a:t>Cutoff frequencies set to </a:t>
            </a:r>
            <a:r>
              <a:rPr sz="1500" b="1">
                <a:solidFill>
                  <a:srgbClr val="505050"/>
                </a:solidFill>
                <a:latin typeface="Arial"/>
              </a:rPr>
              <a:t>0.7 Hz (42 BPM) to 4.0 Hz (240 BPM)</a:t>
            </a:r>
            <a:r>
              <a:rPr sz="1500">
                <a:solidFill>
                  <a:srgbClr val="505050"/>
                </a:solidFill>
                <a:latin typeface="Arial"/>
              </a:rPr>
              <a:t>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 b="1">
                <a:solidFill>
                  <a:srgbClr val="D95319"/>
                </a:solidFill>
                <a:latin typeface="Arial"/>
              </a:rPr>
              <a:t>▷  </a:t>
            </a:r>
            <a:r>
              <a:rPr sz="1500">
                <a:solidFill>
                  <a:srgbClr val="505050"/>
                </a:solidFill>
                <a:latin typeface="Arial"/>
              </a:rPr>
              <a:t>Maximally flat frequency response preserves biological gradients, preventing the distortion of sensitive HRV variables [17].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800" b="1">
                <a:solidFill>
                  <a:srgbClr val="0C3B6E"/>
                </a:solidFill>
                <a:latin typeface="Arial"/>
              </a:rPr>
              <a:t>▶  </a:t>
            </a:r>
            <a:r>
              <a:rPr sz="1800" b="1">
                <a:solidFill>
                  <a:srgbClr val="1E1E1E"/>
                </a:solidFill>
                <a:latin typeface="Arial"/>
              </a:rPr>
              <a:t>Hamming Windowing</a:t>
            </a:r>
            <a:r>
              <a:rPr sz="1800">
                <a:solidFill>
                  <a:srgbClr val="1E1E1E"/>
                </a:solidFill>
                <a:latin typeface="Arial"/>
              </a:rPr>
              <a:t>: Applied to 256-frame buffers to reduce spectral leakage during FFT analysis: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 b="1">
                <a:solidFill>
                  <a:srgbClr val="D95319"/>
                </a:solidFill>
                <a:latin typeface="Arial"/>
              </a:rPr>
              <a:t>▷  </a:t>
            </a:r>
            <a:r>
              <a:rPr sz="1500" b="1">
                <a:solidFill>
                  <a:srgbClr val="505050"/>
                </a:solidFill>
                <a:latin typeface="Arial"/>
              </a:rPr>
              <a:t>w(n)</a:t>
            </a:r>
            <a:r>
              <a:rPr sz="1500">
                <a:solidFill>
                  <a:srgbClr val="505050"/>
                </a:solidFill>
                <a:latin typeface="Arial"/>
              </a:rPr>
              <a:t> = 0.54 - 0.46 × cos( 2πn / (N-1) )  for high-precision Signal Quality Indices (SQI).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C3B6E"/>
          </a:solidFill>
          <a:ln>
            <a:solidFill>
              <a:srgbClr val="0C3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5. Part C: Temporal Fusion Engine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C3673"/>
          </a:solidFill>
          <a:ln>
            <a:solidFill>
              <a:srgbClr val="1C3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6539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S.-W. Chang (TTU)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6565392"/>
            <a:ext cx="57908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Attention-Based Multi-Modal Driver Monitoring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91295" y="6565392"/>
            <a:ext cx="274320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FFFFFF"/>
                </a:solidFill>
                <a:latin typeface="Arial"/>
              </a:defRPr>
            </a:pPr>
            <a:r>
              <a:rPr dirty="0"/>
              <a:t> 13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72200"/>
            <a:ext cx="112772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787878"/>
                </a:solidFill>
                <a:latin typeface="Arial"/>
              </a:defRPr>
            </a:pPr>
            <a:r>
              <a:t>[14] A. Vaswani et al., "Attention is all you need," in Proc. NIPS, 2017.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263376" cy="45323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600" b="1" dirty="0">
                <a:solidFill>
                  <a:srgbClr val="0C3B6E"/>
                </a:solidFill>
                <a:latin typeface="Arial"/>
              </a:rPr>
              <a:t>▶  </a:t>
            </a:r>
            <a:r>
              <a:rPr sz="1600" b="1" dirty="0">
                <a:solidFill>
                  <a:srgbClr val="1E1E1E"/>
                </a:solidFill>
                <a:latin typeface="Arial"/>
              </a:rPr>
              <a:t>Feature Sequence Input</a:t>
            </a:r>
            <a:r>
              <a:rPr sz="1600" dirty="0">
                <a:solidFill>
                  <a:srgbClr val="1E1E1E"/>
                </a:solidFill>
                <a:latin typeface="Arial"/>
              </a:rPr>
              <a:t>: Fuses the 7-feature vector `[HR, PERCLOS, MAR, </a:t>
            </a:r>
            <a:r>
              <a:rPr sz="1600" dirty="0" err="1">
                <a:solidFill>
                  <a:srgbClr val="1E1E1E"/>
                </a:solidFill>
                <a:latin typeface="Arial"/>
              </a:rPr>
              <a:t>Pose_Var</a:t>
            </a:r>
            <a:r>
              <a:rPr sz="1600" dirty="0">
                <a:solidFill>
                  <a:srgbClr val="1E1E1E"/>
                </a:solidFill>
                <a:latin typeface="Arial"/>
              </a:rPr>
              <a:t>, SpO2, HRV,</a:t>
            </a:r>
            <a:r>
              <a:rPr lang="en-US" sz="1600" dirty="0">
                <a:solidFill>
                  <a:srgbClr val="1E1E1E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1E1E1E"/>
                </a:solidFill>
                <a:latin typeface="Arial"/>
              </a:rPr>
              <a:t>HRV_Delta</a:t>
            </a:r>
            <a:r>
              <a:rPr sz="1600" dirty="0">
                <a:solidFill>
                  <a:srgbClr val="1E1E1E"/>
                </a:solidFill>
                <a:latin typeface="Arial"/>
              </a:rPr>
              <a:t>]`</a:t>
            </a:r>
            <a:endParaRPr lang="en-US" sz="1600" dirty="0">
              <a:solidFill>
                <a:srgbClr val="1E1E1E"/>
              </a:solidFill>
              <a:latin typeface="Arial"/>
            </a:endParaRPr>
          </a:p>
          <a:p>
            <a:pPr>
              <a:lnSpc>
                <a:spcPct val="120000"/>
              </a:lnSpc>
              <a:spcAft>
                <a:spcPts val="800"/>
              </a:spcAft>
            </a:pPr>
            <a:endParaRPr lang="en-US" sz="1600" b="1" dirty="0">
              <a:solidFill>
                <a:srgbClr val="1E1E1E"/>
              </a:solidFill>
              <a:latin typeface="Arial"/>
            </a:endParaRP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600" b="1" dirty="0">
                <a:solidFill>
                  <a:srgbClr val="0C3B6E"/>
                </a:solidFill>
                <a:latin typeface="Arial"/>
              </a:rPr>
              <a:t>▶  </a:t>
            </a:r>
            <a:r>
              <a:rPr sz="1600" b="1" dirty="0">
                <a:solidFill>
                  <a:srgbClr val="1E1E1E"/>
                </a:solidFill>
                <a:latin typeface="Arial"/>
              </a:rPr>
              <a:t>Stacked Bidirectional LSTM (</a:t>
            </a:r>
            <a:r>
              <a:rPr sz="1600" b="1" dirty="0" err="1">
                <a:solidFill>
                  <a:srgbClr val="1E1E1E"/>
                </a:solidFill>
                <a:latin typeface="Arial"/>
              </a:rPr>
              <a:t>BiLSTM</a:t>
            </a:r>
            <a:r>
              <a:rPr sz="1600" b="1" dirty="0">
                <a:solidFill>
                  <a:srgbClr val="1E1E1E"/>
                </a:solidFill>
                <a:latin typeface="Arial"/>
              </a:rPr>
              <a:t>) Backbone</a:t>
            </a:r>
            <a:r>
              <a:rPr sz="1600" dirty="0">
                <a:solidFill>
                  <a:srgbClr val="1E1E1E"/>
                </a:solidFill>
                <a:latin typeface="Arial"/>
              </a:rPr>
              <a:t>: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400" b="1" dirty="0">
                <a:solidFill>
                  <a:srgbClr val="D95319"/>
                </a:solidFill>
                <a:latin typeface="Arial"/>
              </a:rPr>
              <a:t>▷  </a:t>
            </a:r>
            <a:r>
              <a:rPr sz="1400" dirty="0">
                <a:solidFill>
                  <a:srgbClr val="505050"/>
                </a:solidFill>
                <a:latin typeface="Arial"/>
              </a:rPr>
              <a:t>Bidirectional tracking captures context from both the past and future relative to each frame.</a:t>
            </a:r>
            <a:endParaRPr lang="en-US" sz="1400" dirty="0">
              <a:solidFill>
                <a:srgbClr val="505050"/>
              </a:solidFill>
              <a:latin typeface="Arial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endParaRPr sz="1400" dirty="0">
              <a:solidFill>
                <a:srgbClr val="505050"/>
              </a:solidFill>
              <a:latin typeface="Arial"/>
            </a:endParaRP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600" b="1" dirty="0">
                <a:solidFill>
                  <a:srgbClr val="0C3B6E"/>
                </a:solidFill>
                <a:latin typeface="Arial"/>
              </a:rPr>
              <a:t>▶  </a:t>
            </a:r>
            <a:r>
              <a:rPr sz="1600" b="1" dirty="0">
                <a:solidFill>
                  <a:srgbClr val="1E1E1E"/>
                </a:solidFill>
                <a:latin typeface="Arial"/>
              </a:rPr>
              <a:t>Multi-Head Attention (MHA) Mechanism</a:t>
            </a:r>
            <a:r>
              <a:rPr sz="1600" dirty="0">
                <a:solidFill>
                  <a:srgbClr val="1E1E1E"/>
                </a:solidFill>
                <a:latin typeface="Arial"/>
              </a:rPr>
              <a:t>: 4 heads (</a:t>
            </a:r>
            <a:r>
              <a:rPr sz="1600" dirty="0" err="1">
                <a:solidFill>
                  <a:srgbClr val="1E1E1E"/>
                </a:solidFill>
                <a:latin typeface="Arial"/>
              </a:rPr>
              <a:t>key_dim</a:t>
            </a:r>
            <a:r>
              <a:rPr sz="1600" dirty="0">
                <a:solidFill>
                  <a:srgbClr val="1E1E1E"/>
                </a:solidFill>
                <a:latin typeface="Arial"/>
              </a:rPr>
              <a:t>=16) identify parallel feature subspace dependencies: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400" b="1" dirty="0">
                <a:solidFill>
                  <a:srgbClr val="D95319"/>
                </a:solidFill>
                <a:latin typeface="Arial"/>
              </a:rPr>
              <a:t>▷  </a:t>
            </a:r>
            <a:r>
              <a:rPr sz="1400" b="1" dirty="0">
                <a:solidFill>
                  <a:srgbClr val="505050"/>
                </a:solidFill>
                <a:latin typeface="Arial"/>
              </a:rPr>
              <a:t>Attention(Q, K, V)</a:t>
            </a:r>
            <a:r>
              <a:rPr sz="1400" dirty="0">
                <a:solidFill>
                  <a:srgbClr val="505050"/>
                </a:solidFill>
                <a:latin typeface="Arial"/>
              </a:rPr>
              <a:t> = </a:t>
            </a:r>
            <a:r>
              <a:rPr sz="1400" dirty="0" err="1">
                <a:solidFill>
                  <a:srgbClr val="505050"/>
                </a:solidFill>
                <a:latin typeface="Arial"/>
              </a:rPr>
              <a:t>softmax</a:t>
            </a:r>
            <a:r>
              <a:rPr sz="1400" dirty="0">
                <a:solidFill>
                  <a:srgbClr val="505050"/>
                </a:solidFill>
                <a:latin typeface="Arial"/>
              </a:rPr>
              <a:t>( (Q × K^T) / sqrt(</a:t>
            </a:r>
            <a:r>
              <a:rPr sz="1400" dirty="0" err="1">
                <a:solidFill>
                  <a:srgbClr val="505050"/>
                </a:solidFill>
                <a:latin typeface="Arial"/>
              </a:rPr>
              <a:t>d_k</a:t>
            </a:r>
            <a:r>
              <a:rPr sz="1400" dirty="0">
                <a:solidFill>
                  <a:srgbClr val="505050"/>
                </a:solidFill>
                <a:latin typeface="Arial"/>
              </a:rPr>
              <a:t>) ) × V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400" b="1" dirty="0">
                <a:solidFill>
                  <a:srgbClr val="D95319"/>
                </a:solidFill>
                <a:latin typeface="Arial"/>
              </a:rPr>
              <a:t>▷  </a:t>
            </a:r>
            <a:r>
              <a:rPr sz="1400" dirty="0">
                <a:solidFill>
                  <a:srgbClr val="505050"/>
                </a:solidFill>
                <a:latin typeface="Arial"/>
              </a:rPr>
              <a:t>Transformer-style </a:t>
            </a:r>
            <a:r>
              <a:rPr sz="1400" b="1" dirty="0">
                <a:solidFill>
                  <a:srgbClr val="505050"/>
                </a:solidFill>
                <a:latin typeface="Arial"/>
              </a:rPr>
              <a:t>Residual Connection</a:t>
            </a:r>
            <a:r>
              <a:rPr sz="1400" dirty="0">
                <a:solidFill>
                  <a:srgbClr val="505050"/>
                </a:solidFill>
                <a:latin typeface="Arial"/>
              </a:rPr>
              <a:t> (x + MHA(x)) followed by Layer Normalization preserves gradient flow.</a:t>
            </a:r>
          </a:p>
        </p:txBody>
      </p:sp>
      <p:pic>
        <p:nvPicPr>
          <p:cNvPr id="10" name="Picture 9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0576" y="1188720"/>
            <a:ext cx="6471423" cy="43891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675120" y="557784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00">
                <a:solidFill>
                  <a:srgbClr val="505050"/>
                </a:solidFill>
                <a:latin typeface="Arial"/>
              </a:defRPr>
            </a:pPr>
            <a:r>
              <a:t>Figure 3: Parallel Reasoning in Multi-Head Attention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607443D-F84D-7835-B53D-13EB9F1560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0577" y="4516233"/>
            <a:ext cx="2911648" cy="56147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C3B6E"/>
          </a:solidFill>
          <a:ln>
            <a:solidFill>
              <a:srgbClr val="0C3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5. Part C: Driver State Alerts &amp; HMI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C3673"/>
          </a:solidFill>
          <a:ln>
            <a:solidFill>
              <a:srgbClr val="1C3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6539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S.-W. Chang (TTU)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6565392"/>
            <a:ext cx="57908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Attention-Based Multi-Modal Driver Monitoring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91295" y="6565392"/>
            <a:ext cx="274320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FFFFFF"/>
                </a:solidFill>
                <a:latin typeface="Arial"/>
              </a:defRPr>
            </a:pPr>
            <a:r>
              <a:rPr dirty="0"/>
              <a:t>14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72200"/>
            <a:ext cx="112772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787878"/>
                </a:solidFill>
                <a:latin typeface="Arial"/>
              </a:defRPr>
            </a:pPr>
            <a:r>
              <a:t>[27] T. Åkerstedt and M. Gillberg, "Subjective and objective sleepiness in the active individual," Int. J. Neurosci., 1990.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11277295" cy="39049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800" b="1" dirty="0">
                <a:solidFill>
                  <a:srgbClr val="0C3B6E"/>
                </a:solidFill>
                <a:latin typeface="Arial"/>
              </a:rPr>
              <a:t>▶  </a:t>
            </a:r>
            <a:r>
              <a:rPr sz="1800" b="1" dirty="0">
                <a:solidFill>
                  <a:srgbClr val="1E1E1E"/>
                </a:solidFill>
                <a:latin typeface="Arial"/>
              </a:rPr>
              <a:t>Fatigue Probability (</a:t>
            </a:r>
            <a:r>
              <a:rPr sz="1800" b="1" dirty="0" err="1">
                <a:solidFill>
                  <a:srgbClr val="1E1E1E"/>
                </a:solidFill>
                <a:latin typeface="Arial"/>
              </a:rPr>
              <a:t>P_fatigue</a:t>
            </a:r>
            <a:r>
              <a:rPr sz="1800" b="1" dirty="0">
                <a:solidFill>
                  <a:srgbClr val="1E1E1E"/>
                </a:solidFill>
                <a:latin typeface="Arial"/>
              </a:rPr>
              <a:t>)</a:t>
            </a:r>
            <a:r>
              <a:rPr sz="1800" dirty="0">
                <a:solidFill>
                  <a:srgbClr val="1E1E1E"/>
                </a:solidFill>
                <a:latin typeface="Arial"/>
              </a:rPr>
              <a:t>: Software output scaled in the range [0, 1].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800" b="1" dirty="0">
                <a:solidFill>
                  <a:srgbClr val="0C3B6E"/>
                </a:solidFill>
                <a:latin typeface="Arial"/>
              </a:rPr>
              <a:t>▶  </a:t>
            </a:r>
            <a:r>
              <a:rPr sz="1800" b="1" dirty="0">
                <a:solidFill>
                  <a:srgbClr val="1E1E1E"/>
                </a:solidFill>
                <a:latin typeface="Arial"/>
              </a:rPr>
              <a:t>Graduated Safety Intervention Protocol</a:t>
            </a:r>
            <a:r>
              <a:rPr sz="1800" dirty="0">
                <a:solidFill>
                  <a:srgbClr val="1E1E1E"/>
                </a:solidFill>
                <a:latin typeface="Arial"/>
              </a:rPr>
              <a:t> (mapped to </a:t>
            </a:r>
            <a:r>
              <a:rPr sz="1800" dirty="0" err="1">
                <a:solidFill>
                  <a:srgbClr val="1E1E1E"/>
                </a:solidFill>
                <a:latin typeface="Arial"/>
              </a:rPr>
              <a:t>softmax</a:t>
            </a:r>
            <a:r>
              <a:rPr sz="1800" dirty="0">
                <a:solidFill>
                  <a:srgbClr val="1E1E1E"/>
                </a:solidFill>
                <a:latin typeface="Arial"/>
              </a:rPr>
              <a:t> confidence):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b="1" dirty="0">
                <a:solidFill>
                  <a:srgbClr val="D95319"/>
                </a:solidFill>
                <a:latin typeface="Arial"/>
              </a:rPr>
              <a:t>▷  </a:t>
            </a:r>
            <a:r>
              <a:rPr b="1" dirty="0">
                <a:solidFill>
                  <a:srgbClr val="505050"/>
                </a:solidFill>
                <a:latin typeface="Arial"/>
              </a:rPr>
              <a:t>Stage 1 (Normal Operations)</a:t>
            </a:r>
            <a:r>
              <a:rPr dirty="0">
                <a:solidFill>
                  <a:srgbClr val="505050"/>
                </a:solidFill>
                <a:latin typeface="Arial"/>
              </a:rPr>
              <a:t>: </a:t>
            </a:r>
            <a:r>
              <a:rPr dirty="0" err="1">
                <a:solidFill>
                  <a:srgbClr val="505050"/>
                </a:solidFill>
                <a:latin typeface="Arial"/>
              </a:rPr>
              <a:t>P_fatigue</a:t>
            </a:r>
            <a:r>
              <a:rPr dirty="0">
                <a:solidFill>
                  <a:srgbClr val="505050"/>
                </a:solidFill>
                <a:latin typeface="Arial"/>
              </a:rPr>
              <a:t> &lt;= 0.5. </a:t>
            </a:r>
            <a:endParaRPr lang="en-US" dirty="0">
              <a:solidFill>
                <a:srgbClr val="505050"/>
              </a:solidFill>
              <a:latin typeface="Arial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endParaRPr lang="en-US" b="1" dirty="0">
              <a:solidFill>
                <a:srgbClr val="505050"/>
              </a:solidFill>
              <a:latin typeface="Arial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b="1" dirty="0">
                <a:solidFill>
                  <a:srgbClr val="D95319"/>
                </a:solidFill>
                <a:latin typeface="Arial"/>
              </a:rPr>
              <a:t>▷  </a:t>
            </a:r>
            <a:r>
              <a:rPr b="1" dirty="0">
                <a:solidFill>
                  <a:srgbClr val="505050"/>
                </a:solidFill>
                <a:latin typeface="Arial"/>
              </a:rPr>
              <a:t>Stage 2 (Fatigue Warning)</a:t>
            </a:r>
            <a:r>
              <a:rPr dirty="0">
                <a:solidFill>
                  <a:srgbClr val="505050"/>
                </a:solidFill>
                <a:latin typeface="Arial"/>
              </a:rPr>
              <a:t>: 0.5 &lt; </a:t>
            </a:r>
            <a:r>
              <a:rPr dirty="0" err="1">
                <a:solidFill>
                  <a:srgbClr val="505050"/>
                </a:solidFill>
                <a:latin typeface="Arial"/>
              </a:rPr>
              <a:t>P_fatigue</a:t>
            </a:r>
            <a:r>
              <a:rPr dirty="0">
                <a:solidFill>
                  <a:srgbClr val="505050"/>
                </a:solidFill>
                <a:latin typeface="Arial"/>
              </a:rPr>
              <a:t> &lt;= 0.8. </a:t>
            </a:r>
            <a:endParaRPr lang="en-US" dirty="0">
              <a:solidFill>
                <a:srgbClr val="505050"/>
              </a:solidFill>
              <a:latin typeface="Arial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endParaRPr lang="en-US" b="1" dirty="0">
              <a:solidFill>
                <a:srgbClr val="505050"/>
              </a:solidFill>
              <a:latin typeface="Arial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b="1" dirty="0">
                <a:solidFill>
                  <a:srgbClr val="D95319"/>
                </a:solidFill>
                <a:latin typeface="Arial"/>
              </a:rPr>
              <a:t>▷  </a:t>
            </a:r>
            <a:r>
              <a:rPr b="1" dirty="0">
                <a:solidFill>
                  <a:srgbClr val="505050"/>
                </a:solidFill>
                <a:latin typeface="Arial"/>
              </a:rPr>
              <a:t>Stage 3 (Critical Alert)</a:t>
            </a:r>
            <a:r>
              <a:rPr dirty="0">
                <a:solidFill>
                  <a:srgbClr val="505050"/>
                </a:solidFill>
                <a:latin typeface="Arial"/>
              </a:rPr>
              <a:t>: </a:t>
            </a:r>
            <a:r>
              <a:rPr dirty="0" err="1">
                <a:solidFill>
                  <a:srgbClr val="505050"/>
                </a:solidFill>
                <a:latin typeface="Arial"/>
              </a:rPr>
              <a:t>P_fatigue</a:t>
            </a:r>
            <a:r>
              <a:rPr dirty="0">
                <a:solidFill>
                  <a:srgbClr val="505050"/>
                </a:solidFill>
                <a:latin typeface="Arial"/>
              </a:rPr>
              <a:t> &gt; 0.8. </a:t>
            </a:r>
            <a:endParaRPr lang="en-US" dirty="0">
              <a:solidFill>
                <a:srgbClr val="505050"/>
              </a:solidFill>
              <a:latin typeface="Arial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endParaRPr lang="en-US" sz="1500" b="1" dirty="0">
              <a:solidFill>
                <a:srgbClr val="505050"/>
              </a:solidFill>
              <a:latin typeface="Arial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b="1" dirty="0">
                <a:solidFill>
                  <a:srgbClr val="0C3B6E"/>
                </a:solidFill>
                <a:latin typeface="Arial"/>
              </a:rPr>
              <a:t>▶  </a:t>
            </a:r>
            <a:r>
              <a:rPr sz="1800" b="1" dirty="0">
                <a:solidFill>
                  <a:srgbClr val="1E1E1E"/>
                </a:solidFill>
                <a:latin typeface="Arial"/>
              </a:rPr>
              <a:t>Orthogonal Distraction State</a:t>
            </a:r>
            <a:r>
              <a:rPr sz="1800" dirty="0">
                <a:solidFill>
                  <a:srgbClr val="1E1E1E"/>
                </a:solidFill>
                <a:latin typeface="Arial"/>
              </a:rPr>
              <a:t>: Actively triggered if Pose Standard Deviation </a:t>
            </a:r>
            <a:r>
              <a:rPr sz="1800" dirty="0" err="1">
                <a:solidFill>
                  <a:srgbClr val="1E1E1E"/>
                </a:solidFill>
                <a:latin typeface="Arial"/>
              </a:rPr>
              <a:t>σ_pose</a:t>
            </a:r>
            <a:r>
              <a:rPr sz="1800" dirty="0">
                <a:solidFill>
                  <a:srgbClr val="1E1E1E"/>
                </a:solidFill>
                <a:latin typeface="Arial"/>
              </a:rPr>
              <a:t> &gt; 20° or gaze deviates, prompting immediate dashboard 'Focus' warnings.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C3B6E"/>
          </a:solidFill>
          <a:ln>
            <a:solidFill>
              <a:srgbClr val="0C3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5. Computational Optimization for CPU Deployment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C3673"/>
          </a:solidFill>
          <a:ln>
            <a:solidFill>
              <a:srgbClr val="1C3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6539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S.-W. Chang (TTU)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6565392"/>
            <a:ext cx="57908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Attention-Based Multi-Modal Driver Monitoring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91295" y="6565392"/>
            <a:ext cx="274320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FFFFFF"/>
                </a:solidFill>
                <a:latin typeface="Arial"/>
              </a:defRPr>
            </a:pPr>
            <a:r>
              <a:rPr dirty="0"/>
              <a:t>15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72200"/>
            <a:ext cx="112772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787878"/>
                </a:solidFill>
                <a:latin typeface="Arial"/>
              </a:defRPr>
            </a:pPr>
            <a:r>
              <a:t>[19] C. Lugaresi et al., "MediaPipe: A Framework for Building Perception Pipelines," arXiv:1906.08172, 2019.   [21] M. Abadi et al., "TensorFlow: A system for large-scale machine learning," in Proc. OSDI, 2016.   [23] J. Doe et al., "ME-rPPG: Memory-Efficient Remote Photoplethysmography," IEEE Trans. Multimedia, 2025.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11277295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800" b="1" dirty="0">
                <a:solidFill>
                  <a:srgbClr val="0C3B6E"/>
                </a:solidFill>
                <a:latin typeface="Arial"/>
              </a:rPr>
              <a:t>▶  </a:t>
            </a:r>
            <a:r>
              <a:rPr sz="1800" b="1" dirty="0">
                <a:solidFill>
                  <a:srgbClr val="1E1E1E"/>
                </a:solidFill>
                <a:latin typeface="Arial"/>
              </a:rPr>
              <a:t>Asynchronous Multi-Threading</a:t>
            </a:r>
            <a:r>
              <a:rPr sz="1800" dirty="0">
                <a:solidFill>
                  <a:srgbClr val="1E1E1E"/>
                </a:solidFill>
                <a:latin typeface="Arial"/>
              </a:rPr>
              <a:t>: Offloads heavy model inferences (1D-CNNs, MHA-</a:t>
            </a:r>
            <a:r>
              <a:rPr sz="1800" dirty="0" err="1">
                <a:solidFill>
                  <a:srgbClr val="1E1E1E"/>
                </a:solidFill>
                <a:latin typeface="Arial"/>
              </a:rPr>
              <a:t>BiLSTM</a:t>
            </a:r>
            <a:r>
              <a:rPr sz="1800" dirty="0">
                <a:solidFill>
                  <a:srgbClr val="1E1E1E"/>
                </a:solidFill>
                <a:latin typeface="Arial"/>
              </a:rPr>
              <a:t>) to a dedicated `</a:t>
            </a:r>
            <a:r>
              <a:rPr sz="1800" dirty="0" err="1">
                <a:solidFill>
                  <a:srgbClr val="1E1E1E"/>
                </a:solidFill>
                <a:latin typeface="Arial"/>
              </a:rPr>
              <a:t>AIBackgroundWorker</a:t>
            </a:r>
            <a:r>
              <a:rPr sz="1800" dirty="0">
                <a:solidFill>
                  <a:srgbClr val="1E1E1E"/>
                </a:solidFill>
                <a:latin typeface="Arial"/>
              </a:rPr>
              <a:t>` thread, preventing frame drops in the camera loop.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800" b="1" dirty="0">
                <a:solidFill>
                  <a:srgbClr val="0C3B6E"/>
                </a:solidFill>
                <a:latin typeface="Arial"/>
              </a:rPr>
              <a:t>▶  </a:t>
            </a:r>
            <a:r>
              <a:rPr sz="1800" b="1" dirty="0">
                <a:solidFill>
                  <a:srgbClr val="1E1E1E"/>
                </a:solidFill>
                <a:latin typeface="Arial"/>
              </a:rPr>
              <a:t>Modular State Management</a:t>
            </a:r>
            <a:r>
              <a:rPr sz="1800" dirty="0">
                <a:solidFill>
                  <a:srgbClr val="1E1E1E"/>
                </a:solidFill>
                <a:latin typeface="Arial"/>
              </a:rPr>
              <a:t>: Streamlined `</a:t>
            </a:r>
            <a:r>
              <a:rPr sz="1800" dirty="0" err="1">
                <a:solidFill>
                  <a:srgbClr val="1E1E1E"/>
                </a:solidFill>
                <a:latin typeface="Arial"/>
              </a:rPr>
              <a:t>SystemCalibrator</a:t>
            </a:r>
            <a:r>
              <a:rPr sz="1800" dirty="0">
                <a:solidFill>
                  <a:srgbClr val="1E1E1E"/>
                </a:solidFill>
                <a:latin typeface="Arial"/>
              </a:rPr>
              <a:t>` and `</a:t>
            </a:r>
            <a:r>
              <a:rPr sz="1800" dirty="0" err="1">
                <a:solidFill>
                  <a:srgbClr val="1E1E1E"/>
                </a:solidFill>
                <a:latin typeface="Arial"/>
              </a:rPr>
              <a:t>SignalProcessor</a:t>
            </a:r>
            <a:r>
              <a:rPr sz="1800" dirty="0">
                <a:solidFill>
                  <a:srgbClr val="1E1E1E"/>
                </a:solidFill>
                <a:latin typeface="Arial"/>
              </a:rPr>
              <a:t>` minimize dynamic buffer allocation overhead.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800" b="1" dirty="0">
                <a:solidFill>
                  <a:srgbClr val="0C3B6E"/>
                </a:solidFill>
                <a:latin typeface="Arial"/>
              </a:rPr>
              <a:t>▶  </a:t>
            </a:r>
            <a:r>
              <a:rPr sz="1800" b="1" dirty="0">
                <a:solidFill>
                  <a:srgbClr val="1E1E1E"/>
                </a:solidFill>
                <a:latin typeface="Arial"/>
              </a:rPr>
              <a:t>Feature Pruning</a:t>
            </a:r>
            <a:r>
              <a:rPr sz="1800" dirty="0">
                <a:solidFill>
                  <a:srgbClr val="1E1E1E"/>
                </a:solidFill>
                <a:latin typeface="Arial"/>
              </a:rPr>
              <a:t>: </a:t>
            </a:r>
            <a:r>
              <a:rPr sz="1800" dirty="0" err="1">
                <a:solidFill>
                  <a:srgbClr val="1E1E1E"/>
                </a:solidFill>
                <a:latin typeface="Arial"/>
              </a:rPr>
              <a:t>MediaPipe</a:t>
            </a:r>
            <a:r>
              <a:rPr sz="1800" dirty="0">
                <a:solidFill>
                  <a:srgbClr val="1E1E1E"/>
                </a:solidFill>
                <a:latin typeface="Arial"/>
              </a:rPr>
              <a:t> Face Mesh landmark tracking is restricted to eyes, lips, and ROI coordinates, minimizing the processing footprint.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114800"/>
            <a:ext cx="11277295" cy="1828800"/>
          </a:xfrm>
          <a:prstGeom prst="rect">
            <a:avLst/>
          </a:prstGeom>
          <a:solidFill>
            <a:srgbClr val="FFF9F0"/>
          </a:solidFill>
          <a:ln w="19050">
            <a:solidFill>
              <a:srgbClr val="D953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4114800"/>
            <a:ext cx="11277295" cy="411480"/>
          </a:xfrm>
          <a:prstGeom prst="rect">
            <a:avLst/>
          </a:prstGeom>
          <a:solidFill>
            <a:srgbClr val="D95319"/>
          </a:solidFill>
          <a:ln>
            <a:solidFill>
              <a:srgbClr val="D953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4160520"/>
            <a:ext cx="1100297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Edge Performance Summary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617720"/>
            <a:ext cx="11002975" cy="1234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1E1E1E"/>
                </a:solidFill>
                <a:latin typeface="Arial"/>
              </a:rPr>
              <a:t>By optimizing the data interface (7 features) and executing modular processing, the end-to-end latency is restricted to </a:t>
            </a:r>
            <a:r>
              <a:rPr sz="1300" b="1">
                <a:solidFill>
                  <a:srgbClr val="1E1E1E"/>
                </a:solidFill>
                <a:latin typeface="Arial"/>
              </a:rPr>
              <a:t>31.2 ms per frame</a:t>
            </a:r>
            <a:r>
              <a:rPr sz="1300">
                <a:solidFill>
                  <a:srgbClr val="1E1E1E"/>
                </a:solidFill>
                <a:latin typeface="Arial"/>
              </a:rPr>
              <a:t>. This guarantees a stable </a:t>
            </a:r>
            <a:r>
              <a:rPr sz="1300" b="1">
                <a:solidFill>
                  <a:srgbClr val="1E1E1E"/>
                </a:solidFill>
                <a:latin typeface="Arial"/>
              </a:rPr>
              <a:t>30 FPS execution on standard edge CPUs</a:t>
            </a:r>
            <a:r>
              <a:rPr sz="1300">
                <a:solidFill>
                  <a:srgbClr val="1E1E1E"/>
                </a:solidFill>
                <a:latin typeface="Arial"/>
              </a:rPr>
              <a:t> (tested on Intel Core i7), making it highly portable for mass-market vehicle infotainment systems.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-45720"/>
            <a:ext cx="12191695" cy="822960"/>
          </a:xfrm>
          <a:prstGeom prst="rect">
            <a:avLst/>
          </a:prstGeom>
          <a:solidFill>
            <a:srgbClr val="0C3B6E"/>
          </a:solidFill>
          <a:ln>
            <a:solidFill>
              <a:srgbClr val="0C3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rPr dirty="0"/>
              <a:t>6. Experimental Setup and Evaluation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C3673"/>
          </a:solidFill>
          <a:ln>
            <a:solidFill>
              <a:srgbClr val="1C3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6539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S.-W. Chang (TTU)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6565392"/>
            <a:ext cx="57908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Attention-Based Multi-Modal Driver Monitoring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91295" y="6565392"/>
            <a:ext cx="274320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FFFFFF"/>
                </a:solidFill>
                <a:latin typeface="Arial"/>
              </a:defRPr>
            </a:pPr>
            <a:r>
              <a:rPr dirty="0"/>
              <a:t>  16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1421" y="6291016"/>
            <a:ext cx="112772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787878"/>
                </a:solidFill>
                <a:latin typeface="Arial"/>
              </a:defRPr>
            </a:pPr>
            <a:r>
              <a:rPr dirty="0"/>
              <a:t>[24] Y. </a:t>
            </a:r>
            <a:r>
              <a:rPr dirty="0" err="1"/>
              <a:t>Benezeth</a:t>
            </a:r>
            <a:r>
              <a:rPr dirty="0"/>
              <a:t> et al., "UBFC-RPPG: A dataset for remote photoplethysmography," in Proc. </a:t>
            </a:r>
            <a:r>
              <a:rPr dirty="0" err="1"/>
              <a:t>FedCSIS</a:t>
            </a:r>
            <a:r>
              <a:rPr dirty="0"/>
              <a:t>, 2017.   [25] C. Weng et al., "Driver Drowsiness Detection via Learnable Deep Landmarks," IEEE Access, 2016.   [26] D. Powers, "Evaluation: From Precision, Recall and F-Measure to ROC," J. Mach. Learn. Technol., 2011.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13932"/>
            <a:ext cx="11277295" cy="53545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800" b="1" dirty="0">
                <a:solidFill>
                  <a:srgbClr val="0C3B6E"/>
                </a:solidFill>
                <a:latin typeface="Arial"/>
              </a:rPr>
              <a:t>▶  </a:t>
            </a:r>
            <a:r>
              <a:rPr sz="1800" b="1" dirty="0">
                <a:solidFill>
                  <a:srgbClr val="1E1E1E"/>
                </a:solidFill>
                <a:latin typeface="Arial"/>
              </a:rPr>
              <a:t>Evaluation Workstation</a:t>
            </a:r>
            <a:r>
              <a:rPr sz="1800" dirty="0">
                <a:solidFill>
                  <a:srgbClr val="1E1E1E"/>
                </a:solidFill>
                <a:latin typeface="Arial"/>
              </a:rPr>
              <a:t>: Intel Core i7-13620H CPU (2.40 GHz), 16 GB DDR5 RAM, Python 3.9, TensorFlow, and OpenCV.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800" b="1" dirty="0">
                <a:solidFill>
                  <a:srgbClr val="0C3B6E"/>
                </a:solidFill>
                <a:latin typeface="Arial"/>
              </a:rPr>
              <a:t>▶  </a:t>
            </a:r>
            <a:r>
              <a:rPr sz="1800" b="1" dirty="0">
                <a:solidFill>
                  <a:srgbClr val="1E1E1E"/>
                </a:solidFill>
                <a:latin typeface="Arial"/>
              </a:rPr>
              <a:t>Empirical Validation Datasets</a:t>
            </a:r>
            <a:r>
              <a:rPr sz="1800" dirty="0">
                <a:solidFill>
                  <a:srgbClr val="1E1E1E"/>
                </a:solidFill>
                <a:latin typeface="Arial"/>
              </a:rPr>
              <a:t>: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endParaRPr lang="en-US" sz="1500" b="1" dirty="0">
              <a:solidFill>
                <a:srgbClr val="D95319"/>
              </a:solidFill>
              <a:latin typeface="Arial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endParaRPr lang="en-US" sz="1500" dirty="0">
              <a:solidFill>
                <a:srgbClr val="505050"/>
              </a:solidFill>
              <a:latin typeface="Arial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endParaRPr lang="en-US" sz="1500" dirty="0">
              <a:solidFill>
                <a:srgbClr val="505050"/>
              </a:solidFill>
              <a:latin typeface="Arial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endParaRPr lang="en-US" sz="1500" dirty="0">
              <a:solidFill>
                <a:srgbClr val="505050"/>
              </a:solidFill>
              <a:latin typeface="Arial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endParaRPr lang="en-US" sz="1500" dirty="0">
              <a:solidFill>
                <a:srgbClr val="505050"/>
              </a:solidFill>
              <a:latin typeface="Arial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endParaRPr lang="en-US" sz="1500" dirty="0">
              <a:solidFill>
                <a:srgbClr val="505050"/>
              </a:solidFill>
              <a:latin typeface="Arial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endParaRPr lang="en-US" sz="1500" dirty="0">
              <a:solidFill>
                <a:srgbClr val="505050"/>
              </a:solidFill>
              <a:latin typeface="Arial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endParaRPr lang="en-US" sz="1500" dirty="0">
              <a:solidFill>
                <a:srgbClr val="505050"/>
              </a:solidFill>
              <a:latin typeface="Arial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endParaRPr sz="1500" dirty="0">
              <a:solidFill>
                <a:srgbClr val="505050"/>
              </a:solidFill>
              <a:latin typeface="Arial"/>
            </a:endParaRP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800" b="1" dirty="0">
                <a:solidFill>
                  <a:srgbClr val="0C3B6E"/>
                </a:solidFill>
                <a:latin typeface="Arial"/>
              </a:rPr>
              <a:t>▶  </a:t>
            </a:r>
            <a:r>
              <a:rPr sz="1800" b="1" dirty="0">
                <a:solidFill>
                  <a:srgbClr val="1E1E1E"/>
                </a:solidFill>
                <a:latin typeface="Arial"/>
              </a:rPr>
              <a:t>Class Distribution &amp; Class Balancing</a:t>
            </a:r>
            <a:r>
              <a:rPr sz="1800" dirty="0">
                <a:solidFill>
                  <a:srgbClr val="1E1E1E"/>
                </a:solidFill>
                <a:latin typeface="Arial"/>
              </a:rPr>
              <a:t>: Database contains </a:t>
            </a:r>
            <a:r>
              <a:rPr sz="1800" b="1" dirty="0">
                <a:solidFill>
                  <a:srgbClr val="1E1E1E"/>
                </a:solidFill>
                <a:latin typeface="Arial"/>
              </a:rPr>
              <a:t>54.5% Alert, 29.9% Drowsy, 15.6% Distracted</a:t>
            </a:r>
            <a:r>
              <a:rPr sz="1800" dirty="0">
                <a:solidFill>
                  <a:srgbClr val="1E1E1E"/>
                </a:solidFill>
                <a:latin typeface="Arial"/>
              </a:rPr>
              <a:t>. Weighted Cross-Entropy Loss utilized during training to penalize missed fatigue events, maximizing recall.</a:t>
            </a:r>
          </a:p>
        </p:txBody>
      </p:sp>
      <p:pic>
        <p:nvPicPr>
          <p:cNvPr id="10" name="Picture 9" descr="Different driving scenarios of NTHU dataset [32]. | Download Scientific  Diagram">
            <a:extLst>
              <a:ext uri="{FF2B5EF4-FFF2-40B4-BE49-F238E27FC236}">
                <a16:creationId xmlns:a16="http://schemas.microsoft.com/office/drawing/2014/main" id="{60C7205C-2277-8EC3-93E0-806F0B41D2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8156" y="2111467"/>
            <a:ext cx="4135659" cy="2710768"/>
          </a:xfrm>
          <a:prstGeom prst="rect">
            <a:avLst/>
          </a:prstGeom>
        </p:spPr>
      </p:pic>
      <p:pic>
        <p:nvPicPr>
          <p:cNvPr id="11" name="Picture 10" descr="Experimental Setup (top) and sample images from the UBFC-RPPG database... |  Download Scientific Diagram">
            <a:extLst>
              <a:ext uri="{FF2B5EF4-FFF2-40B4-BE49-F238E27FC236}">
                <a16:creationId xmlns:a16="http://schemas.microsoft.com/office/drawing/2014/main" id="{31678281-8A36-90E6-9A1B-23ECCFA825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5184" y="1999739"/>
            <a:ext cx="3047298" cy="290748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454BCD8-7879-4F9F-915F-04DE127406A3}"/>
              </a:ext>
            </a:extLst>
          </p:cNvPr>
          <p:cNvSpPr txBox="1"/>
          <p:nvPr/>
        </p:nvSpPr>
        <p:spPr>
          <a:xfrm>
            <a:off x="1828800" y="4908184"/>
            <a:ext cx="24416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505050"/>
                </a:solidFill>
                <a:latin typeface="Arial"/>
              </a:rPr>
              <a:t>UBFC-</a:t>
            </a:r>
            <a:r>
              <a:rPr lang="en-US" b="1" dirty="0" err="1">
                <a:solidFill>
                  <a:srgbClr val="505050"/>
                </a:solidFill>
                <a:latin typeface="Arial"/>
              </a:rPr>
              <a:t>rPPG</a:t>
            </a:r>
            <a:r>
              <a:rPr lang="en-US" b="1" dirty="0">
                <a:solidFill>
                  <a:srgbClr val="505050"/>
                </a:solidFill>
                <a:latin typeface="Arial"/>
              </a:rPr>
              <a:t> Dataset</a:t>
            </a:r>
            <a:r>
              <a:rPr lang="en-US" dirty="0">
                <a:solidFill>
                  <a:srgbClr val="505050"/>
                </a:solidFill>
                <a:latin typeface="Arial"/>
              </a:rPr>
              <a:t>:</a:t>
            </a:r>
          </a:p>
          <a:p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5B2D58D-C892-1E68-FFEB-D3B3D4CA957D}"/>
              </a:ext>
            </a:extLst>
          </p:cNvPr>
          <p:cNvSpPr txBox="1"/>
          <p:nvPr/>
        </p:nvSpPr>
        <p:spPr>
          <a:xfrm>
            <a:off x="7589519" y="4845556"/>
            <a:ext cx="242887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D95319"/>
                </a:solidFill>
                <a:latin typeface="Arial"/>
              </a:rPr>
              <a:t> </a:t>
            </a:r>
            <a:r>
              <a:rPr lang="en-US" b="1" dirty="0">
                <a:solidFill>
                  <a:srgbClr val="505050"/>
                </a:solidFill>
                <a:latin typeface="Arial"/>
              </a:rPr>
              <a:t>NTHU-DDD Dataset</a:t>
            </a:r>
            <a:r>
              <a:rPr lang="en-US" dirty="0">
                <a:solidFill>
                  <a:srgbClr val="505050"/>
                </a:solidFill>
                <a:latin typeface="Arial"/>
              </a:rPr>
              <a:t>:</a:t>
            </a:r>
          </a:p>
          <a:p>
            <a:endParaRPr lang="en-US" dirty="0">
              <a:solidFill>
                <a:srgbClr val="505050"/>
              </a:solidFill>
              <a:latin typeface="Arial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" y="0"/>
            <a:ext cx="12191695" cy="822960"/>
          </a:xfrm>
          <a:prstGeom prst="rect">
            <a:avLst/>
          </a:prstGeom>
          <a:solidFill>
            <a:srgbClr val="0C3B6E"/>
          </a:solidFill>
          <a:ln>
            <a:solidFill>
              <a:srgbClr val="0C3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92024"/>
            <a:ext cx="1127729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rPr dirty="0"/>
              <a:t>6. Experimental Results: Ablation Study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C3673"/>
          </a:solidFill>
          <a:ln>
            <a:solidFill>
              <a:srgbClr val="1C3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6539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S.-W. Chang (TTU)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6565392"/>
            <a:ext cx="57908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Attention-Based Multi-Modal Driver Monitoring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91295" y="6565392"/>
            <a:ext cx="274320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FFFFFF"/>
                </a:solidFill>
                <a:latin typeface="Arial"/>
              </a:defRPr>
            </a:pPr>
            <a:r>
              <a:rPr dirty="0"/>
              <a:t>  17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72200"/>
            <a:ext cx="112772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787878"/>
                </a:solidFill>
                <a:latin typeface="Arial"/>
              </a:defRPr>
            </a:pPr>
            <a:r>
              <a:t>[9] J. Kim, "Sustainable Real-Time Gaze Monitoring with YOLOX-based Attention," Exp. Syst. Appl., 2025.   [14] A. Vaswani et al., "Attention is all you need," in Proc. NIPS, 2017.   [26] D. Powers, "Evaluation: From Precision, Recall and F-Measure to ROC," J. Mach. Learn. Technol., 2011.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188720"/>
          <a:ext cx="1127729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904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Configuration</a:t>
                      </a:r>
                    </a:p>
                  </a:txBody>
                  <a:tcPr>
                    <a:solidFill>
                      <a:srgbClr val="0C3B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Features</a:t>
                      </a:r>
                    </a:p>
                  </a:txBody>
                  <a:tcPr>
                    <a:solidFill>
                      <a:srgbClr val="0C3B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Validation MAE</a:t>
                      </a:r>
                    </a:p>
                  </a:txBody>
                  <a:tcPr>
                    <a:solidFill>
                      <a:srgbClr val="0C3B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Relative Improvement</a:t>
                      </a:r>
                    </a:p>
                  </a:txBody>
                  <a:tcPr>
                    <a:solidFill>
                      <a:srgbClr val="0C3B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Baseline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Behavioral Only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0.1450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Phase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Behavioral + rPPG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0.0821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43%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Phase 2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 + HRV Delta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0.0410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72%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Final (v3)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 + MHA Architecture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D95319"/>
                          </a:solidFill>
                          <a:latin typeface="Arial"/>
                        </a:defRPr>
                      </a:pPr>
                      <a:r>
                        <a:t>0.0332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D95319"/>
                          </a:solidFill>
                          <a:latin typeface="Arial"/>
                        </a:defRPr>
                      </a:pPr>
                      <a:r>
                        <a:t>77%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3474720"/>
            <a:ext cx="11277295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800" b="1">
                <a:solidFill>
                  <a:srgbClr val="0C3B6E"/>
                </a:solidFill>
                <a:latin typeface="Arial"/>
              </a:rPr>
              <a:t>▶  </a:t>
            </a:r>
            <a:r>
              <a:rPr sz="1800" b="1">
                <a:solidFill>
                  <a:srgbClr val="1E1E1E"/>
                </a:solidFill>
                <a:latin typeface="Arial"/>
              </a:rPr>
              <a:t>Modality Fusion Advantage</a:t>
            </a:r>
            <a:r>
              <a:rPr sz="1800">
                <a:solidFill>
                  <a:srgbClr val="1E1E1E"/>
                </a:solidFill>
                <a:latin typeface="Arial"/>
              </a:rPr>
              <a:t>: Fusing physiological signals reduces validation error by </a:t>
            </a:r>
            <a:r>
              <a:rPr sz="1800" b="1">
                <a:solidFill>
                  <a:srgbClr val="1E1E1E"/>
                </a:solidFill>
                <a:latin typeface="Arial"/>
              </a:rPr>
              <a:t>77%</a:t>
            </a:r>
            <a:r>
              <a:rPr sz="1800">
                <a:solidFill>
                  <a:srgbClr val="1E1E1E"/>
                </a:solidFill>
                <a:latin typeface="Arial"/>
              </a:rPr>
              <a:t> over behavioral-only baselines (Validation MAE drops from 0.1450 to 0.0332).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800" b="1">
                <a:solidFill>
                  <a:srgbClr val="0C3B6E"/>
                </a:solidFill>
                <a:latin typeface="Arial"/>
              </a:rPr>
              <a:t>▶  </a:t>
            </a:r>
            <a:r>
              <a:rPr sz="1800" b="1">
                <a:solidFill>
                  <a:srgbClr val="1E1E1E"/>
                </a:solidFill>
                <a:latin typeface="Arial"/>
              </a:rPr>
              <a:t>Predictive Impact of HRV Delta</a:t>
            </a:r>
            <a:r>
              <a:rPr sz="1800">
                <a:solidFill>
                  <a:srgbClr val="1E1E1E"/>
                </a:solidFill>
                <a:latin typeface="Arial"/>
              </a:rPr>
              <a:t>: The addition of HRV Delta in Phase 2 yielded the largest single performance leap (</a:t>
            </a:r>
            <a:r>
              <a:rPr sz="1800" b="1">
                <a:solidFill>
                  <a:srgbClr val="1E1E1E"/>
                </a:solidFill>
                <a:latin typeface="Arial"/>
              </a:rPr>
              <a:t>51% relative error reduction</a:t>
            </a:r>
            <a:r>
              <a:rPr sz="1800">
                <a:solidFill>
                  <a:srgbClr val="1E1E1E"/>
                </a:solidFill>
                <a:latin typeface="Arial"/>
              </a:rPr>
              <a:t> from 0.0821 to 0.0410), validating that physiological trends are critical.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C3B6E"/>
          </a:solidFill>
          <a:ln>
            <a:solidFill>
              <a:srgbClr val="0C3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6. Experimental Results: SOTA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C3673"/>
          </a:solidFill>
          <a:ln>
            <a:solidFill>
              <a:srgbClr val="1C3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6539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S.-W. Chang (TTU)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6565392"/>
            <a:ext cx="57908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Attention-Based Multi-Modal Driver Monitoring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91295" y="6565392"/>
            <a:ext cx="274320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FFFFFF"/>
                </a:solidFill>
                <a:latin typeface="Arial"/>
              </a:defRPr>
            </a:pPr>
            <a:r>
              <a:rPr dirty="0"/>
              <a:t> 18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72200"/>
            <a:ext cx="112772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787878"/>
                </a:solidFill>
                <a:latin typeface="Arial"/>
              </a:defRPr>
            </a:pPr>
            <a:r>
              <a:t>[12] L. Kong et al., "RPPMT-CNN-BiLSTM: A Multi-modal Fusion Framework for Fatigue Detection," Electronics, 2024.   [26] D. Powers, "Evaluation: From Precision, Recall and F-Measure to ROC," J. Mach. Learn. Technol., 2011.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188720"/>
          <a:ext cx="11277295" cy="1432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32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Research Work</a:t>
                      </a:r>
                    </a:p>
                  </a:txBody>
                  <a:tcPr>
                    <a:solidFill>
                      <a:srgbClr val="0C3B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Methodology</a:t>
                      </a:r>
                    </a:p>
                  </a:txBody>
                  <a:tcPr>
                    <a:solidFill>
                      <a:srgbClr val="0C3B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Performance Target</a:t>
                      </a:r>
                    </a:p>
                  </a:txBody>
                  <a:tcPr>
                    <a:solidFill>
                      <a:srgbClr val="0C3B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Hardware Efficiency</a:t>
                      </a:r>
                    </a:p>
                  </a:txBody>
                  <a:tcPr>
                    <a:solidFill>
                      <a:srgbClr val="0C3B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Kong et al. (2024) [12]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CNN-BiLSTM (Behavioral + HR)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MAE ~0.045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GPU Required (Deep CNNs)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Proposed Work (v3)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MHA-BiLSTM (Behavioral + 7f Physiological)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D95319"/>
                          </a:solidFill>
                          <a:latin typeface="Arial"/>
                        </a:defRPr>
                      </a:pPr>
                      <a:r>
                        <a:t>MAE 0.0332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D95319"/>
                          </a:solidFill>
                          <a:latin typeface="Arial"/>
                        </a:defRPr>
                      </a:pPr>
                      <a:r>
                        <a:t>30 FPS on Standard CPU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2926080"/>
            <a:ext cx="11277295" cy="2131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800" b="1" dirty="0">
                <a:solidFill>
                  <a:srgbClr val="0C3B6E"/>
                </a:solidFill>
                <a:latin typeface="Arial"/>
              </a:rPr>
              <a:t>▶  </a:t>
            </a:r>
            <a:r>
              <a:rPr sz="1800" b="1" dirty="0">
                <a:solidFill>
                  <a:srgbClr val="1E1E1E"/>
                </a:solidFill>
                <a:latin typeface="Arial"/>
              </a:rPr>
              <a:t>Standard Information Retrieval Metrics</a:t>
            </a:r>
            <a:r>
              <a:rPr sz="1800" dirty="0">
                <a:solidFill>
                  <a:srgbClr val="1E1E1E"/>
                </a:solidFill>
                <a:latin typeface="Arial"/>
              </a:rPr>
              <a:t>: Measured using Powers (2011) criteria [26]: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 b="1" dirty="0">
                <a:solidFill>
                  <a:srgbClr val="D95319"/>
                </a:solidFill>
                <a:latin typeface="Arial"/>
              </a:rPr>
              <a:t>▷  </a:t>
            </a:r>
            <a:r>
              <a:rPr sz="1500" b="1" dirty="0">
                <a:solidFill>
                  <a:srgbClr val="505050"/>
                </a:solidFill>
                <a:latin typeface="Arial"/>
              </a:rPr>
              <a:t>Accuracy</a:t>
            </a:r>
            <a:r>
              <a:rPr sz="1500" dirty="0">
                <a:solidFill>
                  <a:srgbClr val="505050"/>
                </a:solidFill>
                <a:latin typeface="Arial"/>
              </a:rPr>
              <a:t>: </a:t>
            </a:r>
            <a:r>
              <a:rPr sz="1500" b="1" dirty="0">
                <a:solidFill>
                  <a:srgbClr val="505050"/>
                </a:solidFill>
                <a:latin typeface="Arial"/>
              </a:rPr>
              <a:t>70.53%</a:t>
            </a:r>
            <a:r>
              <a:rPr sz="1500" dirty="0">
                <a:solidFill>
                  <a:srgbClr val="505050"/>
                </a:solidFill>
                <a:latin typeface="Arial"/>
              </a:rPr>
              <a:t>  |  </a:t>
            </a:r>
            <a:r>
              <a:rPr sz="1500" b="1" dirty="0">
                <a:solidFill>
                  <a:srgbClr val="505050"/>
                </a:solidFill>
                <a:latin typeface="Arial"/>
              </a:rPr>
              <a:t>Precision</a:t>
            </a:r>
            <a:r>
              <a:rPr sz="1500" dirty="0">
                <a:solidFill>
                  <a:srgbClr val="505050"/>
                </a:solidFill>
                <a:latin typeface="Arial"/>
              </a:rPr>
              <a:t>: </a:t>
            </a:r>
            <a:r>
              <a:rPr sz="1500" b="1" dirty="0">
                <a:solidFill>
                  <a:srgbClr val="505050"/>
                </a:solidFill>
                <a:latin typeface="Arial"/>
              </a:rPr>
              <a:t>70.63%</a:t>
            </a:r>
            <a:r>
              <a:rPr sz="1500" dirty="0">
                <a:solidFill>
                  <a:srgbClr val="505050"/>
                </a:solidFill>
                <a:latin typeface="Arial"/>
              </a:rPr>
              <a:t>  |  </a:t>
            </a:r>
            <a:r>
              <a:rPr sz="1500" b="1" dirty="0">
                <a:solidFill>
                  <a:srgbClr val="505050"/>
                </a:solidFill>
                <a:latin typeface="Arial"/>
              </a:rPr>
              <a:t>F1-Score</a:t>
            </a:r>
            <a:r>
              <a:rPr sz="1500" dirty="0">
                <a:solidFill>
                  <a:srgbClr val="505050"/>
                </a:solidFill>
                <a:latin typeface="Arial"/>
              </a:rPr>
              <a:t>: </a:t>
            </a:r>
            <a:r>
              <a:rPr sz="1500" b="1" dirty="0">
                <a:solidFill>
                  <a:srgbClr val="505050"/>
                </a:solidFill>
                <a:latin typeface="Arial"/>
              </a:rPr>
              <a:t>0.8271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 b="1" dirty="0">
                <a:solidFill>
                  <a:srgbClr val="D95319"/>
                </a:solidFill>
                <a:latin typeface="Arial"/>
              </a:rPr>
              <a:t>▷  </a:t>
            </a:r>
            <a:r>
              <a:rPr sz="1500" b="1" dirty="0">
                <a:solidFill>
                  <a:srgbClr val="505050"/>
                </a:solidFill>
                <a:latin typeface="Arial"/>
              </a:rPr>
              <a:t>Recall</a:t>
            </a:r>
            <a:r>
              <a:rPr sz="1500" dirty="0">
                <a:solidFill>
                  <a:srgbClr val="505050"/>
                </a:solidFill>
                <a:latin typeface="Arial"/>
              </a:rPr>
              <a:t>: </a:t>
            </a:r>
            <a:r>
              <a:rPr sz="1500" b="1" dirty="0">
                <a:solidFill>
                  <a:srgbClr val="505050"/>
                </a:solidFill>
                <a:latin typeface="Arial"/>
              </a:rPr>
              <a:t>99.78</a:t>
            </a:r>
            <a:endParaRPr lang="en-US" sz="1500" b="1" dirty="0">
              <a:solidFill>
                <a:srgbClr val="505050"/>
              </a:solidFill>
              <a:latin typeface="Arial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endParaRPr lang="en-US" sz="1500" b="1" dirty="0">
              <a:solidFill>
                <a:srgbClr val="505050"/>
              </a:solidFill>
              <a:latin typeface="Arial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b="1" dirty="0">
                <a:solidFill>
                  <a:srgbClr val="0C3B6E"/>
                </a:solidFill>
                <a:latin typeface="Arial"/>
              </a:rPr>
              <a:t>▶  </a:t>
            </a:r>
            <a:r>
              <a:rPr sz="1800" b="1" dirty="0">
                <a:solidFill>
                  <a:srgbClr val="1E1E1E"/>
                </a:solidFill>
                <a:latin typeface="Arial"/>
              </a:rPr>
              <a:t>Architectural Portability</a:t>
            </a:r>
            <a:r>
              <a:rPr sz="1800" dirty="0">
                <a:solidFill>
                  <a:srgbClr val="1E1E1E"/>
                </a:solidFill>
                <a:latin typeface="Arial"/>
              </a:rPr>
              <a:t>: Achieves superior precision compared to Kong et al. while eliminating GPU dependency, enabling direct integration into low-cost production vehicle hardware.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C3B6E"/>
          </a:solidFill>
          <a:ln>
            <a:solidFill>
              <a:srgbClr val="0C3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6. Explainable AI: Attention Heatmaps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C3673"/>
          </a:solidFill>
          <a:ln>
            <a:solidFill>
              <a:srgbClr val="1C3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6539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S.-W. Chang (TTU)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6565392"/>
            <a:ext cx="57908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Attention-Based Multi-Modal Driver Monitoring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91295" y="6565392"/>
            <a:ext cx="274320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FFFFFF"/>
                </a:solidFill>
                <a:latin typeface="Arial"/>
              </a:defRPr>
            </a:pPr>
            <a:r>
              <a:rPr dirty="0"/>
              <a:t>19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72200"/>
            <a:ext cx="112772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787878"/>
                </a:solidFill>
                <a:latin typeface="Arial"/>
              </a:defRPr>
            </a:pPr>
            <a:r>
              <a:t>[14] A. Vaswani et al., "Attention is all you need," in Proc. NIPS, 2017.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11277295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800" b="1">
                <a:solidFill>
                  <a:srgbClr val="0C3B6E"/>
                </a:solidFill>
                <a:latin typeface="Arial"/>
              </a:rPr>
              <a:t>▶  </a:t>
            </a:r>
            <a:r>
              <a:rPr sz="1800" b="1">
                <a:solidFill>
                  <a:srgbClr val="1E1E1E"/>
                </a:solidFill>
                <a:latin typeface="Arial"/>
              </a:rPr>
              <a:t>Softmax-Normalized Attention Weights</a:t>
            </a:r>
            <a:r>
              <a:rPr sz="1800">
                <a:solidFill>
                  <a:srgbClr val="1E1E1E"/>
                </a:solidFill>
                <a:latin typeface="Arial"/>
              </a:rPr>
              <a:t>: Mean attention weights from the 4 heads project modality focus: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 b="1">
                <a:solidFill>
                  <a:srgbClr val="D95319"/>
                </a:solidFill>
                <a:latin typeface="Arial"/>
              </a:rPr>
              <a:t>▷  </a:t>
            </a:r>
            <a:r>
              <a:rPr sz="1500">
                <a:solidFill>
                  <a:srgbClr val="505050"/>
                </a:solidFill>
                <a:latin typeface="Arial"/>
              </a:rPr>
              <a:t>The model transitions from stochastic tracking to event-driven focus as fatigue levels increase.</a:t>
            </a:r>
          </a:p>
        </p:txBody>
      </p:sp>
      <p:pic>
        <p:nvPicPr>
          <p:cNvPr id="10" name="Picture 9" descr="imag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377440"/>
            <a:ext cx="3383280" cy="2560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5029200"/>
            <a:ext cx="33832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200"/>
              </a:spcAft>
              <a:defRPr sz="1300" b="1">
                <a:solidFill>
                  <a:srgbClr val="0C3B6E"/>
                </a:solidFill>
                <a:latin typeface="Arial"/>
              </a:defRPr>
            </a:pPr>
            <a:r>
              <a:t>Case 1: Alert State</a:t>
            </a:r>
          </a:p>
          <a:p>
            <a:pPr algn="ctr">
              <a:defRPr sz="1100">
                <a:solidFill>
                  <a:srgbClr val="505050"/>
                </a:solidFill>
                <a:latin typeface="Arial"/>
              </a:defRPr>
            </a:pPr>
            <a:r>
              <a:t>Stochastic distribution; monitors all channels equally.</a:t>
            </a:r>
          </a:p>
        </p:txBody>
      </p:sp>
      <p:pic>
        <p:nvPicPr>
          <p:cNvPr id="12" name="Picture 11" descr="imag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2377440"/>
            <a:ext cx="3383280" cy="25603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389120" y="5029200"/>
            <a:ext cx="33832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200"/>
              </a:spcAft>
              <a:defRPr sz="1300" b="1">
                <a:solidFill>
                  <a:srgbClr val="0C3B6E"/>
                </a:solidFill>
                <a:latin typeface="Arial"/>
              </a:defRPr>
            </a:pPr>
            <a:r>
              <a:t>Case 2: Fatigued State</a:t>
            </a:r>
          </a:p>
          <a:p>
            <a:pPr algn="ctr">
              <a:defRPr sz="1100">
                <a:solidFill>
                  <a:srgbClr val="505050"/>
                </a:solidFill>
                <a:latin typeface="Arial"/>
              </a:defRPr>
            </a:pPr>
            <a:r>
              <a:t>Clustered weights focus on negative HRV Delta slope.</a:t>
            </a:r>
          </a:p>
        </p:txBody>
      </p:sp>
      <p:pic>
        <p:nvPicPr>
          <p:cNvPr id="14" name="Picture 13" descr="image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2377440"/>
            <a:ext cx="3383280" cy="25603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229600" y="5029200"/>
            <a:ext cx="33832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200"/>
              </a:spcAft>
              <a:defRPr sz="1300" b="1">
                <a:solidFill>
                  <a:srgbClr val="0C3B6E"/>
                </a:solidFill>
                <a:latin typeface="Arial"/>
              </a:defRPr>
            </a:pPr>
            <a:r>
              <a:t>Case 3: Critical State</a:t>
            </a:r>
          </a:p>
          <a:p>
            <a:pPr algn="ctr">
              <a:defRPr sz="1100">
                <a:solidFill>
                  <a:srgbClr val="505050"/>
                </a:solidFill>
                <a:latin typeface="Arial"/>
              </a:defRPr>
            </a:pPr>
            <a:r>
              <a:t>Localized 'Impulse' weight matches PERCLOS event.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C3B6E"/>
          </a:solidFill>
          <a:ln>
            <a:solidFill>
              <a:srgbClr val="0C3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6. Explainable AI: Attention Head Specialization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C3673"/>
          </a:solidFill>
          <a:ln>
            <a:solidFill>
              <a:srgbClr val="1C3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457200" y="656539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S.-W. Chang (TTU)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6565392"/>
            <a:ext cx="57908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Attention-Based Multi-Modal Driver Monitoring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91295" y="6565392"/>
            <a:ext cx="274320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FFFFFF"/>
                </a:solidFill>
                <a:latin typeface="Arial"/>
              </a:defRPr>
            </a:pPr>
            <a:r>
              <a:rPr dirty="0"/>
              <a:t> 20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72200"/>
            <a:ext cx="112772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787878"/>
                </a:solidFill>
                <a:latin typeface="Arial"/>
              </a:defRPr>
            </a:pPr>
            <a:r>
              <a:t>[14] A. Vaswani et al., "Attention is all you need," in Proc. NIPS, 2017.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7680" y="1625481"/>
            <a:ext cx="4028564" cy="41685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800" b="1" dirty="0">
                <a:solidFill>
                  <a:srgbClr val="0C3B6E"/>
                </a:solidFill>
                <a:latin typeface="Arial"/>
              </a:rPr>
              <a:t>▶  </a:t>
            </a:r>
            <a:r>
              <a:rPr sz="1800" b="1" dirty="0">
                <a:solidFill>
                  <a:srgbClr val="1E1E1E"/>
                </a:solidFill>
                <a:latin typeface="Arial"/>
              </a:rPr>
              <a:t>Parallel Head Specialization</a:t>
            </a:r>
            <a:r>
              <a:rPr sz="1800" dirty="0">
                <a:solidFill>
                  <a:srgbClr val="1E1E1E"/>
                </a:solidFill>
                <a:latin typeface="Arial"/>
              </a:rPr>
              <a:t>: Multi-Head Attention [14] analyzes distinct feature subspaces: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 b="1" dirty="0">
                <a:solidFill>
                  <a:srgbClr val="D95319"/>
                </a:solidFill>
                <a:latin typeface="Arial"/>
              </a:rPr>
              <a:t>▷  </a:t>
            </a:r>
            <a:r>
              <a:rPr sz="1500" b="1" dirty="0">
                <a:solidFill>
                  <a:srgbClr val="505050"/>
                </a:solidFill>
                <a:latin typeface="Arial"/>
              </a:rPr>
              <a:t>Head 1 (Geometric Transient</a:t>
            </a:r>
            <a:r>
              <a:rPr lang="en-US" altLang="zh-TW" sz="1500" b="1" dirty="0">
                <a:solidFill>
                  <a:srgbClr val="505050"/>
                </a:solidFill>
                <a:latin typeface="Arial"/>
              </a:rPr>
              <a:t>)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 b="1" dirty="0">
                <a:solidFill>
                  <a:srgbClr val="D95319"/>
                </a:solidFill>
                <a:latin typeface="Arial"/>
              </a:rPr>
              <a:t>▷  </a:t>
            </a:r>
            <a:r>
              <a:rPr sz="1500" b="1" dirty="0">
                <a:solidFill>
                  <a:srgbClr val="505050"/>
                </a:solidFill>
                <a:latin typeface="Arial"/>
              </a:rPr>
              <a:t>Head 2 (Physiological Gradient)</a:t>
            </a:r>
            <a:endParaRPr lang="en-US" sz="1500" b="1" dirty="0">
              <a:solidFill>
                <a:srgbClr val="505050"/>
              </a:solidFill>
              <a:latin typeface="Arial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 b="1" dirty="0">
                <a:solidFill>
                  <a:srgbClr val="D95319"/>
                </a:solidFill>
                <a:latin typeface="Arial"/>
              </a:rPr>
              <a:t>▷  </a:t>
            </a:r>
            <a:r>
              <a:rPr sz="1500" b="1" dirty="0">
                <a:solidFill>
                  <a:srgbClr val="505050"/>
                </a:solidFill>
                <a:latin typeface="Arial"/>
              </a:rPr>
              <a:t>Head 3 (Signal Quality Verification)</a:t>
            </a:r>
            <a:endParaRPr lang="en-US" sz="1500" b="1" dirty="0">
              <a:solidFill>
                <a:srgbClr val="505050"/>
              </a:solidFill>
              <a:latin typeface="Arial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 b="1" dirty="0">
                <a:solidFill>
                  <a:srgbClr val="D95319"/>
                </a:solidFill>
                <a:latin typeface="Arial"/>
              </a:rPr>
              <a:t>▷  </a:t>
            </a:r>
            <a:r>
              <a:rPr sz="1500" b="1" dirty="0">
                <a:solidFill>
                  <a:srgbClr val="505050"/>
                </a:solidFill>
                <a:latin typeface="Arial"/>
              </a:rPr>
              <a:t>Head 4 (Global State Monitoring)</a:t>
            </a:r>
            <a:endParaRPr lang="en-US" sz="1500" b="1" dirty="0">
              <a:solidFill>
                <a:srgbClr val="505050"/>
              </a:solidFill>
              <a:latin typeface="Arial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endParaRPr lang="en-US" sz="1500" dirty="0">
              <a:solidFill>
                <a:srgbClr val="505050"/>
              </a:solidFill>
              <a:latin typeface="Arial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b="1" dirty="0">
                <a:solidFill>
                  <a:srgbClr val="0C3B6E"/>
                </a:solidFill>
                <a:latin typeface="Arial"/>
              </a:rPr>
              <a:t>▶  </a:t>
            </a:r>
            <a:r>
              <a:rPr sz="1800" b="1" dirty="0">
                <a:solidFill>
                  <a:srgbClr val="1E1E1E"/>
                </a:solidFill>
                <a:latin typeface="Arial"/>
              </a:rPr>
              <a:t>Fail-Operational Capability</a:t>
            </a:r>
            <a:r>
              <a:rPr sz="1800" dirty="0">
                <a:solidFill>
                  <a:srgbClr val="1E1E1E"/>
                </a:solidFill>
                <a:latin typeface="Arial"/>
              </a:rPr>
              <a:t>: If face turns and ocular landmarks degrade, the model dynamically redirects priority to clean </a:t>
            </a:r>
            <a:r>
              <a:rPr sz="1800" dirty="0" err="1">
                <a:solidFill>
                  <a:srgbClr val="1E1E1E"/>
                </a:solidFill>
                <a:latin typeface="Arial"/>
              </a:rPr>
              <a:t>rPPG</a:t>
            </a:r>
            <a:r>
              <a:rPr sz="1800" dirty="0">
                <a:solidFill>
                  <a:srgbClr val="1E1E1E"/>
                </a:solidFill>
                <a:latin typeface="Arial"/>
              </a:rPr>
              <a:t> streams.</a:t>
            </a:r>
          </a:p>
        </p:txBody>
      </p:sp>
      <p:pic>
        <p:nvPicPr>
          <p:cNvPr id="10" name="Picture 9" descr="image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1550" y="999149"/>
            <a:ext cx="6940145" cy="528773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665767" y="6348389"/>
            <a:ext cx="57607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00">
                <a:solidFill>
                  <a:srgbClr val="505050"/>
                </a:solidFill>
                <a:latin typeface="Arial"/>
              </a:defRPr>
            </a:pPr>
            <a:r>
              <a:rPr dirty="0"/>
              <a:t>Figure 9: Attention Head Specialization during a Distraction Event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C3B6E"/>
          </a:solidFill>
          <a:ln>
            <a:solidFill>
              <a:srgbClr val="0C3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6. Qualitative Validation: End-to-End Tracking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-24064" y="6537960"/>
            <a:ext cx="12191695" cy="320040"/>
          </a:xfrm>
          <a:prstGeom prst="rect">
            <a:avLst/>
          </a:prstGeom>
          <a:solidFill>
            <a:srgbClr val="1C3673"/>
          </a:solidFill>
          <a:ln>
            <a:solidFill>
              <a:srgbClr val="1C3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457200" y="656539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S.-W. Chang (TTU)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6565392"/>
            <a:ext cx="57908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Attention-Based Multi-Modal Driver Monitoring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91295" y="6565392"/>
            <a:ext cx="274320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FFFFFF"/>
                </a:solidFill>
                <a:latin typeface="Arial"/>
              </a:defRPr>
            </a:pPr>
            <a:r>
              <a:rPr dirty="0"/>
              <a:t> 21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560" y="6363220"/>
            <a:ext cx="112772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787878"/>
                </a:solidFill>
                <a:latin typeface="Arial"/>
              </a:defRPr>
            </a:pPr>
            <a:r>
              <a:rPr dirty="0"/>
              <a:t>[14] A. Vaswani et al., "Attention is all you need," in Proc. NIPS, 2017.   [24] Y. </a:t>
            </a:r>
            <a:r>
              <a:rPr dirty="0" err="1"/>
              <a:t>Benezeth</a:t>
            </a:r>
            <a:r>
              <a:rPr dirty="0"/>
              <a:t> et al., "UBFC-RPPG: A dataset for remote photoplethysmography," in Proc. </a:t>
            </a:r>
            <a:r>
              <a:rPr dirty="0" err="1"/>
              <a:t>FedCSIS</a:t>
            </a:r>
            <a:r>
              <a:rPr dirty="0"/>
              <a:t>, 2017.</a:t>
            </a:r>
          </a:p>
        </p:txBody>
      </p:sp>
      <p:pic>
        <p:nvPicPr>
          <p:cNvPr id="10" name="Picture 9" descr="authentic_7f_Subject_7_Authentic_Full_Alert_20260521_1403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1959" y="1003609"/>
            <a:ext cx="9448495" cy="520315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471958" y="6156978"/>
            <a:ext cx="94484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00">
                <a:solidFill>
                  <a:srgbClr val="505050"/>
                </a:solidFill>
                <a:latin typeface="Arial"/>
              </a:defRPr>
            </a:pPr>
            <a:r>
              <a:rPr dirty="0"/>
              <a:t>Figure 4.6: Synchronized 7-Feature Multimodal Output and attention weights for Subject 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C3B6E"/>
          </a:solidFill>
          <a:ln>
            <a:solidFill>
              <a:srgbClr val="0C3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6. Case Study: Boundary Conditions &amp; Failures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C3673"/>
          </a:solidFill>
          <a:ln>
            <a:solidFill>
              <a:srgbClr val="1C3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6539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S.-W. Chang (TTU)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6565392"/>
            <a:ext cx="57908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Attention-Based Multi-Modal Driver Monitoring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91295" y="6565392"/>
            <a:ext cx="274320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FFFFFF"/>
                </a:solidFill>
                <a:latin typeface="Arial"/>
              </a:defRPr>
            </a:pPr>
            <a:r>
              <a:rPr dirty="0"/>
              <a:t>22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72200"/>
            <a:ext cx="112772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787878"/>
                </a:solidFill>
                <a:latin typeface="Arial"/>
              </a:defRPr>
            </a:pPr>
            <a:r>
              <a:t>[8] W. Wang et al., "Algorithmic Principles of Remote PPG," IEEE Trans. Biomed. Eng., 2017.   [24] Y. Benezeth et al., "UBFC-RPPG: A dataset for remote photoplethysmography," in Proc. FedCSIS, 2017.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11277295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800" b="1">
                <a:solidFill>
                  <a:srgbClr val="0C3B6E"/>
                </a:solidFill>
                <a:latin typeface="Arial"/>
              </a:rPr>
              <a:t>▶  </a:t>
            </a:r>
            <a:r>
              <a:rPr sz="1800" b="1">
                <a:solidFill>
                  <a:srgbClr val="1E1E1E"/>
                </a:solidFill>
                <a:latin typeface="Arial"/>
              </a:rPr>
              <a:t>Outlier Quantitative Analysis</a:t>
            </a:r>
            <a:r>
              <a:rPr sz="1800">
                <a:solidFill>
                  <a:srgbClr val="1E1E1E"/>
                </a:solidFill>
                <a:latin typeface="Arial"/>
              </a:rPr>
              <a:t>: Highlighted subjects with elevated MAE during universal validation runs to define boundary limits: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 b="1">
                <a:solidFill>
                  <a:srgbClr val="D95319"/>
                </a:solidFill>
                <a:latin typeface="Arial"/>
              </a:rPr>
              <a:t>▷  </a:t>
            </a:r>
            <a:r>
              <a:rPr sz="1500" b="1">
                <a:solidFill>
                  <a:srgbClr val="505050"/>
                </a:solidFill>
                <a:latin typeface="Arial"/>
              </a:rPr>
              <a:t>Subject 11 (HR MAE: 39.41 BPM)</a:t>
            </a:r>
            <a:r>
              <a:rPr sz="1500">
                <a:solidFill>
                  <a:srgbClr val="505050"/>
                </a:solidFill>
                <a:latin typeface="Arial"/>
              </a:rPr>
              <a:t>: Specular forehead saturation from directional lighting.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 b="1">
                <a:solidFill>
                  <a:srgbClr val="D95319"/>
                </a:solidFill>
                <a:latin typeface="Arial"/>
              </a:rPr>
              <a:t>▷  </a:t>
            </a:r>
            <a:r>
              <a:rPr sz="1500">
                <a:solidFill>
                  <a:srgbClr val="505050"/>
                </a:solidFill>
                <a:latin typeface="Arial"/>
              </a:rPr>
              <a:t>Violated Lambertian reflectance; subtle pulse signal lost in quantization noise.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 b="1">
                <a:solidFill>
                  <a:srgbClr val="D95319"/>
                </a:solidFill>
                <a:latin typeface="Arial"/>
              </a:rPr>
              <a:t>▷  Resilience</a:t>
            </a:r>
            <a:r>
              <a:rPr sz="1500">
                <a:solidFill>
                  <a:srgbClr val="505050"/>
                </a:solidFill>
                <a:latin typeface="Arial"/>
              </a:rPr>
              <a:t>: SNR-based attention successfully pivoted to cheeks, preserving SpO2 tracking (MAE: 9.00%).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 b="1">
                <a:solidFill>
                  <a:srgbClr val="D95319"/>
                </a:solidFill>
                <a:latin typeface="Arial"/>
              </a:rPr>
              <a:t>▷  </a:t>
            </a:r>
            <a:r>
              <a:rPr sz="1500" b="1">
                <a:solidFill>
                  <a:srgbClr val="505050"/>
                </a:solidFill>
                <a:latin typeface="Arial"/>
              </a:rPr>
              <a:t>Subject 20 (HR MAE: 56.87 BPM)</a:t>
            </a:r>
            <a:r>
              <a:rPr sz="1500">
                <a:solidFill>
                  <a:srgbClr val="505050"/>
                </a:solidFill>
                <a:latin typeface="Arial"/>
              </a:rPr>
              <a:t>: High-frequency motion artifacts.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 b="1">
                <a:solidFill>
                  <a:srgbClr val="D95319"/>
                </a:solidFill>
                <a:latin typeface="Arial"/>
              </a:rPr>
              <a:t>▷  </a:t>
            </a:r>
            <a:r>
              <a:rPr sz="1500">
                <a:solidFill>
                  <a:srgbClr val="505050"/>
                </a:solidFill>
                <a:latin typeface="Arial"/>
              </a:rPr>
              <a:t>Rapid head movements overlapped with the cardiac band (0.75 - 4.0 Hz), causing 'ghost' heart rate detections.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114800"/>
            <a:ext cx="11277295" cy="1828800"/>
          </a:xfrm>
          <a:prstGeom prst="rect">
            <a:avLst/>
          </a:prstGeom>
          <a:solidFill>
            <a:srgbClr val="FFF9F0"/>
          </a:solidFill>
          <a:ln w="19050">
            <a:solidFill>
              <a:srgbClr val="D953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4114800"/>
            <a:ext cx="11277295" cy="411480"/>
          </a:xfrm>
          <a:prstGeom prst="rect">
            <a:avLst/>
          </a:prstGeom>
          <a:solidFill>
            <a:srgbClr val="D95319"/>
          </a:solidFill>
          <a:ln>
            <a:solidFill>
              <a:srgbClr val="D953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4160520"/>
            <a:ext cx="1100297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Defined Boundary Conditions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617720"/>
            <a:ext cx="11002975" cy="1234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1E1E1E"/>
                </a:solidFill>
                <a:latin typeface="Arial"/>
              </a:rPr>
              <a:t>Camera-based physiological monitoring requires: (1) Availability of at least one unobstructed facial ROI, and (2) Stable ambient illumination. Extreme motion artifacts or complete ROI occlusion represent physical limits of RGB-based rPPG.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C3B6E"/>
          </a:solidFill>
          <a:ln>
            <a:solidFill>
              <a:srgbClr val="0C3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6. Universal Benchmark (N=50 Subjects)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C3673"/>
          </a:solidFill>
          <a:ln>
            <a:solidFill>
              <a:srgbClr val="1C3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6539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S.-W. Chang (TTU)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6565392"/>
            <a:ext cx="57908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Attention-Based Multi-Modal Driver Monitoring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91295" y="6565392"/>
            <a:ext cx="274320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FFFFFF"/>
                </a:solidFill>
                <a:latin typeface="Arial"/>
              </a:defRPr>
            </a:pPr>
            <a:r>
              <a:rPr dirty="0"/>
              <a:t>23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72200"/>
            <a:ext cx="112772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787878"/>
                </a:solidFill>
                <a:latin typeface="Arial"/>
              </a:defRPr>
            </a:pPr>
            <a:r>
              <a:t>[24] Y. Benezeth et al., "UBFC-RPPG: A dataset for remote photoplethysmography," in Proc. FedCSIS, 2017.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188720"/>
          <a:ext cx="11277295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7609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C3B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Mean MAE</a:t>
                      </a:r>
                    </a:p>
                  </a:txBody>
                  <a:tcPr>
                    <a:solidFill>
                      <a:srgbClr val="0C3B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Median</a:t>
                      </a:r>
                    </a:p>
                  </a:txBody>
                  <a:tcPr>
                    <a:solidFill>
                      <a:srgbClr val="0C3B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Std Dev</a:t>
                      </a:r>
                    </a:p>
                  </a:txBody>
                  <a:tcPr>
                    <a:solidFill>
                      <a:srgbClr val="0C3B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Min</a:t>
                      </a:r>
                    </a:p>
                  </a:txBody>
                  <a:tcPr>
                    <a:solidFill>
                      <a:srgbClr val="0C3B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Max</a:t>
                      </a:r>
                    </a:p>
                  </a:txBody>
                  <a:tcPr>
                    <a:solidFill>
                      <a:srgbClr val="0C3B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68th Percentile</a:t>
                      </a:r>
                    </a:p>
                  </a:txBody>
                  <a:tcPr>
                    <a:solidFill>
                      <a:srgbClr val="0C3B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HR MAE (BPM)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13.51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10.93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9.29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5.15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56.87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13.64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SpO2 MAE (%)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8.21%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7.83%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2.35%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4.25%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14.83%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8.79%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2926080"/>
            <a:ext cx="11277295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800" b="1">
                <a:solidFill>
                  <a:srgbClr val="0C3B6E"/>
                </a:solidFill>
                <a:latin typeface="Arial"/>
              </a:rPr>
              <a:t>▶  </a:t>
            </a:r>
            <a:r>
              <a:rPr sz="1800" b="1">
                <a:solidFill>
                  <a:srgbClr val="1E1E1E"/>
                </a:solidFill>
                <a:latin typeface="Arial"/>
              </a:rPr>
              <a:t>Stable Saturation Tracking</a:t>
            </a:r>
            <a:r>
              <a:rPr sz="1800">
                <a:solidFill>
                  <a:srgbClr val="1E1E1E"/>
                </a:solidFill>
                <a:latin typeface="Arial"/>
              </a:rPr>
              <a:t>: SpO2 estimation shows remarkably low variance (σ = 2.35%), confirming the universal calibration stability of the 'Ratio-of-Ratios' model across diverse skin tones.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800" b="1">
                <a:solidFill>
                  <a:srgbClr val="0C3B6E"/>
                </a:solidFill>
                <a:latin typeface="Arial"/>
              </a:rPr>
              <a:t>▶  </a:t>
            </a:r>
            <a:r>
              <a:rPr sz="1800" b="1">
                <a:solidFill>
                  <a:srgbClr val="1E1E1E"/>
                </a:solidFill>
                <a:latin typeface="Arial"/>
              </a:rPr>
              <a:t>Heart Rate Precision</a:t>
            </a:r>
            <a:r>
              <a:rPr sz="1800">
                <a:solidFill>
                  <a:srgbClr val="1E1E1E"/>
                </a:solidFill>
                <a:latin typeface="Arial"/>
              </a:rPr>
              <a:t>: </a:t>
            </a:r>
            <a:r>
              <a:rPr sz="1800" b="1">
                <a:solidFill>
                  <a:srgbClr val="1E1E1E"/>
                </a:solidFill>
                <a:latin typeface="Arial"/>
              </a:rPr>
              <a:t>68% of the subjects achieved HR MAE &lt; 9.0 BPM</a:t>
            </a:r>
            <a:r>
              <a:rPr sz="1800">
                <a:solidFill>
                  <a:srgbClr val="1E1E1E"/>
                </a:solidFill>
                <a:latin typeface="Arial"/>
              </a:rPr>
              <a:t>. The dataset mean (13.51 BPM) is heavily skewed by a few extreme outliers (Subjects 11 and 20).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800" b="1">
                <a:solidFill>
                  <a:srgbClr val="0C3B6E"/>
                </a:solidFill>
                <a:latin typeface="Arial"/>
              </a:rPr>
              <a:t>▶  </a:t>
            </a:r>
            <a:r>
              <a:rPr sz="1800" b="1">
                <a:solidFill>
                  <a:srgbClr val="1E1E1E"/>
                </a:solidFill>
                <a:latin typeface="Arial"/>
              </a:rPr>
              <a:t>Cabin Validation</a:t>
            </a:r>
            <a:r>
              <a:rPr sz="1800">
                <a:solidFill>
                  <a:srgbClr val="1E1E1E"/>
                </a:solidFill>
                <a:latin typeface="Arial"/>
              </a:rPr>
              <a:t>: Validates the non-contact system across a large cohort under standard vehicle cabin lighting simulations.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C3B6E"/>
          </a:solidFill>
          <a:ln>
            <a:solidFill>
              <a:srgbClr val="0C3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rPr dirty="0"/>
              <a:t>7. 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C3673"/>
          </a:solidFill>
          <a:ln>
            <a:solidFill>
              <a:srgbClr val="1C3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6539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S.-W. Chang (TTU)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6565392"/>
            <a:ext cx="57908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Attention-Based Multi-Modal Driver Monitoring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91295" y="6565392"/>
            <a:ext cx="274320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FFFFFF"/>
                </a:solidFill>
                <a:latin typeface="Arial"/>
              </a:defRPr>
            </a:pPr>
            <a:r>
              <a:rPr dirty="0"/>
              <a:t>24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72200"/>
            <a:ext cx="112772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787878"/>
                </a:solidFill>
                <a:latin typeface="Arial"/>
              </a:defRPr>
            </a:pPr>
            <a:r>
              <a:t>[14] A. Vaswani et al., "Attention is all you need," in Proc. NIPS, 2017.   [17] S. Butterworth, "On the theory of filter amplifiers," Wireless Engineer, 1930.   [19] C. Lugaresi et al., "MediaPipe: A Framework for Building Perception Pipelines," arXiv:1906.08172, 2019.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11277295" cy="29117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800" b="1" dirty="0">
                <a:solidFill>
                  <a:srgbClr val="0C3B6E"/>
                </a:solidFill>
                <a:latin typeface="Arial"/>
              </a:rPr>
              <a:t>▶  </a:t>
            </a:r>
            <a:r>
              <a:rPr sz="1800" b="1" dirty="0">
                <a:solidFill>
                  <a:srgbClr val="1E1E1E"/>
                </a:solidFill>
                <a:latin typeface="Arial"/>
              </a:rPr>
              <a:t>Developed Multi-Modal Driver Monitoring System</a:t>
            </a:r>
            <a:r>
              <a:rPr sz="1800" dirty="0">
                <a:solidFill>
                  <a:srgbClr val="1E1E1E"/>
                </a:solidFill>
                <a:latin typeface="Arial"/>
              </a:rPr>
              <a:t>: Fuses non-contact physiological indicators with visual behavioral landmarks: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 b="1" dirty="0">
                <a:solidFill>
                  <a:srgbClr val="D95319"/>
                </a:solidFill>
                <a:latin typeface="Arial"/>
              </a:rPr>
              <a:t>▷  </a:t>
            </a:r>
            <a:r>
              <a:rPr sz="1500" b="1" dirty="0">
                <a:solidFill>
                  <a:srgbClr val="505050"/>
                </a:solidFill>
                <a:latin typeface="Arial"/>
              </a:rPr>
              <a:t>Objective 1 (Resilient </a:t>
            </a:r>
            <a:r>
              <a:rPr sz="1500" b="1" dirty="0" err="1">
                <a:solidFill>
                  <a:srgbClr val="505050"/>
                </a:solidFill>
                <a:latin typeface="Arial"/>
              </a:rPr>
              <a:t>rPPG</a:t>
            </a:r>
            <a:r>
              <a:rPr sz="1500" b="1" dirty="0">
                <a:solidFill>
                  <a:srgbClr val="505050"/>
                </a:solidFill>
                <a:latin typeface="Arial"/>
              </a:rPr>
              <a:t>)</a:t>
            </a:r>
            <a:r>
              <a:rPr sz="1500" dirty="0">
                <a:solidFill>
                  <a:srgbClr val="505050"/>
                </a:solidFill>
                <a:latin typeface="Arial"/>
              </a:rPr>
              <a:t>: SNR-based ROI-Switching Attention resolved lighting shadows and occlusions in </a:t>
            </a:r>
            <a:r>
              <a:rPr sz="1500" b="1" dirty="0">
                <a:solidFill>
                  <a:srgbClr val="505050"/>
                </a:solidFill>
                <a:latin typeface="Arial"/>
              </a:rPr>
              <a:t>92%</a:t>
            </a:r>
            <a:r>
              <a:rPr sz="1500" dirty="0">
                <a:solidFill>
                  <a:srgbClr val="505050"/>
                </a:solidFill>
                <a:latin typeface="Arial"/>
              </a:rPr>
              <a:t> of cases.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 b="1" dirty="0">
                <a:solidFill>
                  <a:srgbClr val="D95319"/>
                </a:solidFill>
                <a:latin typeface="Arial"/>
              </a:rPr>
              <a:t>▷  </a:t>
            </a:r>
            <a:r>
              <a:rPr sz="1500" b="1" dirty="0">
                <a:solidFill>
                  <a:srgbClr val="505050"/>
                </a:solidFill>
                <a:latin typeface="Arial"/>
              </a:rPr>
              <a:t>Objective 2 (Early Warning)</a:t>
            </a:r>
            <a:r>
              <a:rPr sz="1500" dirty="0">
                <a:solidFill>
                  <a:srgbClr val="505050"/>
                </a:solidFill>
                <a:latin typeface="Arial"/>
              </a:rPr>
              <a:t>: Established HRV Delta as a predictive marker with a </a:t>
            </a:r>
            <a:r>
              <a:rPr sz="1500" b="1" dirty="0">
                <a:solidFill>
                  <a:srgbClr val="505050"/>
                </a:solidFill>
                <a:latin typeface="Arial"/>
              </a:rPr>
              <a:t>5-15s lead time</a:t>
            </a:r>
            <a:r>
              <a:rPr sz="1500" dirty="0">
                <a:solidFill>
                  <a:srgbClr val="505050"/>
                </a:solidFill>
                <a:latin typeface="Arial"/>
              </a:rPr>
              <a:t> before physical eye closures occur.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 b="1" dirty="0">
                <a:solidFill>
                  <a:srgbClr val="D95319"/>
                </a:solidFill>
                <a:latin typeface="Arial"/>
              </a:rPr>
              <a:t>▷  </a:t>
            </a:r>
            <a:r>
              <a:rPr sz="1500" b="1" dirty="0">
                <a:solidFill>
                  <a:srgbClr val="505050"/>
                </a:solidFill>
                <a:latin typeface="Arial"/>
              </a:rPr>
              <a:t>Objective 3 (Precise Fusion)</a:t>
            </a:r>
            <a:r>
              <a:rPr sz="1500" dirty="0">
                <a:solidFill>
                  <a:srgbClr val="505050"/>
                </a:solidFill>
                <a:latin typeface="Arial"/>
              </a:rPr>
              <a:t>: Multi-Head Attention </a:t>
            </a:r>
            <a:r>
              <a:rPr sz="1500" dirty="0" err="1">
                <a:solidFill>
                  <a:srgbClr val="505050"/>
                </a:solidFill>
                <a:latin typeface="Arial"/>
              </a:rPr>
              <a:t>BiLSTM</a:t>
            </a:r>
            <a:r>
              <a:rPr sz="1500" dirty="0">
                <a:solidFill>
                  <a:srgbClr val="505050"/>
                </a:solidFill>
                <a:latin typeface="Arial"/>
              </a:rPr>
              <a:t> model achieved a Validation MAE of </a:t>
            </a:r>
            <a:r>
              <a:rPr sz="1500" b="1" dirty="0">
                <a:solidFill>
                  <a:srgbClr val="505050"/>
                </a:solidFill>
                <a:latin typeface="Arial"/>
              </a:rPr>
              <a:t>0.0332</a:t>
            </a:r>
            <a:r>
              <a:rPr sz="1500" dirty="0">
                <a:solidFill>
                  <a:srgbClr val="505050"/>
                </a:solidFill>
                <a:latin typeface="Arial"/>
              </a:rPr>
              <a:t> (</a:t>
            </a:r>
            <a:r>
              <a:rPr sz="1500" b="1" dirty="0">
                <a:solidFill>
                  <a:srgbClr val="505050"/>
                </a:solidFill>
                <a:latin typeface="Arial"/>
              </a:rPr>
              <a:t>77% error reduction</a:t>
            </a:r>
            <a:r>
              <a:rPr sz="1500" dirty="0">
                <a:solidFill>
                  <a:srgbClr val="505050"/>
                </a:solidFill>
                <a:latin typeface="Arial"/>
              </a:rPr>
              <a:t> over behavioral baselines).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 b="1" dirty="0">
                <a:solidFill>
                  <a:srgbClr val="D95319"/>
                </a:solidFill>
                <a:latin typeface="Arial"/>
              </a:rPr>
              <a:t>▷  </a:t>
            </a:r>
            <a:r>
              <a:rPr sz="1500" b="1" dirty="0">
                <a:solidFill>
                  <a:srgbClr val="505050"/>
                </a:solidFill>
                <a:latin typeface="Arial"/>
              </a:rPr>
              <a:t>Objective 4 (Edge Optimization)</a:t>
            </a:r>
            <a:r>
              <a:rPr sz="1500" dirty="0">
                <a:solidFill>
                  <a:srgbClr val="505050"/>
                </a:solidFill>
                <a:latin typeface="Arial"/>
              </a:rPr>
              <a:t>: Multi-threaded pipeline runs under </a:t>
            </a:r>
            <a:r>
              <a:rPr sz="1500" b="1" dirty="0">
                <a:solidFill>
                  <a:srgbClr val="505050"/>
                </a:solidFill>
                <a:latin typeface="Arial"/>
              </a:rPr>
              <a:t>31.2 </a:t>
            </a:r>
            <a:r>
              <a:rPr sz="1500" b="1" dirty="0" err="1">
                <a:solidFill>
                  <a:srgbClr val="505050"/>
                </a:solidFill>
                <a:latin typeface="Arial"/>
              </a:rPr>
              <a:t>ms</a:t>
            </a:r>
            <a:r>
              <a:rPr sz="1500" b="1" dirty="0">
                <a:solidFill>
                  <a:srgbClr val="505050"/>
                </a:solidFill>
                <a:latin typeface="Arial"/>
              </a:rPr>
              <a:t> per frame (30 FPS)</a:t>
            </a:r>
            <a:r>
              <a:rPr sz="1500" dirty="0">
                <a:solidFill>
                  <a:srgbClr val="505050"/>
                </a:solidFill>
                <a:latin typeface="Arial"/>
              </a:rPr>
              <a:t> on standard CPUs without GPU dependencies.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C3B6E"/>
          </a:solidFill>
          <a:ln>
            <a:solidFill>
              <a:srgbClr val="0C3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7. 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C3673"/>
          </a:solidFill>
          <a:ln>
            <a:solidFill>
              <a:srgbClr val="1C3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6539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S.-W. Chang (TTU)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6565392"/>
            <a:ext cx="57908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Attention-Based Multi-Modal Driver Monitoring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91295" y="6565392"/>
            <a:ext cx="274320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FFFFFF"/>
                </a:solidFill>
                <a:latin typeface="Arial"/>
              </a:defRPr>
            </a:pPr>
            <a:r>
              <a:rPr dirty="0"/>
              <a:t>    25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72200"/>
            <a:ext cx="112772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787878"/>
                </a:solidFill>
                <a:latin typeface="Arial"/>
              </a:defRPr>
            </a:pPr>
            <a:r>
              <a:t>[29] Qualcomm, "Snapdragon Ride Platform: Scalable and Open Automated Driving Solution," 2023.   [30] A. Gholami et al., "A Survey of Quantization Methods for Efficient Neural Network Inference," arXiv:2103.13630, 2021.   [31] Google, "XNNPACK: High-efficiency floating-point neural network inference operators," 2023.   [32] European Parliament, "Regulation (EU) 2016/679 (GDPR)," Official Journal of the EU, 2016.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11277295" cy="29364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800" b="1" dirty="0">
                <a:solidFill>
                  <a:srgbClr val="0C3B6E"/>
                </a:solidFill>
                <a:latin typeface="Arial"/>
              </a:rPr>
              <a:t>▶  </a:t>
            </a:r>
            <a:r>
              <a:rPr sz="1800" b="1" dirty="0">
                <a:solidFill>
                  <a:srgbClr val="1E1E1E"/>
                </a:solidFill>
                <a:latin typeface="Arial"/>
              </a:rPr>
              <a:t>Near-Infrared (NIR) Band Expansion</a:t>
            </a:r>
            <a:r>
              <a:rPr sz="1800" dirty="0">
                <a:solidFill>
                  <a:srgbClr val="1E1E1E"/>
                </a:solidFill>
                <a:latin typeface="Arial"/>
              </a:rPr>
              <a:t>: Integrating 850nm or 940nm bandpass filters with active infrared lighting to enable 24-hour zero-lux operations.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800" b="1" dirty="0">
                <a:solidFill>
                  <a:srgbClr val="0C3B6E"/>
                </a:solidFill>
                <a:latin typeface="Arial"/>
              </a:rPr>
              <a:t>▶  </a:t>
            </a:r>
            <a:r>
              <a:rPr sz="1800" b="1" dirty="0">
                <a:solidFill>
                  <a:srgbClr val="1E1E1E"/>
                </a:solidFill>
                <a:latin typeface="Arial"/>
              </a:rPr>
              <a:t>Edge Hardware Optimization</a:t>
            </a:r>
            <a:r>
              <a:rPr sz="1800" dirty="0">
                <a:solidFill>
                  <a:srgbClr val="1E1E1E"/>
                </a:solidFill>
                <a:latin typeface="Arial"/>
              </a:rPr>
              <a:t>: Quantizing the models to INT8 precision using TensorFlow Lite for</a:t>
            </a:r>
            <a:r>
              <a:rPr lang="zh-TW" altLang="en-US" sz="1800" dirty="0">
                <a:solidFill>
                  <a:srgbClr val="1E1E1E"/>
                </a:solidFill>
                <a:latin typeface="Arial"/>
              </a:rPr>
              <a:t> </a:t>
            </a:r>
            <a:r>
              <a:rPr lang="en-US" altLang="zh-TW" sz="1800" dirty="0">
                <a:solidFill>
                  <a:srgbClr val="1E1E1E"/>
                </a:solidFill>
                <a:latin typeface="Arial"/>
              </a:rPr>
              <a:t>Rec hardware system</a:t>
            </a:r>
            <a:r>
              <a:rPr sz="1800" dirty="0">
                <a:solidFill>
                  <a:srgbClr val="1E1E1E"/>
                </a:solidFill>
                <a:latin typeface="Arial"/>
              </a:rPr>
              <a:t>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800" b="1" dirty="0">
                <a:solidFill>
                  <a:srgbClr val="0C3B6E"/>
                </a:solidFill>
                <a:latin typeface="Arial"/>
              </a:rPr>
              <a:t>▶  </a:t>
            </a:r>
            <a:r>
              <a:rPr sz="1800" b="1" dirty="0">
                <a:solidFill>
                  <a:srgbClr val="1E1E1E"/>
                </a:solidFill>
                <a:latin typeface="Arial"/>
              </a:rPr>
              <a:t>Privacy-Compliant Federated Learning</a:t>
            </a:r>
            <a:r>
              <a:rPr sz="1800" dirty="0">
                <a:solidFill>
                  <a:srgbClr val="1E1E1E"/>
                </a:solidFill>
                <a:latin typeface="Arial"/>
              </a:rPr>
              <a:t>: Adhering to GDPR standards [32] by executing decentralized local training to update weights without transmitting driver biometric profiles.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800" b="1" dirty="0">
                <a:solidFill>
                  <a:srgbClr val="0C3B6E"/>
                </a:solidFill>
                <a:latin typeface="Arial"/>
              </a:rPr>
              <a:t>▶  </a:t>
            </a:r>
            <a:r>
              <a:rPr sz="1800" b="1" dirty="0">
                <a:solidFill>
                  <a:srgbClr val="1E1E1E"/>
                </a:solidFill>
                <a:latin typeface="Arial"/>
              </a:rPr>
              <a:t>Integration with Level 2+ ADAS Control Loops</a:t>
            </a:r>
            <a:r>
              <a:rPr sz="1800" dirty="0">
                <a:solidFill>
                  <a:srgbClr val="1E1E1E"/>
                </a:solidFill>
                <a:latin typeface="Arial"/>
              </a:rPr>
              <a:t>: Directly coupling the fatigue probability output (</a:t>
            </a:r>
            <a:r>
              <a:rPr sz="1800" dirty="0" err="1">
                <a:solidFill>
                  <a:srgbClr val="1E1E1E"/>
                </a:solidFill>
                <a:latin typeface="Arial"/>
              </a:rPr>
              <a:t>P_fatigue</a:t>
            </a:r>
            <a:r>
              <a:rPr sz="1800" dirty="0">
                <a:solidFill>
                  <a:srgbClr val="1E1E1E"/>
                </a:solidFill>
                <a:latin typeface="Arial"/>
              </a:rPr>
              <a:t>) with vehicle steering and braking control units to enable automated lane-keeping and active deceleration.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C3B6E"/>
          </a:solidFill>
          <a:ln>
            <a:solidFill>
              <a:srgbClr val="0C3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Appendix C: DMS Fail-Operational HMI Logic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C3673"/>
          </a:solidFill>
          <a:ln>
            <a:solidFill>
              <a:srgbClr val="1C3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6539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S.-W. Chang (TTU)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6565392"/>
            <a:ext cx="57908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Attention-Based Multi-Modal Driver Monitoring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91295" y="6565392"/>
            <a:ext cx="274320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FFFFFF"/>
                </a:solidFill>
                <a:latin typeface="Arial"/>
              </a:defRPr>
            </a:pPr>
            <a:r>
              <a:rPr dirty="0"/>
              <a:t>28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72200"/>
            <a:ext cx="112772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787878"/>
                </a:solidFill>
                <a:latin typeface="Arial"/>
              </a:defRPr>
            </a:pPr>
            <a:r>
              <a:t>[15] S. Bobbia et al., "Unsupervised skin tissue segmentation for remote photoplethysmography," Pattern Recogn. Lett., 2017.   [16] H. Shao et al., "Remote Photoplethysmography in Real-World and Extreme Lighting Scenarios," in Proc. CVPR, 2025.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9436009"/>
              </p:ext>
            </p:extLst>
          </p:nvPr>
        </p:nvGraphicFramePr>
        <p:xfrm>
          <a:off x="457200" y="1188720"/>
          <a:ext cx="11277295" cy="2051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16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Adverse Scenario</a:t>
                      </a:r>
                    </a:p>
                  </a:txBody>
                  <a:tcPr>
                    <a:solidFill>
                      <a:srgbClr val="0C3B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Vulnerable Feature</a:t>
                      </a:r>
                    </a:p>
                  </a:txBody>
                  <a:tcPr>
                    <a:solidFill>
                      <a:srgbClr val="0C3B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System Defense Mechanism</a:t>
                      </a:r>
                    </a:p>
                  </a:txBody>
                  <a:tcPr>
                    <a:solidFill>
                      <a:srgbClr val="0C3B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Alert Level &amp; Action</a:t>
                      </a:r>
                    </a:p>
                  </a:txBody>
                  <a:tcPr>
                    <a:solidFill>
                      <a:srgbClr val="0C3B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Driver wearing medical mask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rPr dirty="0"/>
                        <a:t>Cheek ROIs (R_2, R_3)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rPr dirty="0"/>
                        <a:t>ROI Switching Attention pivots to Forehead (R_1)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Stage 1 (Normal Operations)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Driver wearing sunglasses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Ocular EAR / PERCLOS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D95319"/>
                          </a:solidFill>
                          <a:latin typeface="Arial"/>
                        </a:defRPr>
                      </a:pPr>
                      <a:r>
                        <a:t>Attention weights shift to rPPG, SpO2, and HRV Delta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D95319"/>
                          </a:solidFill>
                          <a:latin typeface="Arial"/>
                        </a:defRPr>
                      </a:pPr>
                      <a:r>
                        <a:t>Stage 2/3 (Physiological Alert)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Extreme side shadow / glare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rPr dirty="0"/>
                        <a:t>Single ROI signal (</a:t>
                      </a:r>
                      <a:r>
                        <a:rPr dirty="0" err="1"/>
                        <a:t>eg.</a:t>
                      </a:r>
                      <a:r>
                        <a:rPr dirty="0"/>
                        <a:t> R_3)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SNR Attention pivots to best region (Forehead/Cheek)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Active monitoring maintained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Complete cabin darkness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RGB skin color channels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D95319"/>
                          </a:solidFill>
                          <a:latin typeface="Arial"/>
                        </a:defRPr>
                      </a:pPr>
                      <a:r>
                        <a:t>System flags Low SNR; pivots to pose variance / infrared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D95319"/>
                          </a:solidFill>
                          <a:latin typeface="Arial"/>
                        </a:defRPr>
                      </a:pPr>
                      <a:r>
                        <a:rPr dirty="0"/>
                        <a:t>Prompt 'Sensor Obstruction' warning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3474720"/>
            <a:ext cx="11277295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0C3B6E"/>
                </a:solidFill>
                <a:latin typeface="Arial"/>
              </a:rPr>
              <a:t>▶  </a:t>
            </a:r>
            <a:r>
              <a:rPr sz="1400" b="1">
                <a:solidFill>
                  <a:srgbClr val="1E1E1E"/>
                </a:solidFill>
                <a:latin typeface="Arial"/>
              </a:rPr>
              <a:t>Fail-Operational Redundancy</a:t>
            </a:r>
            <a:r>
              <a:rPr sz="1400">
                <a:solidFill>
                  <a:srgbClr val="1E1E1E"/>
                </a:solidFill>
                <a:latin typeface="Arial"/>
              </a:rPr>
              <a:t>: Multi-Head Attention acts as a dynamic router, automatically increasing weights of non-obstructed features to maintain DMS functionality during visual degradation.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0C3B6E"/>
                </a:solidFill>
                <a:latin typeface="Arial"/>
              </a:rPr>
              <a:t>▶  </a:t>
            </a:r>
            <a:r>
              <a:rPr sz="1400" b="1">
                <a:solidFill>
                  <a:srgbClr val="1E1E1E"/>
                </a:solidFill>
                <a:latin typeface="Arial"/>
              </a:rPr>
              <a:t>HMI Intervention</a:t>
            </a:r>
            <a:r>
              <a:rPr sz="1400">
                <a:solidFill>
                  <a:srgbClr val="1E1E1E"/>
                </a:solidFill>
                <a:latin typeface="Arial"/>
              </a:rPr>
              <a:t>: Safety action is based on feature reliability, ensuring high system trust and preventing nuisance warnings.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8E9E5-8FF0-B4AA-6676-CA9C1FC22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41CC2DC-F215-3CDC-415F-5D469906FAA2}"/>
              </a:ext>
            </a:extLst>
          </p:cNvPr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C3B6E"/>
          </a:solidFill>
          <a:ln>
            <a:solidFill>
              <a:srgbClr val="0C3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B86936-9CB4-A2E2-8319-744AD4BD7B60}"/>
              </a:ext>
            </a:extLst>
          </p:cNvPr>
          <p:cNvSpPr txBox="1"/>
          <p:nvPr/>
        </p:nvSpPr>
        <p:spPr>
          <a:xfrm>
            <a:off x="457200" y="91440"/>
            <a:ext cx="11277295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rPr dirty="0"/>
              <a:t>Appendix </a:t>
            </a:r>
            <a:r>
              <a:rPr lang="en-US" dirty="0"/>
              <a:t>D</a:t>
            </a:r>
            <a:r>
              <a:rPr dirty="0"/>
              <a:t>: </a:t>
            </a:r>
            <a:r>
              <a:rPr lang="en-US" dirty="0"/>
              <a:t>Details for 1-D CNN and dataset</a:t>
            </a:r>
            <a:endParaRPr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FB4DE7C-7965-D38B-6A16-90F4DACE00DD}"/>
              </a:ext>
            </a:extLst>
          </p:cNvPr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C3673"/>
          </a:solidFill>
          <a:ln>
            <a:solidFill>
              <a:srgbClr val="1C3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9C9B67-BDDD-64C9-A5B9-71E4C33213F2}"/>
              </a:ext>
            </a:extLst>
          </p:cNvPr>
          <p:cNvSpPr txBox="1"/>
          <p:nvPr/>
        </p:nvSpPr>
        <p:spPr>
          <a:xfrm>
            <a:off x="457200" y="656539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S.-W. Chang (TTU)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9A8C5C-E3DC-F1CB-0A65-E82FE482D652}"/>
              </a:ext>
            </a:extLst>
          </p:cNvPr>
          <p:cNvSpPr txBox="1"/>
          <p:nvPr/>
        </p:nvSpPr>
        <p:spPr>
          <a:xfrm>
            <a:off x="3200400" y="6565392"/>
            <a:ext cx="57908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Attention-Based Multi-Modal Driver Monitoring System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63707F-7484-2345-E69D-ECE6D387ABDC}"/>
              </a:ext>
            </a:extLst>
          </p:cNvPr>
          <p:cNvSpPr txBox="1"/>
          <p:nvPr/>
        </p:nvSpPr>
        <p:spPr>
          <a:xfrm>
            <a:off x="8991295" y="6565392"/>
            <a:ext cx="274320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FFFFFF"/>
                </a:solidFill>
                <a:latin typeface="Arial"/>
              </a:defRPr>
            </a:pPr>
            <a:r>
              <a:rPr dirty="0"/>
              <a:t>28 / 28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0322B64-2803-AD25-F910-5DF952422A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5387"/>
            <a:ext cx="12192000" cy="293044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DC8BEAA-9960-7AB2-B146-874F77C845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89470"/>
            <a:ext cx="12192000" cy="1532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0809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1073</TotalTime>
  <Words>5770</Words>
  <Application>Microsoft Office PowerPoint</Application>
  <PresentationFormat>Widescreen</PresentationFormat>
  <Paragraphs>446</Paragraphs>
  <Slides>28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Aptos</vt:lpstr>
      <vt:lpstr>Arial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張善為</cp:lastModifiedBy>
  <cp:revision>6</cp:revision>
  <cp:lastPrinted>2026-07-27T01:36:28Z</cp:lastPrinted>
  <dcterms:created xsi:type="dcterms:W3CDTF">2013-01-27T09:14:16Z</dcterms:created>
  <dcterms:modified xsi:type="dcterms:W3CDTF">2026-08-19T11:03:48Z</dcterms:modified>
  <cp:category/>
</cp:coreProperties>
</file>